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tags/tag8.xml" ContentType="application/vnd.openxmlformats-officedocument.presentationml.tags+xml"/>
  <Override PartName="/ppt/notesSlides/notesSlide8.xml" ContentType="application/vnd.openxmlformats-officedocument.presentationml.notesSlide+xml"/>
  <Override PartName="/ppt/charts/chart2.xml" ContentType="application/vnd.openxmlformats-officedocument.drawingml.chart+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1412" r:id="rId2"/>
    <p:sldId id="2145705104" r:id="rId3"/>
    <p:sldId id="1426" r:id="rId4"/>
    <p:sldId id="2145705102" r:id="rId5"/>
    <p:sldId id="2145705103" r:id="rId6"/>
    <p:sldId id="2145705095" r:id="rId7"/>
    <p:sldId id="2145705099" r:id="rId8"/>
    <p:sldId id="2145705096" r:id="rId9"/>
    <p:sldId id="2145705100" r:id="rId10"/>
    <p:sldId id="2145705101" r:id="rId11"/>
    <p:sldId id="2145705097" r:id="rId12"/>
    <p:sldId id="2145705098" r:id="rId13"/>
  </p:sldIdLst>
  <p:sldSz cx="12192000" cy="6858000"/>
  <p:notesSz cx="6858000" cy="9144000"/>
  <p:defaultTextStyle>
    <a:defPPr>
      <a:defRPr lang="en-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08"/>
    <p:restoredTop sz="94586"/>
  </p:normalViewPr>
  <p:slideViewPr>
    <p:cSldViewPr snapToGrid="0">
      <p:cViewPr varScale="1">
        <p:scale>
          <a:sx n="91" d="100"/>
          <a:sy n="91" d="100"/>
        </p:scale>
        <p:origin x="192" y="5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Approval rate</c:v>
                </c:pt>
              </c:strCache>
            </c:strRef>
          </c:tx>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5400000" scaled="0"/>
            </a:gradFill>
            <a:ln>
              <a:noFill/>
            </a:ln>
            <a:effectLst/>
          </c:spPr>
          <c:invertIfNegative val="0"/>
          <c:dPt>
            <c:idx val="1"/>
            <c:invertIfNegative val="0"/>
            <c:bubble3D val="0"/>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5400000" scaled="0"/>
              </a:gradFill>
              <a:ln>
                <a:noFill/>
              </a:ln>
              <a:effectLst/>
            </c:spPr>
            <c:extLst>
              <c:ext xmlns:c16="http://schemas.microsoft.com/office/drawing/2014/chart" uri="{C3380CC4-5D6E-409C-BE32-E72D297353CC}">
                <c16:uniqueId val="{00000000-BD13-D246-B2CC-EDD4E2A45CBA}"/>
              </c:ext>
            </c:extLst>
          </c:dPt>
          <c:dLbls>
            <c:delete val="1"/>
          </c:dLbls>
          <c:cat>
            <c:strRef>
              <c:f>Sheet1!$A$2:$A$3</c:f>
              <c:strCache>
                <c:ptCount val="2"/>
                <c:pt idx="0">
                  <c:v>Male</c:v>
                </c:pt>
                <c:pt idx="1">
                  <c:v>Female</c:v>
                </c:pt>
              </c:strCache>
            </c:strRef>
          </c:cat>
          <c:val>
            <c:numRef>
              <c:f>Sheet1!$B$2:$B$3</c:f>
              <c:numCache>
                <c:formatCode>General</c:formatCode>
                <c:ptCount val="2"/>
                <c:pt idx="0">
                  <c:v>0.65700000000000003</c:v>
                </c:pt>
                <c:pt idx="1">
                  <c:v>0.50600000000000001</c:v>
                </c:pt>
              </c:numCache>
            </c:numRef>
          </c:val>
          <c:extLst>
            <c:ext xmlns:c16="http://schemas.microsoft.com/office/drawing/2014/chart" uri="{C3380CC4-5D6E-409C-BE32-E72D297353CC}">
              <c16:uniqueId val="{00000000-C251-9E48-9DDB-867E82108CF7}"/>
            </c:ext>
          </c:extLst>
        </c:ser>
        <c:dLbls>
          <c:showLegendKey val="0"/>
          <c:showVal val="1"/>
          <c:showCatName val="0"/>
          <c:showSerName val="0"/>
          <c:showPercent val="0"/>
          <c:showBubbleSize val="0"/>
        </c:dLbls>
        <c:gapWidth val="355"/>
        <c:overlap val="-70"/>
        <c:axId val="2094734554"/>
        <c:axId val="2094734552"/>
      </c:barChart>
      <c:catAx>
        <c:axId val="2094734554"/>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2094734552"/>
        <c:crosses val="autoZero"/>
        <c:auto val="1"/>
        <c:lblAlgn val="ctr"/>
        <c:lblOffset val="100"/>
        <c:noMultiLvlLbl val="1"/>
      </c:catAx>
      <c:valAx>
        <c:axId val="2094734552"/>
        <c:scaling>
          <c:orientation val="minMax"/>
          <c:max val="0.8"/>
          <c:min val="0"/>
        </c:scaling>
        <c:delete val="0"/>
        <c:axPos val="l"/>
        <c:majorGridlines>
          <c:spPr>
            <a:ln w="9525" cap="flat" cmpd="sng" algn="ctr">
              <a:gradFill>
                <a:gsLst>
                  <a:gs pos="100000">
                    <a:schemeClr val="tx1">
                      <a:lumMod val="5000"/>
                      <a:lumOff val="95000"/>
                    </a:schemeClr>
                  </a:gs>
                  <a:gs pos="0">
                    <a:schemeClr val="tx1">
                      <a:lumMod val="25000"/>
                      <a:lumOff val="75000"/>
                    </a:schemeClr>
                  </a:gs>
                </a:gsLst>
                <a:lin ang="5400000" scaled="0"/>
              </a:gradFill>
              <a:round/>
            </a:ln>
            <a:effectLst/>
          </c:spPr>
        </c:majorGridlines>
        <c:numFmt formatCode="General"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2094734554"/>
        <c:crosses val="autoZero"/>
        <c:crossBetween val="between"/>
        <c:majorUnit val="0.2"/>
      </c:valAx>
      <c:spPr>
        <a:noFill/>
        <a:ln>
          <a:solidFill>
            <a:srgbClr val="FFC000"/>
          </a:solidFill>
        </a:ln>
        <a:effectLst>
          <a:glow rad="101600">
            <a:schemeClr val="accent2">
              <a:satMod val="175000"/>
              <a:alpha val="40000"/>
            </a:schemeClr>
          </a:glow>
          <a:outerShdw blurRad="50800" dist="38100" dir="18900000" algn="bl" rotWithShape="0">
            <a:prstClr val="black">
              <a:alpha val="40000"/>
            </a:prstClr>
          </a:outerShdw>
        </a:effectLst>
      </c:spPr>
    </c:plotArea>
    <c:plotVisOnly val="1"/>
    <c:dispBlanksAs val="span"/>
    <c:showDLblsOverMax val="1"/>
  </c:chart>
  <c:spPr>
    <a:noFill/>
    <a:ln>
      <a:noFill/>
    </a:ln>
    <a:effectLst/>
  </c:spPr>
  <c:txPr>
    <a:bodyPr/>
    <a:lstStyle/>
    <a:p>
      <a:pPr>
        <a:defRPr/>
      </a:pPr>
      <a:endParaRPr lang="zh-CN"/>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Rejected</c:v>
                </c:pt>
              </c:strCache>
            </c:strRef>
          </c:tx>
          <c:spPr>
            <a:solidFill>
              <a:srgbClr val="F59E0B"/>
            </a:solidFill>
            <a:effectLst/>
          </c:spPr>
          <c:invertIfNegative val="0"/>
          <c:cat>
            <c:strRef>
              <c:f>Sheet1!$A$2:$A$3</c:f>
              <c:strCache>
                <c:ptCount val="2"/>
                <c:pt idx="0">
                  <c:v>Female</c:v>
                </c:pt>
                <c:pt idx="1">
                  <c:v>Male</c:v>
                </c:pt>
              </c:strCache>
            </c:strRef>
          </c:cat>
          <c:val>
            <c:numRef>
              <c:f>Sheet1!$B$2:$B$3</c:f>
              <c:numCache>
                <c:formatCode>General</c:formatCode>
                <c:ptCount val="2"/>
                <c:pt idx="0">
                  <c:v>124</c:v>
                </c:pt>
                <c:pt idx="1">
                  <c:v>85</c:v>
                </c:pt>
              </c:numCache>
            </c:numRef>
          </c:val>
          <c:extLst>
            <c:ext xmlns:c16="http://schemas.microsoft.com/office/drawing/2014/chart" uri="{C3380CC4-5D6E-409C-BE32-E72D297353CC}">
              <c16:uniqueId val="{00000000-934F-0840-BBC2-E79620E8D989}"/>
            </c:ext>
          </c:extLst>
        </c:ser>
        <c:ser>
          <c:idx val="1"/>
          <c:order val="1"/>
          <c:tx>
            <c:strRef>
              <c:f>Sheet1!$C$1</c:f>
              <c:strCache>
                <c:ptCount val="1"/>
                <c:pt idx="0">
                  <c:v>Approved</c:v>
                </c:pt>
              </c:strCache>
            </c:strRef>
          </c:tx>
          <c:spPr>
            <a:solidFill>
              <a:srgbClr val="12B5CB"/>
            </a:solidFill>
            <a:effectLst>
              <a:outerShdw blurRad="50800" dist="38100" dir="18900000" algn="bl" rotWithShape="0">
                <a:prstClr val="black">
                  <a:alpha val="40000"/>
                </a:prstClr>
              </a:outerShdw>
            </a:effectLst>
          </c:spPr>
          <c:invertIfNegative val="0"/>
          <c:cat>
            <c:strRef>
              <c:f>Sheet1!$A$2:$A$3</c:f>
              <c:strCache>
                <c:ptCount val="2"/>
                <c:pt idx="0">
                  <c:v>Female</c:v>
                </c:pt>
                <c:pt idx="1">
                  <c:v>Male</c:v>
                </c:pt>
              </c:strCache>
            </c:strRef>
          </c:cat>
          <c:val>
            <c:numRef>
              <c:f>Sheet1!$C$2:$C$3</c:f>
              <c:numCache>
                <c:formatCode>General</c:formatCode>
                <c:ptCount val="2"/>
                <c:pt idx="0">
                  <c:v>127</c:v>
                </c:pt>
                <c:pt idx="1">
                  <c:v>163</c:v>
                </c:pt>
              </c:numCache>
            </c:numRef>
          </c:val>
          <c:extLst>
            <c:ext xmlns:c16="http://schemas.microsoft.com/office/drawing/2014/chart" uri="{C3380CC4-5D6E-409C-BE32-E72D297353CC}">
              <c16:uniqueId val="{00000001-934F-0840-BBC2-E79620E8D989}"/>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chemeClr val="tx1"/>
                </a:solidFill>
                <a:latin typeface="Aptos"/>
              </a:defRPr>
            </a:pPr>
            <a:endParaRPr lang="zh-CN"/>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33415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chemeClr val="tx1"/>
                </a:solidFill>
                <a:latin typeface="Aptos"/>
              </a:defRPr>
            </a:pPr>
            <a:endParaRPr lang="zh-CN"/>
          </a:p>
        </c:txPr>
        <c:crossAx val="2094734554"/>
        <c:crosses val="autoZero"/>
        <c:crossBetween val="between"/>
      </c:valAx>
      <c:spPr>
        <a:noFill/>
        <a:ln>
          <a:solidFill>
            <a:schemeClr val="accent1"/>
          </a:solidFill>
        </a:ln>
        <a:effectLst>
          <a:outerShdw blurRad="50800" dist="38100" dir="2700000" algn="tl" rotWithShape="0">
            <a:prstClr val="black">
              <a:alpha val="40000"/>
            </a:prstClr>
          </a:outerShdw>
        </a:effectLst>
      </c:spPr>
    </c:plotArea>
    <c:legend>
      <c:legendPos val="b"/>
      <c:legendEntry>
        <c:idx val="0"/>
        <c:txPr>
          <a:bodyPr/>
          <a:lstStyle/>
          <a:p>
            <a:pPr>
              <a:defRPr sz="1100">
                <a:solidFill>
                  <a:schemeClr val="tx1"/>
                </a:solidFill>
                <a:latin typeface="Aptos"/>
                <a:cs typeface="Aptos"/>
              </a:defRPr>
            </a:pPr>
            <a:endParaRPr lang="zh-CN"/>
          </a:p>
        </c:txPr>
      </c:legendEntry>
      <c:legendEntry>
        <c:idx val="1"/>
        <c:txPr>
          <a:bodyPr/>
          <a:lstStyle/>
          <a:p>
            <a:pPr>
              <a:defRPr sz="1100">
                <a:solidFill>
                  <a:schemeClr val="tx1"/>
                </a:solidFill>
                <a:latin typeface="Aptos"/>
                <a:cs typeface="Aptos"/>
              </a:defRPr>
            </a:pPr>
            <a:endParaRPr lang="zh-CN"/>
          </a:p>
        </c:txPr>
      </c:legendEntry>
      <c:overlay val="0"/>
      <c:txPr>
        <a:bodyPr/>
        <a:lstStyle/>
        <a:p>
          <a:pPr>
            <a:defRPr sz="1100">
              <a:solidFill>
                <a:srgbClr val="F8FAFC"/>
              </a:solidFill>
              <a:latin typeface="Aptos"/>
              <a:cs typeface="Aptos"/>
            </a:defRPr>
          </a:pPr>
          <a:endParaRPr lang="zh-CN"/>
        </a:p>
      </c:txPr>
    </c:legend>
    <c:plotVisOnly val="1"/>
    <c:dispBlanksAs val="span"/>
    <c:showDLblsOverMax val="1"/>
  </c:chart>
  <c:spPr>
    <a:noFill/>
    <a:ln>
      <a:noFill/>
    </a:ln>
    <a:effectLst/>
  </c:sp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0">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2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drawings/drawing1.xml><?xml version="1.0" encoding="utf-8"?>
<c:userShapes xmlns:c="http://schemas.openxmlformats.org/drawingml/2006/chart">
  <cdr:relSizeAnchor xmlns:cdr="http://schemas.openxmlformats.org/drawingml/2006/chartDrawing">
    <cdr:from>
      <cdr:x>0.28167</cdr:x>
      <cdr:y>0.12563</cdr:y>
    </cdr:from>
    <cdr:to>
      <cdr:x>0.32496</cdr:x>
      <cdr:y>0.18723</cdr:y>
    </cdr:to>
    <cdr:sp macro="" textlink="">
      <cdr:nvSpPr>
        <cdr:cNvPr id="2" name="文本框 1">
          <a:extLst xmlns:a="http://schemas.openxmlformats.org/drawingml/2006/main">
            <a:ext uri="{FF2B5EF4-FFF2-40B4-BE49-F238E27FC236}">
              <a16:creationId xmlns:a16="http://schemas.microsoft.com/office/drawing/2014/main" id="{94E5D92B-8DEF-EF4D-D53D-B918E63139AD}"/>
            </a:ext>
          </a:extLst>
        </cdr:cNvPr>
        <cdr:cNvSpPr txBox="1"/>
      </cdr:nvSpPr>
      <cdr:spPr>
        <a:xfrm xmlns:a="http://schemas.openxmlformats.org/drawingml/2006/main">
          <a:off x="1416594" y="539931"/>
          <a:ext cx="217715" cy="264741"/>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zh-CN" altLang="en-US" sz="1100"/>
        </a:p>
      </cdr:txBody>
    </cdr:sp>
  </cdr:relSizeAnchor>
  <cdr:relSizeAnchor xmlns:cdr="http://schemas.openxmlformats.org/drawingml/2006/chartDrawing">
    <cdr:from>
      <cdr:x>0.69636</cdr:x>
      <cdr:y>0.31296</cdr:y>
    </cdr:from>
    <cdr:to>
      <cdr:x>0.83377</cdr:x>
      <cdr:y>0.37741</cdr:y>
    </cdr:to>
    <cdr:sp macro="" textlink="">
      <cdr:nvSpPr>
        <cdr:cNvPr id="3" name="文本框 26">
          <a:extLst xmlns:a="http://schemas.openxmlformats.org/drawingml/2006/main">
            <a:ext uri="{FF2B5EF4-FFF2-40B4-BE49-F238E27FC236}">
              <a16:creationId xmlns:a16="http://schemas.microsoft.com/office/drawing/2014/main" id="{F34AF6CF-DA27-9BAB-1606-F9ABC53C40BD}"/>
            </a:ext>
          </a:extLst>
        </cdr:cNvPr>
        <cdr:cNvSpPr txBox="1"/>
      </cdr:nvSpPr>
      <cdr:spPr>
        <a:xfrm xmlns:a="http://schemas.openxmlformats.org/drawingml/2006/main">
          <a:off x="3502152" y="1344998"/>
          <a:ext cx="691025" cy="276999"/>
        </a:xfrm>
        <a:prstGeom xmlns:a="http://schemas.openxmlformats.org/drawingml/2006/main" prst="rect">
          <a:avLst/>
        </a:prstGeom>
        <a:noFill xmlns:a="http://schemas.openxmlformats.org/drawingml/2006/main"/>
      </cdr:spPr>
      <cdr:txBody>
        <a:bodyPr xmlns:a="http://schemas.openxmlformats.org/drawingml/2006/main" wrap="square" rtlCol="0">
          <a:spAutoFit/>
        </a:bodyPr>
        <a:lstStyle xmlns:a="http://schemas.openxmlformats.org/drawingml/2006/main">
          <a:defPPr>
            <a:defRPr lang="en-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r>
            <a:rPr lang="en-US" altLang="zh-CN" sz="1200" b="1" dirty="0">
              <a:solidFill>
                <a:schemeClr val="accent3">
                  <a:lumMod val="50000"/>
                </a:schemeClr>
              </a:solidFill>
            </a:rPr>
            <a:t>0.506</a:t>
          </a:r>
          <a:endParaRPr kumimoji="1" lang="zh-CN" altLang="en-US" sz="1200" b="1" dirty="0">
            <a:solidFill>
              <a:schemeClr val="accent3">
                <a:lumMod val="50000"/>
              </a:schemeClr>
            </a:solidFill>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C9ACB3-60B7-264D-9361-61476556B675}" type="datetimeFigureOut">
              <a:rPr lang="en-PT" smtClean="0"/>
              <a:t>09/03/2026</a:t>
            </a:fld>
            <a:endParaRPr lang="en-P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3E406D-14D4-2747-8554-4E5F12B3A4F5}" type="slidenum">
              <a:rPr lang="en-PT" smtClean="0"/>
              <a:t>‹#›</a:t>
            </a:fld>
            <a:endParaRPr lang="en-PT"/>
          </a:p>
        </p:txBody>
      </p:sp>
    </p:spTree>
    <p:extLst>
      <p:ext uri="{BB962C8B-B14F-4D97-AF65-F5344CB8AC3E}">
        <p14:creationId xmlns:p14="http://schemas.microsoft.com/office/powerpoint/2010/main" val="12097436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A9BC2-402C-5B08-2C11-9E8D82DD5BBE}"/>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A74CD3AD-DC94-20DA-1846-4A1F11336572}"/>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AB77EFFA-C8DE-94D4-C4D2-345AD47F95BD}"/>
              </a:ext>
            </a:extLst>
          </p:cNvPr>
          <p:cNvSpPr>
            <a:spLocks noGrp="1"/>
          </p:cNvSpPr>
          <p:nvPr>
            <p:ph type="body" idx="1"/>
          </p:nvPr>
        </p:nvSpPr>
        <p:spPr/>
        <p:txBody>
          <a:bodyPr/>
          <a:lstStyle/>
          <a:p>
            <a:r>
              <a:rPr lang="en-GB" sz="1200" b="0" i="0" kern="1200">
                <a:solidFill>
                  <a:schemeClr val="tx1"/>
                </a:solidFill>
                <a:effectLst/>
                <a:latin typeface="+mn-lt"/>
                <a:ea typeface="+mn-ea"/>
                <a:cs typeface="+mn-cs"/>
              </a:rPr>
              <a:t>Hello everyone.</a:t>
            </a:r>
            <a:br>
              <a:rPr lang="en-GB" sz="1200" b="0" i="0" kern="1200">
                <a:solidFill>
                  <a:schemeClr val="tx1"/>
                </a:solidFill>
                <a:effectLst/>
                <a:latin typeface="+mn-lt"/>
                <a:ea typeface="+mn-ea"/>
                <a:cs typeface="+mn-cs"/>
              </a:rPr>
            </a:br>
            <a:r>
              <a:rPr lang="en-GB" sz="1200" b="0" i="0" kern="1200">
                <a:solidFill>
                  <a:schemeClr val="tx1"/>
                </a:solidFill>
                <a:effectLst/>
                <a:latin typeface="+mn-lt"/>
                <a:ea typeface="+mn-ea"/>
                <a:cs typeface="+mn-cs"/>
              </a:rPr>
              <a:t>In this project, we conducted a governance audit of NovaCred’s credit application dataset for the course </a:t>
            </a:r>
            <a:r>
              <a:rPr lang="en-GB" sz="1200" b="0" i="1" kern="1200">
                <a:solidFill>
                  <a:schemeClr val="tx1"/>
                </a:solidFill>
                <a:effectLst/>
                <a:latin typeface="+mn-lt"/>
                <a:ea typeface="+mn-ea"/>
                <a:cs typeface="+mn-cs"/>
              </a:rPr>
              <a:t>Data Ecosystems and Governance in Organizations</a:t>
            </a:r>
            <a:r>
              <a:rPr lang="en-GB" sz="1200" b="0" i="0" kern="1200">
                <a:solidFill>
                  <a:schemeClr val="tx1"/>
                </a:solidFill>
                <a:effectLst/>
                <a:latin typeface="+mn-lt"/>
                <a:ea typeface="+mn-ea"/>
                <a:cs typeface="+mn-cs"/>
              </a:rPr>
              <a:t>.</a:t>
            </a:r>
            <a:endParaRPr lang="en-GB" sz="1200" b="0" i="0" kern="1200" dirty="0">
              <a:solidFill>
                <a:schemeClr val="tx1"/>
              </a:solidFill>
              <a:effectLst/>
              <a:latin typeface="+mn-lt"/>
              <a:ea typeface="+mn-ea"/>
              <a:cs typeface="+mn-cs"/>
            </a:endParaRPr>
          </a:p>
        </p:txBody>
      </p:sp>
      <p:sp>
        <p:nvSpPr>
          <p:cNvPr id="4" name="Foliennummernplatzhalter 3">
            <a:extLst>
              <a:ext uri="{FF2B5EF4-FFF2-40B4-BE49-F238E27FC236}">
                <a16:creationId xmlns:a16="http://schemas.microsoft.com/office/drawing/2014/main" id="{99B6C9FE-2544-1F4B-379F-6B17BA1F1A07}"/>
              </a:ext>
            </a:extLst>
          </p:cNvPr>
          <p:cNvSpPr>
            <a:spLocks noGrp="1"/>
          </p:cNvSpPr>
          <p:nvPr>
            <p:ph type="sldNum" sz="quarter" idx="5"/>
          </p:nvPr>
        </p:nvSpPr>
        <p:spPr/>
        <p:txBody>
          <a:bodyPr/>
          <a:lstStyle/>
          <a:p>
            <a:fld id="{CCD78368-8D70-9347-80B8-A00D6157E3BE}" type="slidenum">
              <a:rPr lang="de-DE" smtClean="0"/>
              <a:t>1</a:t>
            </a:fld>
            <a:endParaRPr lang="de-DE"/>
          </a:p>
        </p:txBody>
      </p:sp>
    </p:spTree>
    <p:extLst>
      <p:ext uri="{BB962C8B-B14F-4D97-AF65-F5344CB8AC3E}">
        <p14:creationId xmlns:p14="http://schemas.microsoft.com/office/powerpoint/2010/main" val="25293109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4827C-19AF-6360-59C1-20A6320E27D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886517AB-2EBC-4970-3184-4EA63678F66B}"/>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038B6C65-36CE-1073-83CD-0E0AB2F8CCBF}"/>
              </a:ext>
            </a:extLst>
          </p:cNvPr>
          <p:cNvSpPr>
            <a:spLocks noGrp="1"/>
          </p:cNvSpPr>
          <p:nvPr>
            <p:ph type="body" idx="1"/>
          </p:nvPr>
        </p:nvSpPr>
        <p:spPr/>
        <p:txBody>
          <a:bodyPr/>
          <a:lstStyle/>
          <a:p>
            <a:r>
              <a:rPr lang="en-GB" sz="1200" b="0" i="0" kern="1200">
                <a:solidFill>
                  <a:schemeClr val="tx1"/>
                </a:solidFill>
                <a:effectLst/>
                <a:latin typeface="+mn-lt"/>
                <a:ea typeface="+mn-ea"/>
                <a:cs typeface="+mn-cs"/>
              </a:rPr>
              <a:t>Our team consists of four members with different roles.</a:t>
            </a:r>
            <a:br>
              <a:rPr lang="en-GB" sz="1200" b="0" i="0" kern="1200">
                <a:solidFill>
                  <a:schemeClr val="tx1"/>
                </a:solidFill>
                <a:effectLst/>
                <a:latin typeface="+mn-lt"/>
                <a:ea typeface="+mn-ea"/>
                <a:cs typeface="+mn-cs"/>
              </a:rPr>
            </a:br>
            <a:r>
              <a:rPr lang="en-GB" sz="1200" b="0" i="0" kern="1200">
                <a:solidFill>
                  <a:schemeClr val="tx1"/>
                </a:solidFill>
                <a:effectLst/>
                <a:latin typeface="+mn-lt"/>
                <a:ea typeface="+mn-ea"/>
                <a:cs typeface="+mn-cs"/>
              </a:rPr>
              <a:t>the </a:t>
            </a:r>
            <a:r>
              <a:rPr lang="en-GB" sz="1200" b="1" i="0" kern="1200">
                <a:solidFill>
                  <a:schemeClr val="tx1"/>
                </a:solidFill>
                <a:effectLst/>
                <a:latin typeface="+mn-lt"/>
                <a:ea typeface="+mn-ea"/>
                <a:cs typeface="+mn-cs"/>
              </a:rPr>
              <a:t>Data Engineer</a:t>
            </a:r>
            <a:r>
              <a:rPr lang="en-GB" sz="1200" b="0" i="0" kern="1200">
                <a:solidFill>
                  <a:schemeClr val="tx1"/>
                </a:solidFill>
                <a:effectLst/>
                <a:latin typeface="+mn-lt"/>
                <a:ea typeface="+mn-ea"/>
                <a:cs typeface="+mn-cs"/>
              </a:rPr>
              <a:t>, the </a:t>
            </a:r>
            <a:r>
              <a:rPr lang="en-GB" sz="1200" b="1" i="0" kern="1200">
                <a:solidFill>
                  <a:schemeClr val="tx1"/>
                </a:solidFill>
                <a:effectLst/>
                <a:latin typeface="+mn-lt"/>
                <a:ea typeface="+mn-ea"/>
                <a:cs typeface="+mn-cs"/>
              </a:rPr>
              <a:t>Data Scientist</a:t>
            </a:r>
            <a:r>
              <a:rPr lang="en-GB" sz="1200" b="0" i="0" kern="1200">
                <a:solidFill>
                  <a:schemeClr val="tx1"/>
                </a:solidFill>
                <a:effectLst/>
                <a:latin typeface="+mn-lt"/>
                <a:ea typeface="+mn-ea"/>
                <a:cs typeface="+mn-cs"/>
              </a:rPr>
              <a:t>, the </a:t>
            </a:r>
            <a:r>
              <a:rPr lang="en-GB" sz="1200" b="1" i="0" kern="1200">
                <a:solidFill>
                  <a:schemeClr val="tx1"/>
                </a:solidFill>
                <a:effectLst/>
                <a:latin typeface="+mn-lt"/>
                <a:ea typeface="+mn-ea"/>
                <a:cs typeface="+mn-cs"/>
              </a:rPr>
              <a:t>Governance Officer</a:t>
            </a:r>
            <a:r>
              <a:rPr lang="en-GB" sz="1200" b="0" i="0" kern="1200">
                <a:solidFill>
                  <a:schemeClr val="tx1"/>
                </a:solidFill>
                <a:effectLst/>
                <a:latin typeface="+mn-lt"/>
                <a:ea typeface="+mn-ea"/>
                <a:cs typeface="+mn-cs"/>
              </a:rPr>
              <a:t>, and the </a:t>
            </a:r>
            <a:r>
              <a:rPr lang="en-GB" sz="1200" b="1" i="0" kern="1200">
                <a:solidFill>
                  <a:schemeClr val="tx1"/>
                </a:solidFill>
                <a:effectLst/>
                <a:latin typeface="+mn-lt"/>
                <a:ea typeface="+mn-ea"/>
                <a:cs typeface="+mn-cs"/>
              </a:rPr>
              <a:t>Product Lead</a:t>
            </a:r>
            <a:r>
              <a:rPr lang="en-GB" sz="1200" b="0" i="0" kern="1200">
                <a:solidFill>
                  <a:schemeClr val="tx1"/>
                </a:solidFill>
                <a:effectLst/>
                <a:latin typeface="+mn-lt"/>
                <a:ea typeface="+mn-ea"/>
                <a:cs typeface="+mn-cs"/>
              </a:rPr>
              <a:t>.</a:t>
            </a:r>
          </a:p>
          <a:p>
            <a:r>
              <a:rPr lang="en-GB" sz="1200" b="0" i="0" kern="1200">
                <a:solidFill>
                  <a:schemeClr val="tx1"/>
                </a:solidFill>
                <a:effectLst/>
                <a:latin typeface="+mn-lt"/>
                <a:ea typeface="+mn-ea"/>
                <a:cs typeface="+mn-cs"/>
              </a:rPr>
              <a:t>Together, we collaborated to </a:t>
            </a:r>
            <a:r>
              <a:rPr lang="en-GB" sz="1200" b="0" i="0" kern="1200" err="1">
                <a:solidFill>
                  <a:schemeClr val="tx1"/>
                </a:solidFill>
                <a:effectLst/>
                <a:latin typeface="+mn-lt"/>
                <a:ea typeface="+mn-ea"/>
                <a:cs typeface="+mn-cs"/>
              </a:rPr>
              <a:t>analyze</a:t>
            </a:r>
            <a:r>
              <a:rPr lang="en-GB" sz="1200" b="0" i="0" kern="1200">
                <a:solidFill>
                  <a:schemeClr val="tx1"/>
                </a:solidFill>
                <a:effectLst/>
                <a:latin typeface="+mn-lt"/>
                <a:ea typeface="+mn-ea"/>
                <a:cs typeface="+mn-cs"/>
              </a:rPr>
              <a:t> the dataset and evaluate the governance risks in </a:t>
            </a:r>
            <a:r>
              <a:rPr lang="en-GB" sz="1200" b="0" i="0" kern="1200" err="1">
                <a:solidFill>
                  <a:schemeClr val="tx1"/>
                </a:solidFill>
                <a:effectLst/>
                <a:latin typeface="+mn-lt"/>
                <a:ea typeface="+mn-ea"/>
                <a:cs typeface="+mn-cs"/>
              </a:rPr>
              <a:t>NovaCred’s</a:t>
            </a:r>
            <a:r>
              <a:rPr lang="en-GB" sz="1200" b="0" i="0" kern="1200">
                <a:solidFill>
                  <a:schemeClr val="tx1"/>
                </a:solidFill>
                <a:effectLst/>
                <a:latin typeface="+mn-lt"/>
                <a:ea typeface="+mn-ea"/>
                <a:cs typeface="+mn-cs"/>
              </a:rPr>
              <a:t> lending process.</a:t>
            </a:r>
          </a:p>
          <a:p>
            <a:endParaRPr lang="en-US" b="1" i="1"/>
          </a:p>
        </p:txBody>
      </p:sp>
      <p:sp>
        <p:nvSpPr>
          <p:cNvPr id="4" name="Foliennummernplatzhalter 3">
            <a:extLst>
              <a:ext uri="{FF2B5EF4-FFF2-40B4-BE49-F238E27FC236}">
                <a16:creationId xmlns:a16="http://schemas.microsoft.com/office/drawing/2014/main" id="{0F73FE90-5E7E-B9F2-4488-34E312431DF7}"/>
              </a:ext>
            </a:extLst>
          </p:cNvPr>
          <p:cNvSpPr>
            <a:spLocks noGrp="1"/>
          </p:cNvSpPr>
          <p:nvPr>
            <p:ph type="sldNum" sz="quarter" idx="5"/>
          </p:nvPr>
        </p:nvSpPr>
        <p:spPr/>
        <p:txBody>
          <a:bodyPr/>
          <a:lstStyle/>
          <a:p>
            <a:fld id="{4A81C4E9-7AF6-E34F-A043-92CD67528A0B}" type="slidenum">
              <a:rPr lang="de-DE" smtClean="0"/>
              <a:t>2</a:t>
            </a:fld>
            <a:endParaRPr lang="de-DE"/>
          </a:p>
        </p:txBody>
      </p:sp>
    </p:spTree>
    <p:extLst>
      <p:ext uri="{BB962C8B-B14F-4D97-AF65-F5344CB8AC3E}">
        <p14:creationId xmlns:p14="http://schemas.microsoft.com/office/powerpoint/2010/main" val="32388815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650B8-45F5-3BFB-0D20-5BF3E56AEA0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41384EEE-FE8D-F4A9-4F16-33417761D34E}"/>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900E8822-0EFB-CC01-F6A2-9FC0814AFAC5}"/>
              </a:ext>
            </a:extLst>
          </p:cNvPr>
          <p:cNvSpPr>
            <a:spLocks noGrp="1"/>
          </p:cNvSpPr>
          <p:nvPr>
            <p:ph type="body" idx="1"/>
          </p:nvPr>
        </p:nvSpPr>
        <p:spPr/>
        <p:txBody>
          <a:bodyPr/>
          <a:lstStyle/>
          <a:p>
            <a:r>
              <a:rPr lang="en-GB" sz="1200" b="0" i="0" kern="1200" dirty="0" err="1">
                <a:solidFill>
                  <a:schemeClr val="tx1"/>
                </a:solidFill>
                <a:effectLst/>
                <a:latin typeface="+mn-lt"/>
                <a:ea typeface="+mn-ea"/>
                <a:cs typeface="+mn-cs"/>
              </a:rPr>
              <a:t>NovaCred</a:t>
            </a:r>
            <a:r>
              <a:rPr lang="en-GB" sz="1200" b="0" i="0" kern="1200" dirty="0">
                <a:solidFill>
                  <a:schemeClr val="tx1"/>
                </a:solidFill>
                <a:effectLst/>
                <a:latin typeface="+mn-lt"/>
                <a:ea typeface="+mn-ea"/>
                <a:cs typeface="+mn-cs"/>
              </a:rPr>
              <a:t> received a </a:t>
            </a:r>
            <a:r>
              <a:rPr lang="en-GB" sz="1200" b="1" i="0" kern="1200" dirty="0">
                <a:solidFill>
                  <a:schemeClr val="tx1"/>
                </a:solidFill>
                <a:effectLst/>
                <a:latin typeface="+mn-lt"/>
                <a:ea typeface="+mn-ea"/>
                <a:cs typeface="+mn-cs"/>
              </a:rPr>
              <a:t>regulatory inquiry about possible discrimination in lending decisions</a:t>
            </a:r>
            <a:r>
              <a:rPr lang="en-GB" sz="1200" b="0" i="0" kern="1200" dirty="0">
                <a:solidFill>
                  <a:schemeClr val="tx1"/>
                </a:solidFill>
                <a:effectLst/>
                <a:latin typeface="+mn-lt"/>
                <a:ea typeface="+mn-ea"/>
                <a:cs typeface="+mn-cs"/>
              </a:rPr>
              <a:t>.</a:t>
            </a:r>
          </a:p>
          <a:p>
            <a:r>
              <a:rPr lang="en-GB" sz="1200" b="0" i="0" kern="1200" dirty="0">
                <a:solidFill>
                  <a:schemeClr val="tx1"/>
                </a:solidFill>
                <a:effectLst/>
                <a:latin typeface="+mn-lt"/>
                <a:ea typeface="+mn-ea"/>
                <a:cs typeface="+mn-cs"/>
              </a:rPr>
              <a:t>To investigate this, our project focused on three main areas:</a:t>
            </a:r>
            <a:br>
              <a:rPr lang="en-GB" sz="1200" b="0" i="0" kern="1200" dirty="0">
                <a:solidFill>
                  <a:schemeClr val="tx1"/>
                </a:solidFill>
                <a:effectLst/>
                <a:latin typeface="+mn-lt"/>
                <a:ea typeface="+mn-ea"/>
                <a:cs typeface="+mn-cs"/>
              </a:rPr>
            </a:br>
            <a:r>
              <a:rPr lang="en-GB" sz="1200" b="0" i="0" kern="1200" dirty="0">
                <a:solidFill>
                  <a:schemeClr val="tx1"/>
                </a:solidFill>
                <a:effectLst/>
                <a:latin typeface="+mn-lt"/>
                <a:ea typeface="+mn-ea"/>
                <a:cs typeface="+mn-cs"/>
              </a:rPr>
              <a:t>first, </a:t>
            </a:r>
            <a:r>
              <a:rPr lang="en-GB" sz="1200" b="1" i="0" kern="1200" dirty="0">
                <a:solidFill>
                  <a:schemeClr val="tx1"/>
                </a:solidFill>
                <a:effectLst/>
                <a:latin typeface="+mn-lt"/>
                <a:ea typeface="+mn-ea"/>
                <a:cs typeface="+mn-cs"/>
              </a:rPr>
              <a:t>data quality</a:t>
            </a:r>
            <a:r>
              <a:rPr lang="en-GB" sz="1200" b="0" i="0" kern="1200" dirty="0">
                <a:solidFill>
                  <a:schemeClr val="tx1"/>
                </a:solidFill>
                <a:effectLst/>
                <a:latin typeface="+mn-lt"/>
                <a:ea typeface="+mn-ea"/>
                <a:cs typeface="+mn-cs"/>
              </a:rPr>
              <a:t>, second, </a:t>
            </a:r>
            <a:r>
              <a:rPr lang="en-GB" sz="1200" b="1" i="0" kern="1200" dirty="0">
                <a:solidFill>
                  <a:schemeClr val="tx1"/>
                </a:solidFill>
                <a:effectLst/>
                <a:latin typeface="+mn-lt"/>
                <a:ea typeface="+mn-ea"/>
                <a:cs typeface="+mn-cs"/>
              </a:rPr>
              <a:t>bias analysis</a:t>
            </a:r>
            <a:r>
              <a:rPr lang="en-GB" sz="1200" b="0" i="0" kern="1200" dirty="0">
                <a:solidFill>
                  <a:schemeClr val="tx1"/>
                </a:solidFill>
                <a:effectLst/>
                <a:latin typeface="+mn-lt"/>
                <a:ea typeface="+mn-ea"/>
                <a:cs typeface="+mn-cs"/>
              </a:rPr>
              <a:t>, and third, </a:t>
            </a:r>
            <a:r>
              <a:rPr lang="en-GB" sz="1200" b="1" i="0" kern="1200" dirty="0">
                <a:solidFill>
                  <a:schemeClr val="tx1"/>
                </a:solidFill>
                <a:effectLst/>
                <a:latin typeface="+mn-lt"/>
                <a:ea typeface="+mn-ea"/>
                <a:cs typeface="+mn-cs"/>
              </a:rPr>
              <a:t>privacy and GDPR compliance</a:t>
            </a:r>
            <a:r>
              <a:rPr lang="en-GB" sz="1200" b="0" i="0" kern="1200" dirty="0">
                <a:solidFill>
                  <a:schemeClr val="tx1"/>
                </a:solidFill>
                <a:effectLst/>
                <a:latin typeface="+mn-lt"/>
                <a:ea typeface="+mn-ea"/>
                <a:cs typeface="+mn-cs"/>
              </a:rPr>
              <a:t>.</a:t>
            </a:r>
          </a:p>
          <a:p>
            <a:r>
              <a:rPr lang="en-GB" sz="1200" b="0" i="0" kern="1200" dirty="0">
                <a:solidFill>
                  <a:schemeClr val="tx1"/>
                </a:solidFill>
                <a:effectLst/>
                <a:latin typeface="+mn-lt"/>
                <a:ea typeface="+mn-ea"/>
                <a:cs typeface="+mn-cs"/>
              </a:rPr>
              <a:t>Based on these analyses, we then developed </a:t>
            </a:r>
            <a:r>
              <a:rPr lang="en-GB" sz="1200" b="1" i="0" kern="1200" dirty="0">
                <a:solidFill>
                  <a:schemeClr val="tx1"/>
                </a:solidFill>
                <a:effectLst/>
                <a:latin typeface="+mn-lt"/>
                <a:ea typeface="+mn-ea"/>
                <a:cs typeface="+mn-cs"/>
              </a:rPr>
              <a:t>governance recommendations</a:t>
            </a:r>
            <a:r>
              <a:rPr lang="en-GB" sz="1200" b="0" i="0" kern="1200" dirty="0">
                <a:solidFill>
                  <a:schemeClr val="tx1"/>
                </a:solidFill>
                <a:effectLst/>
                <a:latin typeface="+mn-lt"/>
                <a:ea typeface="+mn-ea"/>
                <a:cs typeface="+mn-cs"/>
              </a:rPr>
              <a:t> to improve the reliability and fairness of the system.</a:t>
            </a:r>
          </a:p>
          <a:p>
            <a:endParaRPr lang="en-US" b="1" i="1" dirty="0"/>
          </a:p>
        </p:txBody>
      </p:sp>
      <p:sp>
        <p:nvSpPr>
          <p:cNvPr id="4" name="Foliennummernplatzhalter 3">
            <a:extLst>
              <a:ext uri="{FF2B5EF4-FFF2-40B4-BE49-F238E27FC236}">
                <a16:creationId xmlns:a16="http://schemas.microsoft.com/office/drawing/2014/main" id="{03CC71E0-E193-5178-D644-7C49654AD29F}"/>
              </a:ext>
            </a:extLst>
          </p:cNvPr>
          <p:cNvSpPr>
            <a:spLocks noGrp="1"/>
          </p:cNvSpPr>
          <p:nvPr>
            <p:ph type="sldNum" sz="quarter" idx="5"/>
          </p:nvPr>
        </p:nvSpPr>
        <p:spPr/>
        <p:txBody>
          <a:bodyPr/>
          <a:lstStyle/>
          <a:p>
            <a:fld id="{4A81C4E9-7AF6-E34F-A043-92CD67528A0B}" type="slidenum">
              <a:rPr lang="de-DE" smtClean="0"/>
              <a:t>3</a:t>
            </a:fld>
            <a:endParaRPr lang="de-DE"/>
          </a:p>
        </p:txBody>
      </p:sp>
    </p:spTree>
    <p:extLst>
      <p:ext uri="{BB962C8B-B14F-4D97-AF65-F5344CB8AC3E}">
        <p14:creationId xmlns:p14="http://schemas.microsoft.com/office/powerpoint/2010/main" val="39810777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5364B-52F8-BA4B-D2D1-A7FA6D26035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A6961282-567F-A13E-E43A-641C09C18F2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42413B0D-D957-FACF-2436-F8D08028B51F}"/>
              </a:ext>
            </a:extLst>
          </p:cNvPr>
          <p:cNvSpPr>
            <a:spLocks noGrp="1"/>
          </p:cNvSpPr>
          <p:nvPr>
            <p:ph type="body" idx="1"/>
          </p:nvPr>
        </p:nvSpPr>
        <p:spPr/>
        <p:txBody>
          <a:bodyPr/>
          <a:lstStyle/>
          <a:p>
            <a:endParaRPr lang="en-US" b="1" i="1" dirty="0"/>
          </a:p>
        </p:txBody>
      </p:sp>
      <p:sp>
        <p:nvSpPr>
          <p:cNvPr id="4" name="Foliennummernplatzhalter 3">
            <a:extLst>
              <a:ext uri="{FF2B5EF4-FFF2-40B4-BE49-F238E27FC236}">
                <a16:creationId xmlns:a16="http://schemas.microsoft.com/office/drawing/2014/main" id="{717ECB4F-2C44-6C93-70E7-D9264B6E5742}"/>
              </a:ext>
            </a:extLst>
          </p:cNvPr>
          <p:cNvSpPr>
            <a:spLocks noGrp="1"/>
          </p:cNvSpPr>
          <p:nvPr>
            <p:ph type="sldNum" sz="quarter" idx="5"/>
          </p:nvPr>
        </p:nvSpPr>
        <p:spPr/>
        <p:txBody>
          <a:bodyPr/>
          <a:lstStyle/>
          <a:p>
            <a:fld id="{4A81C4E9-7AF6-E34F-A043-92CD67528A0B}" type="slidenum">
              <a:rPr lang="de-DE" smtClean="0"/>
              <a:t>4</a:t>
            </a:fld>
            <a:endParaRPr lang="de-DE"/>
          </a:p>
        </p:txBody>
      </p:sp>
    </p:spTree>
    <p:extLst>
      <p:ext uri="{BB962C8B-B14F-4D97-AF65-F5344CB8AC3E}">
        <p14:creationId xmlns:p14="http://schemas.microsoft.com/office/powerpoint/2010/main" val="8134837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89A9C-1570-9FF6-1259-A71321BF72AF}"/>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FF7A95BE-04B4-607E-D2C1-7ED7C82BDBFC}"/>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8115049A-3AA9-A4BD-17BC-1604C00E52E1}"/>
              </a:ext>
            </a:extLst>
          </p:cNvPr>
          <p:cNvSpPr>
            <a:spLocks noGrp="1"/>
          </p:cNvSpPr>
          <p:nvPr>
            <p:ph type="body" idx="1"/>
          </p:nvPr>
        </p:nvSpPr>
        <p:spPr/>
        <p:txBody>
          <a:bodyPr/>
          <a:lstStyle/>
          <a:p>
            <a:r>
              <a:rPr lang="en-GB" sz="1200" kern="1200">
                <a:solidFill>
                  <a:schemeClr val="tx1"/>
                </a:solidFill>
                <a:effectLst/>
                <a:latin typeface="+mn-lt"/>
                <a:ea typeface="+mn-ea"/>
                <a:cs typeface="+mn-cs"/>
              </a:rPr>
              <a:t>We have also made some findings about data quality and did our data cleaning accordingly</a:t>
            </a:r>
          </a:p>
          <a:p>
            <a:r>
              <a:rPr lang="en-GB" sz="1200" kern="1200">
                <a:solidFill>
                  <a:schemeClr val="tx1"/>
                </a:solidFill>
                <a:effectLst/>
                <a:latin typeface="+mn-lt"/>
                <a:ea typeface="+mn-ea"/>
                <a:cs typeface="+mn-cs"/>
              </a:rPr>
              <a:t>On the structure of our dataset, as mentioned, we have attributes stores as nested objects and needed to be fixed before analysis.</a:t>
            </a:r>
          </a:p>
          <a:p>
            <a:r>
              <a:rPr lang="en-GB" sz="1200" kern="1200">
                <a:solidFill>
                  <a:schemeClr val="tx1"/>
                </a:solidFill>
                <a:effectLst/>
                <a:latin typeface="+mn-lt"/>
                <a:ea typeface="+mn-ea"/>
                <a:cs typeface="+mn-cs"/>
              </a:rPr>
              <a:t>Also on completeness, we have encounter some columns with high missing values, such as the case of notes, </a:t>
            </a:r>
            <a:r>
              <a:rPr lang="en-GB" sz="1200" kern="1200" err="1">
                <a:solidFill>
                  <a:schemeClr val="tx1"/>
                </a:solidFill>
                <a:effectLst/>
                <a:latin typeface="+mn-lt"/>
                <a:ea typeface="+mn-ea"/>
                <a:cs typeface="+mn-cs"/>
              </a:rPr>
              <a:t>loan_purpose</a:t>
            </a:r>
            <a:r>
              <a:rPr lang="en-GB" sz="1200" kern="1200">
                <a:solidFill>
                  <a:schemeClr val="tx1"/>
                </a:solidFill>
                <a:effectLst/>
                <a:latin typeface="+mn-lt"/>
                <a:ea typeface="+mn-ea"/>
                <a:cs typeface="+mn-cs"/>
              </a:rPr>
              <a:t>, and </a:t>
            </a:r>
            <a:r>
              <a:rPr lang="en-GB" sz="1200" kern="1200" err="1">
                <a:solidFill>
                  <a:schemeClr val="tx1"/>
                </a:solidFill>
                <a:effectLst/>
                <a:latin typeface="+mn-lt"/>
                <a:ea typeface="+mn-ea"/>
                <a:cs typeface="+mn-cs"/>
              </a:rPr>
              <a:t>processing_timestamp</a:t>
            </a:r>
            <a:r>
              <a:rPr lang="en-GB" sz="1200" kern="1200">
                <a:solidFill>
                  <a:schemeClr val="tx1"/>
                </a:solidFill>
                <a:effectLst/>
                <a:latin typeface="+mn-lt"/>
                <a:ea typeface="+mn-ea"/>
                <a:cs typeface="+mn-cs"/>
              </a:rPr>
              <a:t>. But also new ones coming from the nested objects.</a:t>
            </a:r>
          </a:p>
          <a:p>
            <a:r>
              <a:rPr lang="en-GB" sz="1200" kern="1200">
                <a:solidFill>
                  <a:schemeClr val="tx1"/>
                </a:solidFill>
                <a:effectLst/>
                <a:latin typeface="+mn-lt"/>
                <a:ea typeface="+mn-ea"/>
                <a:cs typeface="+mn-cs"/>
              </a:rPr>
              <a:t>On consistency, we found mixed binary target formats (such as 0 and 1 and True and False), and also inconsistent categorical labels mainly on gender. Finally, we observed that data fields appeared in multiple formats.</a:t>
            </a:r>
          </a:p>
          <a:p>
            <a:r>
              <a:rPr lang="en-GB" sz="1200" kern="1200">
                <a:solidFill>
                  <a:schemeClr val="tx1"/>
                </a:solidFill>
                <a:effectLst/>
                <a:latin typeface="+mn-lt"/>
                <a:ea typeface="+mn-ea"/>
                <a:cs typeface="+mn-cs"/>
              </a:rPr>
              <a:t>On validity, we detected some invalid financial values (negative income)</a:t>
            </a:r>
          </a:p>
          <a:p>
            <a:r>
              <a:rPr lang="en-GB" sz="1200" kern="1200">
                <a:solidFill>
                  <a:schemeClr val="tx1"/>
                </a:solidFill>
                <a:effectLst/>
                <a:latin typeface="+mn-lt"/>
                <a:ea typeface="+mn-ea"/>
                <a:cs typeface="+mn-cs"/>
              </a:rPr>
              <a:t>We also audited for duplicates but these showed to be really low on our data. </a:t>
            </a:r>
          </a:p>
          <a:p>
            <a:endParaRPr lang="en-US" b="1" i="1"/>
          </a:p>
        </p:txBody>
      </p:sp>
      <p:sp>
        <p:nvSpPr>
          <p:cNvPr id="4" name="Foliennummernplatzhalter 3">
            <a:extLst>
              <a:ext uri="{FF2B5EF4-FFF2-40B4-BE49-F238E27FC236}">
                <a16:creationId xmlns:a16="http://schemas.microsoft.com/office/drawing/2014/main" id="{89FFE412-569A-4BDB-3BE0-637DE4EE5820}"/>
              </a:ext>
            </a:extLst>
          </p:cNvPr>
          <p:cNvSpPr>
            <a:spLocks noGrp="1"/>
          </p:cNvSpPr>
          <p:nvPr>
            <p:ph type="sldNum" sz="quarter" idx="5"/>
          </p:nvPr>
        </p:nvSpPr>
        <p:spPr/>
        <p:txBody>
          <a:bodyPr/>
          <a:lstStyle/>
          <a:p>
            <a:fld id="{4A81C4E9-7AF6-E34F-A043-92CD67528A0B}" type="slidenum">
              <a:rPr lang="de-DE" smtClean="0"/>
              <a:t>5</a:t>
            </a:fld>
            <a:endParaRPr lang="de-DE"/>
          </a:p>
        </p:txBody>
      </p:sp>
    </p:spTree>
    <p:extLst>
      <p:ext uri="{BB962C8B-B14F-4D97-AF65-F5344CB8AC3E}">
        <p14:creationId xmlns:p14="http://schemas.microsoft.com/office/powerpoint/2010/main" val="12527199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4645E-0234-041B-2739-22E7203666D0}"/>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9B856DD-EA22-AEEA-DEF2-852B31A4A075}"/>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BE2C5324-2353-AAF5-D016-9050F8304289}"/>
              </a:ext>
            </a:extLst>
          </p:cNvPr>
          <p:cNvSpPr>
            <a:spLocks noGrp="1"/>
          </p:cNvSpPr>
          <p:nvPr>
            <p:ph type="body" idx="1"/>
          </p:nvPr>
        </p:nvSpPr>
        <p:spPr/>
        <p:txBody>
          <a:bodyPr/>
          <a:lstStyle/>
          <a:p>
            <a:pPr marL="0" indent="0">
              <a:buNone/>
            </a:pPr>
            <a:r>
              <a:rPr lang="en" altLang="zh-CN"/>
              <a:t>this section </a:t>
            </a:r>
            <a:r>
              <a:rPr lang="en-US" altLang="zh-CN"/>
              <a:t>,our goal is check whether </a:t>
            </a:r>
            <a:r>
              <a:rPr lang="en-US" altLang="zh-CN" sz="1200" b="1">
                <a:solidFill>
                  <a:schemeClr val="tx2">
                    <a:lumMod val="75000"/>
                    <a:lumOff val="25000"/>
                  </a:schemeClr>
                </a:solidFill>
                <a:latin typeface="Aptos" pitchFamily="34" charset="0"/>
                <a:ea typeface="Aptos" pitchFamily="34" charset="-122"/>
                <a:cs typeface="Aptos" pitchFamily="34" charset="-120"/>
              </a:rPr>
              <a:t>past approval outcomes differ by gender, and </a:t>
            </a:r>
            <a:r>
              <a:rPr lang="en-US" altLang="zh-CN" sz="1200">
                <a:latin typeface="Aptos" pitchFamily="34" charset="0"/>
                <a:ea typeface="Aptos" pitchFamily="34" charset="-122"/>
                <a:cs typeface="Aptos" pitchFamily="34" charset="-120"/>
              </a:rPr>
              <a:t>whether </a:t>
            </a:r>
            <a:r>
              <a:rPr lang="en-US" altLang="zh-CN" sz="1200" b="1">
                <a:solidFill>
                  <a:schemeClr val="tx2">
                    <a:lumMod val="75000"/>
                    <a:lumOff val="25000"/>
                  </a:schemeClr>
                </a:solidFill>
                <a:latin typeface="Aptos" pitchFamily="34" charset="0"/>
                <a:ea typeface="Aptos" pitchFamily="34" charset="-122"/>
                <a:cs typeface="Aptos" pitchFamily="34" charset="-120"/>
              </a:rPr>
              <a:t>non-sensitive features may act as proxies. Then we scope the dataset and </a:t>
            </a:r>
            <a:r>
              <a:rPr lang="en" altLang="zh-CN"/>
              <a:t>DI is computed on </a:t>
            </a:r>
            <a:r>
              <a:rPr lang="en" altLang="zh-CN" b="1"/>
              <a:t>499</a:t>
            </a:r>
            <a:r>
              <a:rPr lang="en" altLang="zh-CN"/>
              <a:t> records. We run three steps: DI, statistical support, and proxy checks.</a:t>
            </a:r>
          </a:p>
          <a:p>
            <a:endParaRPr lang="en" altLang="zh-CN"/>
          </a:p>
        </p:txBody>
      </p:sp>
      <p:sp>
        <p:nvSpPr>
          <p:cNvPr id="4" name="Foliennummernplatzhalter 3">
            <a:extLst>
              <a:ext uri="{FF2B5EF4-FFF2-40B4-BE49-F238E27FC236}">
                <a16:creationId xmlns:a16="http://schemas.microsoft.com/office/drawing/2014/main" id="{89C7A4FD-C84A-B45B-A88A-42FA10BF0A7D}"/>
              </a:ext>
            </a:extLst>
          </p:cNvPr>
          <p:cNvSpPr>
            <a:spLocks noGrp="1"/>
          </p:cNvSpPr>
          <p:nvPr>
            <p:ph type="sldNum" sz="quarter" idx="5"/>
          </p:nvPr>
        </p:nvSpPr>
        <p:spPr/>
        <p:txBody>
          <a:bodyPr/>
          <a:lstStyle/>
          <a:p>
            <a:fld id="{4A81C4E9-7AF6-E34F-A043-92CD67528A0B}" type="slidenum">
              <a:rPr lang="de-DE" smtClean="0"/>
              <a:t>6</a:t>
            </a:fld>
            <a:endParaRPr lang="de-DE"/>
          </a:p>
        </p:txBody>
      </p:sp>
    </p:spTree>
    <p:extLst>
      <p:ext uri="{BB962C8B-B14F-4D97-AF65-F5344CB8AC3E}">
        <p14:creationId xmlns:p14="http://schemas.microsoft.com/office/powerpoint/2010/main" val="36716269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6A1AE-A72D-A86F-9DC1-4B9AB5AE7C3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74D8CEC-AF97-F294-044A-37BC8BFA8869}"/>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6450967E-E52A-C456-49B2-951483B0C527}"/>
              </a:ext>
            </a:extLst>
          </p:cNvPr>
          <p:cNvSpPr>
            <a:spLocks noGrp="1"/>
          </p:cNvSpPr>
          <p:nvPr>
            <p:ph type="body" idx="1"/>
          </p:nvPr>
        </p:nvSpPr>
        <p:spPr/>
        <p:txBody>
          <a:bodyPr/>
          <a:lstStyle/>
          <a:p>
            <a:r>
              <a:rPr lang="en" altLang="zh-CN"/>
              <a:t>First, we compare approval rates by gender. Approval is </a:t>
            </a:r>
            <a:r>
              <a:rPr lang="en" altLang="zh-CN" b="1"/>
              <a:t>0.657 for males</a:t>
            </a:r>
            <a:r>
              <a:rPr lang="en" altLang="zh-CN"/>
              <a:t> which</a:t>
            </a:r>
            <a:r>
              <a:rPr lang="zh-CN" altLang="en-US"/>
              <a:t> </a:t>
            </a:r>
            <a:r>
              <a:rPr lang="en-US" altLang="zh-CN"/>
              <a:t>higher</a:t>
            </a:r>
            <a:r>
              <a:rPr lang="zh-CN" altLang="en-US"/>
              <a:t> </a:t>
            </a:r>
            <a:r>
              <a:rPr lang="en-US" altLang="zh-CN"/>
              <a:t>15</a:t>
            </a:r>
            <a:r>
              <a:rPr lang="zh-CN" altLang="en-US"/>
              <a:t> </a:t>
            </a:r>
            <a:r>
              <a:rPr lang="en-US" altLang="zh-CN"/>
              <a:t>percent</a:t>
            </a:r>
            <a:r>
              <a:rPr lang="zh-CN" altLang="en-US"/>
              <a:t> </a:t>
            </a:r>
            <a:r>
              <a:rPr lang="en-US" altLang="zh-CN"/>
              <a:t>than</a:t>
            </a:r>
            <a:r>
              <a:rPr lang="zh-CN" altLang="en-US"/>
              <a:t> </a:t>
            </a:r>
            <a:r>
              <a:rPr lang="en" altLang="zh-CN" b="1"/>
              <a:t>females</a:t>
            </a:r>
            <a:r>
              <a:rPr lang="en" altLang="zh-CN"/>
              <a:t>, </a:t>
            </a:r>
            <a:r>
              <a:rPr lang="en-US" altLang="zh-CN"/>
              <a:t>In</a:t>
            </a:r>
            <a:r>
              <a:rPr lang="zh-CN" altLang="en-US"/>
              <a:t> </a:t>
            </a:r>
            <a:r>
              <a:rPr lang="en-US" altLang="zh-CN"/>
              <a:t>addition</a:t>
            </a:r>
            <a:r>
              <a:rPr lang="zh-CN" altLang="en-US"/>
              <a:t> </a:t>
            </a:r>
            <a:r>
              <a:rPr lang="en" altLang="zh-CN"/>
              <a:t>the DI</a:t>
            </a:r>
            <a:r>
              <a:rPr lang="zh-CN" altLang="en-US"/>
              <a:t> </a:t>
            </a:r>
            <a:r>
              <a:rPr lang="en" altLang="zh-CN"/>
              <a:t>result</a:t>
            </a:r>
            <a:r>
              <a:rPr lang="en" altLang="zh-CN" b="1"/>
              <a:t> is about 0.77</a:t>
            </a:r>
            <a:r>
              <a:rPr lang="en" altLang="zh-CN"/>
              <a:t>, which is below the </a:t>
            </a:r>
            <a:r>
              <a:rPr lang="en" altLang="zh-CN" b="1"/>
              <a:t>0.80.</a:t>
            </a:r>
          </a:p>
          <a:p>
            <a:r>
              <a:rPr lang="en" altLang="zh-CN"/>
              <a:t>This is a </a:t>
            </a:r>
            <a:r>
              <a:rPr lang="en" altLang="zh-CN" b="1"/>
              <a:t>screening flag, </a:t>
            </a:r>
            <a:r>
              <a:rPr lang="en" altLang="zh-CN"/>
              <a:t>it highlights disparity but does not prove discrimination.</a:t>
            </a:r>
          </a:p>
        </p:txBody>
      </p:sp>
      <p:sp>
        <p:nvSpPr>
          <p:cNvPr id="4" name="Foliennummernplatzhalter 3">
            <a:extLst>
              <a:ext uri="{FF2B5EF4-FFF2-40B4-BE49-F238E27FC236}">
                <a16:creationId xmlns:a16="http://schemas.microsoft.com/office/drawing/2014/main" id="{E5077DDB-C8C6-F958-5556-2023A1D3AAB9}"/>
              </a:ext>
            </a:extLst>
          </p:cNvPr>
          <p:cNvSpPr>
            <a:spLocks noGrp="1"/>
          </p:cNvSpPr>
          <p:nvPr>
            <p:ph type="sldNum" sz="quarter" idx="5"/>
          </p:nvPr>
        </p:nvSpPr>
        <p:spPr/>
        <p:txBody>
          <a:bodyPr/>
          <a:lstStyle/>
          <a:p>
            <a:fld id="{4A81C4E9-7AF6-E34F-A043-92CD67528A0B}" type="slidenum">
              <a:rPr lang="de-DE" smtClean="0"/>
              <a:t>7</a:t>
            </a:fld>
            <a:endParaRPr lang="de-DE"/>
          </a:p>
        </p:txBody>
      </p:sp>
    </p:spTree>
    <p:extLst>
      <p:ext uri="{BB962C8B-B14F-4D97-AF65-F5344CB8AC3E}">
        <p14:creationId xmlns:p14="http://schemas.microsoft.com/office/powerpoint/2010/main" val="30527468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8F7A2-CDA6-1BE1-8F8C-DE68FA835A8C}"/>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17BC677-7983-5B0C-B29D-004FF5F97C56}"/>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A98C3D8F-529E-525A-55C5-2B52B5379FBA}"/>
              </a:ext>
            </a:extLst>
          </p:cNvPr>
          <p:cNvSpPr>
            <a:spLocks noGrp="1"/>
          </p:cNvSpPr>
          <p:nvPr>
            <p:ph type="body" idx="1"/>
          </p:nvPr>
        </p:nvSpPr>
        <p:spPr/>
        <p:txBody>
          <a:bodyPr/>
          <a:lstStyle/>
          <a:p>
            <a:r>
              <a:rPr lang="en" altLang="zh-CN"/>
              <a:t>Next, we test whether the pattern is more than random noise. A </a:t>
            </a:r>
            <a:r>
              <a:rPr lang="en" altLang="zh-CN" b="1"/>
              <a:t>chi-square test</a:t>
            </a:r>
            <a:r>
              <a:rPr lang="en" altLang="zh-CN"/>
              <a:t> is significant which much less than 0.05 and </a:t>
            </a:r>
            <a:r>
              <a:rPr lang="en" altLang="zh-CN" b="1"/>
              <a:t>Cramér’s V = 0.149</a:t>
            </a:r>
            <a:r>
              <a:rPr lang="en" altLang="zh-CN"/>
              <a:t>, so the association is statistically supported but </a:t>
            </a:r>
            <a:r>
              <a:rPr lang="en" altLang="zh-CN" b="1"/>
              <a:t>small-to-moderate</a:t>
            </a:r>
            <a:r>
              <a:rPr lang="en" altLang="zh-CN"/>
              <a:t> in strength.</a:t>
            </a:r>
          </a:p>
        </p:txBody>
      </p:sp>
      <p:sp>
        <p:nvSpPr>
          <p:cNvPr id="4" name="Foliennummernplatzhalter 3">
            <a:extLst>
              <a:ext uri="{FF2B5EF4-FFF2-40B4-BE49-F238E27FC236}">
                <a16:creationId xmlns:a16="http://schemas.microsoft.com/office/drawing/2014/main" id="{D2799C58-C462-1458-20DA-CD34A6FDE050}"/>
              </a:ext>
            </a:extLst>
          </p:cNvPr>
          <p:cNvSpPr>
            <a:spLocks noGrp="1"/>
          </p:cNvSpPr>
          <p:nvPr>
            <p:ph type="sldNum" sz="quarter" idx="5"/>
          </p:nvPr>
        </p:nvSpPr>
        <p:spPr/>
        <p:txBody>
          <a:bodyPr/>
          <a:lstStyle/>
          <a:p>
            <a:fld id="{4A81C4E9-7AF6-E34F-A043-92CD67528A0B}" type="slidenum">
              <a:rPr lang="de-DE" smtClean="0"/>
              <a:t>8</a:t>
            </a:fld>
            <a:endParaRPr lang="de-DE"/>
          </a:p>
        </p:txBody>
      </p:sp>
    </p:spTree>
    <p:extLst>
      <p:ext uri="{BB962C8B-B14F-4D97-AF65-F5344CB8AC3E}">
        <p14:creationId xmlns:p14="http://schemas.microsoft.com/office/powerpoint/2010/main" val="11407563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28856-7BDC-F00A-475C-1225D958E0F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252415B-15D1-FAD8-60C0-A8C58A0D7131}"/>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2B325C4F-2BE2-236C-E090-2E219AEF74FA}"/>
              </a:ext>
            </a:extLst>
          </p:cNvPr>
          <p:cNvSpPr>
            <a:spLocks noGrp="1"/>
          </p:cNvSpPr>
          <p:nvPr>
            <p:ph type="body" idx="1"/>
          </p:nvPr>
        </p:nvSpPr>
        <p:spPr/>
        <p:txBody>
          <a:bodyPr/>
          <a:lstStyle/>
          <a:p>
            <a:r>
              <a:rPr lang="en" altLang="zh-CN"/>
              <a:t>Finally, we check potential </a:t>
            </a:r>
            <a:r>
              <a:rPr lang="en" altLang="zh-CN" b="1"/>
              <a:t>proxies</a:t>
            </a:r>
            <a:r>
              <a:rPr lang="en" altLang="zh-CN"/>
              <a:t> using a two-link idea: if it relates to </a:t>
            </a:r>
            <a:r>
              <a:rPr lang="en" altLang="zh-CN" b="1"/>
              <a:t>gender</a:t>
            </a:r>
            <a:r>
              <a:rPr lang="en" altLang="zh-CN"/>
              <a:t> if</a:t>
            </a:r>
            <a:r>
              <a:rPr lang="zh-CN" altLang="en-US"/>
              <a:t> </a:t>
            </a:r>
            <a:r>
              <a:rPr lang="en-US" altLang="zh-CN"/>
              <a:t>it</a:t>
            </a:r>
            <a:r>
              <a:rPr lang="zh-CN" altLang="en-US"/>
              <a:t> </a:t>
            </a:r>
            <a:r>
              <a:rPr lang="en-US" altLang="zh-CN"/>
              <a:t>relates</a:t>
            </a:r>
            <a:r>
              <a:rPr lang="zh-CN" altLang="en-US"/>
              <a:t> </a:t>
            </a:r>
            <a:r>
              <a:rPr lang="en" altLang="zh-CN"/>
              <a:t>to </a:t>
            </a:r>
            <a:r>
              <a:rPr lang="en" altLang="zh-CN" b="1"/>
              <a:t>approval</a:t>
            </a:r>
            <a:r>
              <a:rPr lang="en" altLang="zh-CN"/>
              <a:t>. </a:t>
            </a:r>
            <a:r>
              <a:rPr lang="en" altLang="zh-CN" b="1"/>
              <a:t>ZIP</a:t>
            </a:r>
            <a:r>
              <a:rPr lang="en" altLang="zh-CN"/>
              <a:t> code</a:t>
            </a:r>
            <a:r>
              <a:rPr lang="zh-CN" altLang="en-US"/>
              <a:t> </a:t>
            </a:r>
            <a:r>
              <a:rPr lang="en" altLang="zh-CN"/>
              <a:t>may encode demographics, but after grouping ZIPs we don’t find a clear approval link which </a:t>
            </a:r>
            <a:r>
              <a:rPr lang="en" altLang="zh-CN" b="1"/>
              <a:t>p = 0.166</a:t>
            </a:r>
            <a:r>
              <a:rPr lang="en" altLang="zh-CN"/>
              <a:t>, so it stays on a watchlist. </a:t>
            </a:r>
            <a:r>
              <a:rPr lang="en" altLang="zh-CN" b="1"/>
              <a:t>Income</a:t>
            </a:r>
            <a:r>
              <a:rPr lang="en" altLang="zh-CN"/>
              <a:t> is clearly outcome-relevant with only a small gender gap, </a:t>
            </a:r>
            <a:r>
              <a:rPr lang="en" altLang="zh-CN" b="1"/>
              <a:t>DTI</a:t>
            </a:r>
            <a:r>
              <a:rPr lang="en" altLang="zh-CN"/>
              <a:t> is weak on both links.</a:t>
            </a:r>
          </a:p>
          <a:p>
            <a:r>
              <a:rPr lang="en" altLang="zh-CN"/>
              <a:t>Overall, we observe a measurable gender gap in approvals, supported statistically, so we recommend ongoing monitoring and follow-up checks within comparable risk bands</a:t>
            </a:r>
            <a:endParaRPr lang="en-US" altLang="zh-CN" b="1" i="1"/>
          </a:p>
        </p:txBody>
      </p:sp>
      <p:sp>
        <p:nvSpPr>
          <p:cNvPr id="4" name="Foliennummernplatzhalter 3">
            <a:extLst>
              <a:ext uri="{FF2B5EF4-FFF2-40B4-BE49-F238E27FC236}">
                <a16:creationId xmlns:a16="http://schemas.microsoft.com/office/drawing/2014/main" id="{440C60A2-AE5D-1338-C7B1-3AC51D89A963}"/>
              </a:ext>
            </a:extLst>
          </p:cNvPr>
          <p:cNvSpPr>
            <a:spLocks noGrp="1"/>
          </p:cNvSpPr>
          <p:nvPr>
            <p:ph type="sldNum" sz="quarter" idx="5"/>
          </p:nvPr>
        </p:nvSpPr>
        <p:spPr/>
        <p:txBody>
          <a:bodyPr/>
          <a:lstStyle/>
          <a:p>
            <a:fld id="{4A81C4E9-7AF6-E34F-A043-92CD67528A0B}" type="slidenum">
              <a:rPr lang="de-DE" smtClean="0"/>
              <a:t>9</a:t>
            </a:fld>
            <a:endParaRPr lang="de-DE"/>
          </a:p>
        </p:txBody>
      </p:sp>
    </p:spTree>
    <p:extLst>
      <p:ext uri="{BB962C8B-B14F-4D97-AF65-F5344CB8AC3E}">
        <p14:creationId xmlns:p14="http://schemas.microsoft.com/office/powerpoint/2010/main" val="34501636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3775C-4261-D9C3-90A2-4595BB419FE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882A6795-9263-1E54-64FD-0E2C49420565}"/>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FD2AEBDA-6BD4-3F8E-97CF-0592121A6DE6}"/>
              </a:ext>
            </a:extLst>
          </p:cNvPr>
          <p:cNvSpPr>
            <a:spLocks noGrp="1"/>
          </p:cNvSpPr>
          <p:nvPr>
            <p:ph type="body" idx="1"/>
          </p:nvPr>
        </p:nvSpPr>
        <p:spPr/>
        <p:txBody>
          <a:bodyPr/>
          <a:lstStyle/>
          <a:p>
            <a:r>
              <a:rPr lang="en-US" b="1" i="1"/>
              <a:t>privacy &amp; governance risks</a:t>
            </a:r>
          </a:p>
          <a:p>
            <a:endParaRPr lang="en-US" b="1" i="1"/>
          </a:p>
        </p:txBody>
      </p:sp>
      <p:sp>
        <p:nvSpPr>
          <p:cNvPr id="4" name="Foliennummernplatzhalter 3">
            <a:extLst>
              <a:ext uri="{FF2B5EF4-FFF2-40B4-BE49-F238E27FC236}">
                <a16:creationId xmlns:a16="http://schemas.microsoft.com/office/drawing/2014/main" id="{ECF1B71E-F22B-9AFA-9CDC-3119B0926A4D}"/>
              </a:ext>
            </a:extLst>
          </p:cNvPr>
          <p:cNvSpPr>
            <a:spLocks noGrp="1"/>
          </p:cNvSpPr>
          <p:nvPr>
            <p:ph type="sldNum" sz="quarter" idx="5"/>
          </p:nvPr>
        </p:nvSpPr>
        <p:spPr/>
        <p:txBody>
          <a:bodyPr/>
          <a:lstStyle/>
          <a:p>
            <a:fld id="{4A81C4E9-7AF6-E34F-A043-92CD67528A0B}" type="slidenum">
              <a:rPr lang="de-DE" smtClean="0"/>
              <a:t>10</a:t>
            </a:fld>
            <a:endParaRPr lang="de-DE"/>
          </a:p>
        </p:txBody>
      </p:sp>
    </p:spTree>
    <p:extLst>
      <p:ext uri="{BB962C8B-B14F-4D97-AF65-F5344CB8AC3E}">
        <p14:creationId xmlns:p14="http://schemas.microsoft.com/office/powerpoint/2010/main" val="38927952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72233-F770-563D-F0A9-6D0EE4E44D0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D43096EE-E590-DDDF-6B84-3D0B1C60EEAB}"/>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5B4B992F-A751-B730-7871-974687B4A469}"/>
              </a:ext>
            </a:extLst>
          </p:cNvPr>
          <p:cNvSpPr>
            <a:spLocks noGrp="1"/>
          </p:cNvSpPr>
          <p:nvPr>
            <p:ph type="body" idx="1"/>
          </p:nvPr>
        </p:nvSpPr>
        <p:spPr/>
        <p:txBody>
          <a:bodyPr/>
          <a:lstStyle/>
          <a:p>
            <a:r>
              <a:rPr lang="en-US" b="1" i="1"/>
              <a:t>governance </a:t>
            </a:r>
            <a:r>
              <a:rPr lang="en-US" b="1" i="1" err="1"/>
              <a:t>reccomendations</a:t>
            </a:r>
            <a:endParaRPr lang="en-US" b="1" i="1"/>
          </a:p>
        </p:txBody>
      </p:sp>
      <p:sp>
        <p:nvSpPr>
          <p:cNvPr id="4" name="Foliennummernplatzhalter 3">
            <a:extLst>
              <a:ext uri="{FF2B5EF4-FFF2-40B4-BE49-F238E27FC236}">
                <a16:creationId xmlns:a16="http://schemas.microsoft.com/office/drawing/2014/main" id="{F6B3B0F1-7947-A32F-A285-5DDB95921E5B}"/>
              </a:ext>
            </a:extLst>
          </p:cNvPr>
          <p:cNvSpPr>
            <a:spLocks noGrp="1"/>
          </p:cNvSpPr>
          <p:nvPr>
            <p:ph type="sldNum" sz="quarter" idx="5"/>
          </p:nvPr>
        </p:nvSpPr>
        <p:spPr/>
        <p:txBody>
          <a:bodyPr/>
          <a:lstStyle/>
          <a:p>
            <a:fld id="{4A81C4E9-7AF6-E34F-A043-92CD67528A0B}" type="slidenum">
              <a:rPr lang="de-DE" smtClean="0"/>
              <a:t>11</a:t>
            </a:fld>
            <a:endParaRPr lang="de-DE"/>
          </a:p>
        </p:txBody>
      </p:sp>
    </p:spTree>
    <p:extLst>
      <p:ext uri="{BB962C8B-B14F-4D97-AF65-F5344CB8AC3E}">
        <p14:creationId xmlns:p14="http://schemas.microsoft.com/office/powerpoint/2010/main" val="21456696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C0471-0D85-9B39-C877-4E9DE6A7D91F}"/>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64E640B6-E19E-45F6-E9C7-7B6A410FFC89}"/>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C9F3C134-978E-35D1-BA72-BB6B973B383C}"/>
              </a:ext>
            </a:extLst>
          </p:cNvPr>
          <p:cNvSpPr>
            <a:spLocks noGrp="1"/>
          </p:cNvSpPr>
          <p:nvPr>
            <p:ph type="body" idx="1"/>
          </p:nvPr>
        </p:nvSpPr>
        <p:spPr/>
        <p:txBody>
          <a:bodyPr/>
          <a:lstStyle/>
          <a:p>
            <a:r>
              <a:rPr lang="en-GB" sz="1200" b="0" i="0" u="none" strike="noStrike" kern="1200">
                <a:solidFill>
                  <a:schemeClr val="tx1"/>
                </a:solidFill>
                <a:effectLst/>
                <a:latin typeface="+mn-lt"/>
                <a:ea typeface="+mn-ea"/>
                <a:cs typeface="+mn-cs"/>
              </a:rPr>
              <a:t>In conclusion, our audit identified important governance risks in </a:t>
            </a:r>
            <a:r>
              <a:rPr lang="en-GB" sz="1200" b="0" i="0" u="none" strike="noStrike" kern="1200" err="1">
                <a:solidFill>
                  <a:schemeClr val="tx1"/>
                </a:solidFill>
                <a:effectLst/>
                <a:latin typeface="+mn-lt"/>
                <a:ea typeface="+mn-ea"/>
                <a:cs typeface="+mn-cs"/>
              </a:rPr>
              <a:t>NovaCred’s</a:t>
            </a:r>
            <a:r>
              <a:rPr lang="en-GB" sz="1200" b="0" i="0" u="none" strike="noStrike" kern="1200">
                <a:solidFill>
                  <a:schemeClr val="tx1"/>
                </a:solidFill>
                <a:effectLst/>
                <a:latin typeface="+mn-lt"/>
                <a:ea typeface="+mn-ea"/>
                <a:cs typeface="+mn-cs"/>
              </a:rPr>
              <a:t> credit decision dataset. We found significant data quality issues, evidence of statistical differences in approval outcomes across gender, and several sensitive personal identifiers stored without protection. Addressing these issues through stronger data validation, fairness monitoring, and privacy safeguards will help </a:t>
            </a:r>
            <a:r>
              <a:rPr lang="en-GB" sz="1200" b="0" i="0" u="none" strike="noStrike" kern="1200" err="1">
                <a:solidFill>
                  <a:schemeClr val="tx1"/>
                </a:solidFill>
                <a:effectLst/>
                <a:latin typeface="+mn-lt"/>
                <a:ea typeface="+mn-ea"/>
                <a:cs typeface="+mn-cs"/>
              </a:rPr>
              <a:t>NovaCred</a:t>
            </a:r>
            <a:r>
              <a:rPr lang="en-GB" sz="1200" b="0" i="0" u="none" strike="noStrike" kern="1200">
                <a:solidFill>
                  <a:schemeClr val="tx1"/>
                </a:solidFill>
                <a:effectLst/>
                <a:latin typeface="+mn-lt"/>
                <a:ea typeface="+mn-ea"/>
                <a:cs typeface="+mn-cs"/>
              </a:rPr>
              <a:t> improve both regulatory compliance and trust in its credit decision process.</a:t>
            </a:r>
            <a:endParaRPr lang="en-US" b="1" i="1"/>
          </a:p>
        </p:txBody>
      </p:sp>
      <p:sp>
        <p:nvSpPr>
          <p:cNvPr id="4" name="Foliennummernplatzhalter 3">
            <a:extLst>
              <a:ext uri="{FF2B5EF4-FFF2-40B4-BE49-F238E27FC236}">
                <a16:creationId xmlns:a16="http://schemas.microsoft.com/office/drawing/2014/main" id="{44E53D19-51F9-6AF0-8550-8638E97BB876}"/>
              </a:ext>
            </a:extLst>
          </p:cNvPr>
          <p:cNvSpPr>
            <a:spLocks noGrp="1"/>
          </p:cNvSpPr>
          <p:nvPr>
            <p:ph type="sldNum" sz="quarter" idx="5"/>
          </p:nvPr>
        </p:nvSpPr>
        <p:spPr/>
        <p:txBody>
          <a:bodyPr/>
          <a:lstStyle/>
          <a:p>
            <a:fld id="{4A81C4E9-7AF6-E34F-A043-92CD67528A0B}" type="slidenum">
              <a:rPr lang="de-DE" smtClean="0"/>
              <a:t>12</a:t>
            </a:fld>
            <a:endParaRPr lang="de-DE"/>
          </a:p>
        </p:txBody>
      </p:sp>
    </p:spTree>
    <p:extLst>
      <p:ext uri="{BB962C8B-B14F-4D97-AF65-F5344CB8AC3E}">
        <p14:creationId xmlns:p14="http://schemas.microsoft.com/office/powerpoint/2010/main" val="13977006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98E1D-B06D-5D7E-3C2A-1280831E1EED}"/>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PT"/>
          </a:p>
        </p:txBody>
      </p:sp>
      <p:sp>
        <p:nvSpPr>
          <p:cNvPr id="3" name="Subtitle 2">
            <a:extLst>
              <a:ext uri="{FF2B5EF4-FFF2-40B4-BE49-F238E27FC236}">
                <a16:creationId xmlns:a16="http://schemas.microsoft.com/office/drawing/2014/main" id="{E3064F49-B94C-6952-66EF-BC35E983365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PT"/>
          </a:p>
        </p:txBody>
      </p:sp>
      <p:sp>
        <p:nvSpPr>
          <p:cNvPr id="4" name="Date Placeholder 3">
            <a:extLst>
              <a:ext uri="{FF2B5EF4-FFF2-40B4-BE49-F238E27FC236}">
                <a16:creationId xmlns:a16="http://schemas.microsoft.com/office/drawing/2014/main" id="{6AC73FD3-FF89-AA1A-B33A-EE07BB023EED}"/>
              </a:ext>
            </a:extLst>
          </p:cNvPr>
          <p:cNvSpPr>
            <a:spLocks noGrp="1"/>
          </p:cNvSpPr>
          <p:nvPr>
            <p:ph type="dt" sz="half" idx="10"/>
          </p:nvPr>
        </p:nvSpPr>
        <p:spPr/>
        <p:txBody>
          <a:bodyPr/>
          <a:lstStyle/>
          <a:p>
            <a:fld id="{B475A561-0437-F046-91D0-70C8788B95FC}" type="datetimeFigureOut">
              <a:rPr lang="en-PT" smtClean="0"/>
              <a:t>09/03/2026</a:t>
            </a:fld>
            <a:endParaRPr lang="en-PT"/>
          </a:p>
        </p:txBody>
      </p:sp>
      <p:sp>
        <p:nvSpPr>
          <p:cNvPr id="5" name="Footer Placeholder 4">
            <a:extLst>
              <a:ext uri="{FF2B5EF4-FFF2-40B4-BE49-F238E27FC236}">
                <a16:creationId xmlns:a16="http://schemas.microsoft.com/office/drawing/2014/main" id="{C9563930-97F1-25DD-ED4D-B57EDE53AB44}"/>
              </a:ext>
            </a:extLst>
          </p:cNvPr>
          <p:cNvSpPr>
            <a:spLocks noGrp="1"/>
          </p:cNvSpPr>
          <p:nvPr>
            <p:ph type="ftr" sz="quarter" idx="11"/>
          </p:nvPr>
        </p:nvSpPr>
        <p:spPr/>
        <p:txBody>
          <a:bodyPr/>
          <a:lstStyle/>
          <a:p>
            <a:endParaRPr lang="en-PT"/>
          </a:p>
        </p:txBody>
      </p:sp>
      <p:sp>
        <p:nvSpPr>
          <p:cNvPr id="6" name="Slide Number Placeholder 5">
            <a:extLst>
              <a:ext uri="{FF2B5EF4-FFF2-40B4-BE49-F238E27FC236}">
                <a16:creationId xmlns:a16="http://schemas.microsoft.com/office/drawing/2014/main" id="{C8F03849-9BA1-588D-22E9-1C8209C7A4DC}"/>
              </a:ext>
            </a:extLst>
          </p:cNvPr>
          <p:cNvSpPr>
            <a:spLocks noGrp="1"/>
          </p:cNvSpPr>
          <p:nvPr>
            <p:ph type="sldNum" sz="quarter" idx="12"/>
          </p:nvPr>
        </p:nvSpPr>
        <p:spPr/>
        <p:txBody>
          <a:bodyPr/>
          <a:lstStyle/>
          <a:p>
            <a:fld id="{904B10FD-BC6A-D445-A118-EBB0DE36F883}" type="slidenum">
              <a:rPr lang="en-PT" smtClean="0"/>
              <a:t>‹#›</a:t>
            </a:fld>
            <a:endParaRPr lang="en-PT"/>
          </a:p>
        </p:txBody>
      </p:sp>
    </p:spTree>
    <p:extLst>
      <p:ext uri="{BB962C8B-B14F-4D97-AF65-F5344CB8AC3E}">
        <p14:creationId xmlns:p14="http://schemas.microsoft.com/office/powerpoint/2010/main" val="25575567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021AB-8526-9017-EFAE-AA4B04322A7F}"/>
              </a:ext>
            </a:extLst>
          </p:cNvPr>
          <p:cNvSpPr>
            <a:spLocks noGrp="1"/>
          </p:cNvSpPr>
          <p:nvPr>
            <p:ph type="title"/>
          </p:nvPr>
        </p:nvSpPr>
        <p:spPr/>
        <p:txBody>
          <a:bodyPr/>
          <a:lstStyle/>
          <a:p>
            <a:r>
              <a:rPr lang="en-GB"/>
              <a:t>Click to edit Master title style</a:t>
            </a:r>
            <a:endParaRPr lang="en-PT"/>
          </a:p>
        </p:txBody>
      </p:sp>
      <p:sp>
        <p:nvSpPr>
          <p:cNvPr id="3" name="Content Placeholder 2">
            <a:extLst>
              <a:ext uri="{FF2B5EF4-FFF2-40B4-BE49-F238E27FC236}">
                <a16:creationId xmlns:a16="http://schemas.microsoft.com/office/drawing/2014/main" id="{C5965D52-58B7-CAAF-ED35-6708B7EA137D}"/>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T"/>
          </a:p>
        </p:txBody>
      </p:sp>
      <p:sp>
        <p:nvSpPr>
          <p:cNvPr id="4" name="Date Placeholder 3">
            <a:extLst>
              <a:ext uri="{FF2B5EF4-FFF2-40B4-BE49-F238E27FC236}">
                <a16:creationId xmlns:a16="http://schemas.microsoft.com/office/drawing/2014/main" id="{79503CA9-7796-B49D-648E-A894930BE537}"/>
              </a:ext>
            </a:extLst>
          </p:cNvPr>
          <p:cNvSpPr>
            <a:spLocks noGrp="1"/>
          </p:cNvSpPr>
          <p:nvPr>
            <p:ph type="dt" sz="half" idx="10"/>
          </p:nvPr>
        </p:nvSpPr>
        <p:spPr/>
        <p:txBody>
          <a:bodyPr/>
          <a:lstStyle/>
          <a:p>
            <a:fld id="{B475A561-0437-F046-91D0-70C8788B95FC}" type="datetimeFigureOut">
              <a:rPr lang="en-PT" smtClean="0"/>
              <a:t>09/03/2026</a:t>
            </a:fld>
            <a:endParaRPr lang="en-PT"/>
          </a:p>
        </p:txBody>
      </p:sp>
      <p:sp>
        <p:nvSpPr>
          <p:cNvPr id="5" name="Footer Placeholder 4">
            <a:extLst>
              <a:ext uri="{FF2B5EF4-FFF2-40B4-BE49-F238E27FC236}">
                <a16:creationId xmlns:a16="http://schemas.microsoft.com/office/drawing/2014/main" id="{F76BE6D9-FCBD-640B-D4FE-D286802454D7}"/>
              </a:ext>
            </a:extLst>
          </p:cNvPr>
          <p:cNvSpPr>
            <a:spLocks noGrp="1"/>
          </p:cNvSpPr>
          <p:nvPr>
            <p:ph type="ftr" sz="quarter" idx="11"/>
          </p:nvPr>
        </p:nvSpPr>
        <p:spPr/>
        <p:txBody>
          <a:bodyPr/>
          <a:lstStyle/>
          <a:p>
            <a:endParaRPr lang="en-PT"/>
          </a:p>
        </p:txBody>
      </p:sp>
      <p:sp>
        <p:nvSpPr>
          <p:cNvPr id="6" name="Slide Number Placeholder 5">
            <a:extLst>
              <a:ext uri="{FF2B5EF4-FFF2-40B4-BE49-F238E27FC236}">
                <a16:creationId xmlns:a16="http://schemas.microsoft.com/office/drawing/2014/main" id="{752100A6-D4A5-1E07-38D0-83D28863A3FA}"/>
              </a:ext>
            </a:extLst>
          </p:cNvPr>
          <p:cNvSpPr>
            <a:spLocks noGrp="1"/>
          </p:cNvSpPr>
          <p:nvPr>
            <p:ph type="sldNum" sz="quarter" idx="12"/>
          </p:nvPr>
        </p:nvSpPr>
        <p:spPr/>
        <p:txBody>
          <a:bodyPr/>
          <a:lstStyle/>
          <a:p>
            <a:fld id="{904B10FD-BC6A-D445-A118-EBB0DE36F883}" type="slidenum">
              <a:rPr lang="en-PT" smtClean="0"/>
              <a:t>‹#›</a:t>
            </a:fld>
            <a:endParaRPr lang="en-PT"/>
          </a:p>
        </p:txBody>
      </p:sp>
    </p:spTree>
    <p:extLst>
      <p:ext uri="{BB962C8B-B14F-4D97-AF65-F5344CB8AC3E}">
        <p14:creationId xmlns:p14="http://schemas.microsoft.com/office/powerpoint/2010/main" val="30582168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A2AED-7458-05AA-DF9E-ADD29B7A2149}"/>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PT"/>
          </a:p>
        </p:txBody>
      </p:sp>
      <p:sp>
        <p:nvSpPr>
          <p:cNvPr id="3" name="Text Placeholder 2">
            <a:extLst>
              <a:ext uri="{FF2B5EF4-FFF2-40B4-BE49-F238E27FC236}">
                <a16:creationId xmlns:a16="http://schemas.microsoft.com/office/drawing/2014/main" id="{BEE95835-51A0-02C3-2431-204E39FBFBC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3E3C131B-12CF-27E8-71C6-20B000ED6D99}"/>
              </a:ext>
            </a:extLst>
          </p:cNvPr>
          <p:cNvSpPr>
            <a:spLocks noGrp="1"/>
          </p:cNvSpPr>
          <p:nvPr>
            <p:ph type="dt" sz="half" idx="10"/>
          </p:nvPr>
        </p:nvSpPr>
        <p:spPr/>
        <p:txBody>
          <a:bodyPr/>
          <a:lstStyle/>
          <a:p>
            <a:fld id="{B475A561-0437-F046-91D0-70C8788B95FC}" type="datetimeFigureOut">
              <a:rPr lang="en-PT" smtClean="0"/>
              <a:t>09/03/2026</a:t>
            </a:fld>
            <a:endParaRPr lang="en-PT"/>
          </a:p>
        </p:txBody>
      </p:sp>
      <p:sp>
        <p:nvSpPr>
          <p:cNvPr id="5" name="Footer Placeholder 4">
            <a:extLst>
              <a:ext uri="{FF2B5EF4-FFF2-40B4-BE49-F238E27FC236}">
                <a16:creationId xmlns:a16="http://schemas.microsoft.com/office/drawing/2014/main" id="{8564A4BD-B687-996C-ABDC-F38B724189F4}"/>
              </a:ext>
            </a:extLst>
          </p:cNvPr>
          <p:cNvSpPr>
            <a:spLocks noGrp="1"/>
          </p:cNvSpPr>
          <p:nvPr>
            <p:ph type="ftr" sz="quarter" idx="11"/>
          </p:nvPr>
        </p:nvSpPr>
        <p:spPr/>
        <p:txBody>
          <a:bodyPr/>
          <a:lstStyle/>
          <a:p>
            <a:endParaRPr lang="en-PT"/>
          </a:p>
        </p:txBody>
      </p:sp>
      <p:sp>
        <p:nvSpPr>
          <p:cNvPr id="6" name="Slide Number Placeholder 5">
            <a:extLst>
              <a:ext uri="{FF2B5EF4-FFF2-40B4-BE49-F238E27FC236}">
                <a16:creationId xmlns:a16="http://schemas.microsoft.com/office/drawing/2014/main" id="{F6CE5899-BEFC-5FF8-887D-881D8531ACF9}"/>
              </a:ext>
            </a:extLst>
          </p:cNvPr>
          <p:cNvSpPr>
            <a:spLocks noGrp="1"/>
          </p:cNvSpPr>
          <p:nvPr>
            <p:ph type="sldNum" sz="quarter" idx="12"/>
          </p:nvPr>
        </p:nvSpPr>
        <p:spPr/>
        <p:txBody>
          <a:bodyPr/>
          <a:lstStyle/>
          <a:p>
            <a:fld id="{904B10FD-BC6A-D445-A118-EBB0DE36F883}" type="slidenum">
              <a:rPr lang="en-PT" smtClean="0"/>
              <a:t>‹#›</a:t>
            </a:fld>
            <a:endParaRPr lang="en-PT"/>
          </a:p>
        </p:txBody>
      </p:sp>
    </p:spTree>
    <p:extLst>
      <p:ext uri="{BB962C8B-B14F-4D97-AF65-F5344CB8AC3E}">
        <p14:creationId xmlns:p14="http://schemas.microsoft.com/office/powerpoint/2010/main" val="28186168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DE6D8-9918-C1FC-87AB-1DF951B6B118}"/>
              </a:ext>
            </a:extLst>
          </p:cNvPr>
          <p:cNvSpPr>
            <a:spLocks noGrp="1"/>
          </p:cNvSpPr>
          <p:nvPr>
            <p:ph type="title"/>
          </p:nvPr>
        </p:nvSpPr>
        <p:spPr/>
        <p:txBody>
          <a:bodyPr/>
          <a:lstStyle/>
          <a:p>
            <a:r>
              <a:rPr lang="en-GB"/>
              <a:t>Click to edit Master title style</a:t>
            </a:r>
            <a:endParaRPr lang="en-PT"/>
          </a:p>
        </p:txBody>
      </p:sp>
      <p:sp>
        <p:nvSpPr>
          <p:cNvPr id="3" name="Content Placeholder 2">
            <a:extLst>
              <a:ext uri="{FF2B5EF4-FFF2-40B4-BE49-F238E27FC236}">
                <a16:creationId xmlns:a16="http://schemas.microsoft.com/office/drawing/2014/main" id="{2E19AFCF-527C-2F6D-CA8E-820B797E034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T"/>
          </a:p>
        </p:txBody>
      </p:sp>
      <p:sp>
        <p:nvSpPr>
          <p:cNvPr id="4" name="Content Placeholder 3">
            <a:extLst>
              <a:ext uri="{FF2B5EF4-FFF2-40B4-BE49-F238E27FC236}">
                <a16:creationId xmlns:a16="http://schemas.microsoft.com/office/drawing/2014/main" id="{0CA793AD-C1C7-D72B-EE50-B86A19D83010}"/>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T"/>
          </a:p>
        </p:txBody>
      </p:sp>
      <p:sp>
        <p:nvSpPr>
          <p:cNvPr id="5" name="Date Placeholder 4">
            <a:extLst>
              <a:ext uri="{FF2B5EF4-FFF2-40B4-BE49-F238E27FC236}">
                <a16:creationId xmlns:a16="http://schemas.microsoft.com/office/drawing/2014/main" id="{0F038F97-A712-07D4-9B16-F7579BC832AF}"/>
              </a:ext>
            </a:extLst>
          </p:cNvPr>
          <p:cNvSpPr>
            <a:spLocks noGrp="1"/>
          </p:cNvSpPr>
          <p:nvPr>
            <p:ph type="dt" sz="half" idx="10"/>
          </p:nvPr>
        </p:nvSpPr>
        <p:spPr/>
        <p:txBody>
          <a:bodyPr/>
          <a:lstStyle/>
          <a:p>
            <a:fld id="{B475A561-0437-F046-91D0-70C8788B95FC}" type="datetimeFigureOut">
              <a:rPr lang="en-PT" smtClean="0"/>
              <a:t>09/03/2026</a:t>
            </a:fld>
            <a:endParaRPr lang="en-PT"/>
          </a:p>
        </p:txBody>
      </p:sp>
      <p:sp>
        <p:nvSpPr>
          <p:cNvPr id="6" name="Footer Placeholder 5">
            <a:extLst>
              <a:ext uri="{FF2B5EF4-FFF2-40B4-BE49-F238E27FC236}">
                <a16:creationId xmlns:a16="http://schemas.microsoft.com/office/drawing/2014/main" id="{EC50813C-FB58-0753-530F-A0CB956A0428}"/>
              </a:ext>
            </a:extLst>
          </p:cNvPr>
          <p:cNvSpPr>
            <a:spLocks noGrp="1"/>
          </p:cNvSpPr>
          <p:nvPr>
            <p:ph type="ftr" sz="quarter" idx="11"/>
          </p:nvPr>
        </p:nvSpPr>
        <p:spPr/>
        <p:txBody>
          <a:bodyPr/>
          <a:lstStyle/>
          <a:p>
            <a:endParaRPr lang="en-PT"/>
          </a:p>
        </p:txBody>
      </p:sp>
      <p:sp>
        <p:nvSpPr>
          <p:cNvPr id="7" name="Slide Number Placeholder 6">
            <a:extLst>
              <a:ext uri="{FF2B5EF4-FFF2-40B4-BE49-F238E27FC236}">
                <a16:creationId xmlns:a16="http://schemas.microsoft.com/office/drawing/2014/main" id="{4F45B0B3-EBC6-5917-3866-964159DD92E5}"/>
              </a:ext>
            </a:extLst>
          </p:cNvPr>
          <p:cNvSpPr>
            <a:spLocks noGrp="1"/>
          </p:cNvSpPr>
          <p:nvPr>
            <p:ph type="sldNum" sz="quarter" idx="12"/>
          </p:nvPr>
        </p:nvSpPr>
        <p:spPr/>
        <p:txBody>
          <a:bodyPr/>
          <a:lstStyle/>
          <a:p>
            <a:fld id="{904B10FD-BC6A-D445-A118-EBB0DE36F883}" type="slidenum">
              <a:rPr lang="en-PT" smtClean="0"/>
              <a:t>‹#›</a:t>
            </a:fld>
            <a:endParaRPr lang="en-PT"/>
          </a:p>
        </p:txBody>
      </p:sp>
    </p:spTree>
    <p:extLst>
      <p:ext uri="{BB962C8B-B14F-4D97-AF65-F5344CB8AC3E}">
        <p14:creationId xmlns:p14="http://schemas.microsoft.com/office/powerpoint/2010/main" val="22818297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5A414-E089-E99D-9331-D7C63AAB5462}"/>
              </a:ext>
            </a:extLst>
          </p:cNvPr>
          <p:cNvSpPr>
            <a:spLocks noGrp="1"/>
          </p:cNvSpPr>
          <p:nvPr>
            <p:ph type="title"/>
          </p:nvPr>
        </p:nvSpPr>
        <p:spPr>
          <a:xfrm>
            <a:off x="839788" y="365125"/>
            <a:ext cx="10515600" cy="1325563"/>
          </a:xfrm>
        </p:spPr>
        <p:txBody>
          <a:bodyPr/>
          <a:lstStyle/>
          <a:p>
            <a:r>
              <a:rPr lang="en-GB"/>
              <a:t>Click to edit Master title style</a:t>
            </a:r>
            <a:endParaRPr lang="en-PT"/>
          </a:p>
        </p:txBody>
      </p:sp>
      <p:sp>
        <p:nvSpPr>
          <p:cNvPr id="3" name="Text Placeholder 2">
            <a:extLst>
              <a:ext uri="{FF2B5EF4-FFF2-40B4-BE49-F238E27FC236}">
                <a16:creationId xmlns:a16="http://schemas.microsoft.com/office/drawing/2014/main" id="{C88C40FF-5CF5-9FAA-04DF-991E465D3FC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30E751A-64FF-3FED-CCF2-22D9D8554E11}"/>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T"/>
          </a:p>
        </p:txBody>
      </p:sp>
      <p:sp>
        <p:nvSpPr>
          <p:cNvPr id="5" name="Text Placeholder 4">
            <a:extLst>
              <a:ext uri="{FF2B5EF4-FFF2-40B4-BE49-F238E27FC236}">
                <a16:creationId xmlns:a16="http://schemas.microsoft.com/office/drawing/2014/main" id="{ACE51697-CA85-4BF1-108B-EC4E8ECB34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443CB58A-DFC2-B03E-7ED5-704FBB384CA9}"/>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T"/>
          </a:p>
        </p:txBody>
      </p:sp>
      <p:sp>
        <p:nvSpPr>
          <p:cNvPr id="7" name="Date Placeholder 6">
            <a:extLst>
              <a:ext uri="{FF2B5EF4-FFF2-40B4-BE49-F238E27FC236}">
                <a16:creationId xmlns:a16="http://schemas.microsoft.com/office/drawing/2014/main" id="{8C6BB15F-D5B9-0C7B-4AB2-F120CECC614F}"/>
              </a:ext>
            </a:extLst>
          </p:cNvPr>
          <p:cNvSpPr>
            <a:spLocks noGrp="1"/>
          </p:cNvSpPr>
          <p:nvPr>
            <p:ph type="dt" sz="half" idx="10"/>
          </p:nvPr>
        </p:nvSpPr>
        <p:spPr/>
        <p:txBody>
          <a:bodyPr/>
          <a:lstStyle/>
          <a:p>
            <a:fld id="{B475A561-0437-F046-91D0-70C8788B95FC}" type="datetimeFigureOut">
              <a:rPr lang="en-PT" smtClean="0"/>
              <a:t>09/03/2026</a:t>
            </a:fld>
            <a:endParaRPr lang="en-PT"/>
          </a:p>
        </p:txBody>
      </p:sp>
      <p:sp>
        <p:nvSpPr>
          <p:cNvPr id="8" name="Footer Placeholder 7">
            <a:extLst>
              <a:ext uri="{FF2B5EF4-FFF2-40B4-BE49-F238E27FC236}">
                <a16:creationId xmlns:a16="http://schemas.microsoft.com/office/drawing/2014/main" id="{75B39625-342C-C514-99CE-91B566F62E3B}"/>
              </a:ext>
            </a:extLst>
          </p:cNvPr>
          <p:cNvSpPr>
            <a:spLocks noGrp="1"/>
          </p:cNvSpPr>
          <p:nvPr>
            <p:ph type="ftr" sz="quarter" idx="11"/>
          </p:nvPr>
        </p:nvSpPr>
        <p:spPr/>
        <p:txBody>
          <a:bodyPr/>
          <a:lstStyle/>
          <a:p>
            <a:endParaRPr lang="en-PT"/>
          </a:p>
        </p:txBody>
      </p:sp>
      <p:sp>
        <p:nvSpPr>
          <p:cNvPr id="9" name="Slide Number Placeholder 8">
            <a:extLst>
              <a:ext uri="{FF2B5EF4-FFF2-40B4-BE49-F238E27FC236}">
                <a16:creationId xmlns:a16="http://schemas.microsoft.com/office/drawing/2014/main" id="{CFAFB4A1-C2FF-6820-5B66-D3DF1524EF8A}"/>
              </a:ext>
            </a:extLst>
          </p:cNvPr>
          <p:cNvSpPr>
            <a:spLocks noGrp="1"/>
          </p:cNvSpPr>
          <p:nvPr>
            <p:ph type="sldNum" sz="quarter" idx="12"/>
          </p:nvPr>
        </p:nvSpPr>
        <p:spPr/>
        <p:txBody>
          <a:bodyPr/>
          <a:lstStyle/>
          <a:p>
            <a:fld id="{904B10FD-BC6A-D445-A118-EBB0DE36F883}" type="slidenum">
              <a:rPr lang="en-PT" smtClean="0"/>
              <a:t>‹#›</a:t>
            </a:fld>
            <a:endParaRPr lang="en-PT"/>
          </a:p>
        </p:txBody>
      </p:sp>
    </p:spTree>
    <p:extLst>
      <p:ext uri="{BB962C8B-B14F-4D97-AF65-F5344CB8AC3E}">
        <p14:creationId xmlns:p14="http://schemas.microsoft.com/office/powerpoint/2010/main" val="2455164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451D5-3D40-3FD4-67C7-CFA0AE3B81AE}"/>
              </a:ext>
            </a:extLst>
          </p:cNvPr>
          <p:cNvSpPr>
            <a:spLocks noGrp="1"/>
          </p:cNvSpPr>
          <p:nvPr>
            <p:ph type="title"/>
          </p:nvPr>
        </p:nvSpPr>
        <p:spPr/>
        <p:txBody>
          <a:bodyPr/>
          <a:lstStyle/>
          <a:p>
            <a:r>
              <a:rPr lang="en-GB"/>
              <a:t>Click to edit Master title style</a:t>
            </a:r>
            <a:endParaRPr lang="en-PT"/>
          </a:p>
        </p:txBody>
      </p:sp>
      <p:sp>
        <p:nvSpPr>
          <p:cNvPr id="3" name="Date Placeholder 2">
            <a:extLst>
              <a:ext uri="{FF2B5EF4-FFF2-40B4-BE49-F238E27FC236}">
                <a16:creationId xmlns:a16="http://schemas.microsoft.com/office/drawing/2014/main" id="{A853CF7D-CE8F-3D6F-62A9-0EDA9E91F0E6}"/>
              </a:ext>
            </a:extLst>
          </p:cNvPr>
          <p:cNvSpPr>
            <a:spLocks noGrp="1"/>
          </p:cNvSpPr>
          <p:nvPr>
            <p:ph type="dt" sz="half" idx="10"/>
          </p:nvPr>
        </p:nvSpPr>
        <p:spPr/>
        <p:txBody>
          <a:bodyPr/>
          <a:lstStyle/>
          <a:p>
            <a:fld id="{B475A561-0437-F046-91D0-70C8788B95FC}" type="datetimeFigureOut">
              <a:rPr lang="en-PT" smtClean="0"/>
              <a:t>09/03/2026</a:t>
            </a:fld>
            <a:endParaRPr lang="en-PT"/>
          </a:p>
        </p:txBody>
      </p:sp>
      <p:sp>
        <p:nvSpPr>
          <p:cNvPr id="4" name="Footer Placeholder 3">
            <a:extLst>
              <a:ext uri="{FF2B5EF4-FFF2-40B4-BE49-F238E27FC236}">
                <a16:creationId xmlns:a16="http://schemas.microsoft.com/office/drawing/2014/main" id="{8943C8F0-4CF7-B170-780A-15406DDF2DA7}"/>
              </a:ext>
            </a:extLst>
          </p:cNvPr>
          <p:cNvSpPr>
            <a:spLocks noGrp="1"/>
          </p:cNvSpPr>
          <p:nvPr>
            <p:ph type="ftr" sz="quarter" idx="11"/>
          </p:nvPr>
        </p:nvSpPr>
        <p:spPr/>
        <p:txBody>
          <a:bodyPr/>
          <a:lstStyle/>
          <a:p>
            <a:endParaRPr lang="en-PT"/>
          </a:p>
        </p:txBody>
      </p:sp>
      <p:sp>
        <p:nvSpPr>
          <p:cNvPr id="5" name="Slide Number Placeholder 4">
            <a:extLst>
              <a:ext uri="{FF2B5EF4-FFF2-40B4-BE49-F238E27FC236}">
                <a16:creationId xmlns:a16="http://schemas.microsoft.com/office/drawing/2014/main" id="{82517253-C1FE-A64D-6027-491855FFE345}"/>
              </a:ext>
            </a:extLst>
          </p:cNvPr>
          <p:cNvSpPr>
            <a:spLocks noGrp="1"/>
          </p:cNvSpPr>
          <p:nvPr>
            <p:ph type="sldNum" sz="quarter" idx="12"/>
          </p:nvPr>
        </p:nvSpPr>
        <p:spPr/>
        <p:txBody>
          <a:bodyPr/>
          <a:lstStyle/>
          <a:p>
            <a:fld id="{904B10FD-BC6A-D445-A118-EBB0DE36F883}" type="slidenum">
              <a:rPr lang="en-PT" smtClean="0"/>
              <a:t>‹#›</a:t>
            </a:fld>
            <a:endParaRPr lang="en-PT"/>
          </a:p>
        </p:txBody>
      </p:sp>
    </p:spTree>
    <p:extLst>
      <p:ext uri="{BB962C8B-B14F-4D97-AF65-F5344CB8AC3E}">
        <p14:creationId xmlns:p14="http://schemas.microsoft.com/office/powerpoint/2010/main" val="2801959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0417A6-85B2-D003-B6CD-87892C25CB24}"/>
              </a:ext>
            </a:extLst>
          </p:cNvPr>
          <p:cNvSpPr>
            <a:spLocks noGrp="1"/>
          </p:cNvSpPr>
          <p:nvPr>
            <p:ph type="dt" sz="half" idx="10"/>
          </p:nvPr>
        </p:nvSpPr>
        <p:spPr/>
        <p:txBody>
          <a:bodyPr/>
          <a:lstStyle/>
          <a:p>
            <a:fld id="{B475A561-0437-F046-91D0-70C8788B95FC}" type="datetimeFigureOut">
              <a:rPr lang="en-PT" smtClean="0"/>
              <a:t>09/03/2026</a:t>
            </a:fld>
            <a:endParaRPr lang="en-PT"/>
          </a:p>
        </p:txBody>
      </p:sp>
      <p:sp>
        <p:nvSpPr>
          <p:cNvPr id="3" name="Footer Placeholder 2">
            <a:extLst>
              <a:ext uri="{FF2B5EF4-FFF2-40B4-BE49-F238E27FC236}">
                <a16:creationId xmlns:a16="http://schemas.microsoft.com/office/drawing/2014/main" id="{1BCFD5B1-80E4-603B-12AB-19C5C2A100CB}"/>
              </a:ext>
            </a:extLst>
          </p:cNvPr>
          <p:cNvSpPr>
            <a:spLocks noGrp="1"/>
          </p:cNvSpPr>
          <p:nvPr>
            <p:ph type="ftr" sz="quarter" idx="11"/>
          </p:nvPr>
        </p:nvSpPr>
        <p:spPr/>
        <p:txBody>
          <a:bodyPr/>
          <a:lstStyle/>
          <a:p>
            <a:endParaRPr lang="en-PT"/>
          </a:p>
        </p:txBody>
      </p:sp>
      <p:sp>
        <p:nvSpPr>
          <p:cNvPr id="4" name="Slide Number Placeholder 3">
            <a:extLst>
              <a:ext uri="{FF2B5EF4-FFF2-40B4-BE49-F238E27FC236}">
                <a16:creationId xmlns:a16="http://schemas.microsoft.com/office/drawing/2014/main" id="{3598ED65-5664-794C-7610-594013CB8D5F}"/>
              </a:ext>
            </a:extLst>
          </p:cNvPr>
          <p:cNvSpPr>
            <a:spLocks noGrp="1"/>
          </p:cNvSpPr>
          <p:nvPr>
            <p:ph type="sldNum" sz="quarter" idx="12"/>
          </p:nvPr>
        </p:nvSpPr>
        <p:spPr/>
        <p:txBody>
          <a:bodyPr/>
          <a:lstStyle/>
          <a:p>
            <a:fld id="{904B10FD-BC6A-D445-A118-EBB0DE36F883}" type="slidenum">
              <a:rPr lang="en-PT" smtClean="0"/>
              <a:t>‹#›</a:t>
            </a:fld>
            <a:endParaRPr lang="en-PT"/>
          </a:p>
        </p:txBody>
      </p:sp>
    </p:spTree>
    <p:extLst>
      <p:ext uri="{BB962C8B-B14F-4D97-AF65-F5344CB8AC3E}">
        <p14:creationId xmlns:p14="http://schemas.microsoft.com/office/powerpoint/2010/main" val="42499447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F1479-884B-2494-284B-3987FDF9E5A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PT"/>
          </a:p>
        </p:txBody>
      </p:sp>
      <p:sp>
        <p:nvSpPr>
          <p:cNvPr id="3" name="Content Placeholder 2">
            <a:extLst>
              <a:ext uri="{FF2B5EF4-FFF2-40B4-BE49-F238E27FC236}">
                <a16:creationId xmlns:a16="http://schemas.microsoft.com/office/drawing/2014/main" id="{C56D4AD3-3A24-4637-180F-7417E84A1AB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T"/>
          </a:p>
        </p:txBody>
      </p:sp>
      <p:sp>
        <p:nvSpPr>
          <p:cNvPr id="4" name="Text Placeholder 3">
            <a:extLst>
              <a:ext uri="{FF2B5EF4-FFF2-40B4-BE49-F238E27FC236}">
                <a16:creationId xmlns:a16="http://schemas.microsoft.com/office/drawing/2014/main" id="{95DD884D-5146-1471-B6BD-B654462E9E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1E1A82E-D9F1-2492-A1B5-949A86614358}"/>
              </a:ext>
            </a:extLst>
          </p:cNvPr>
          <p:cNvSpPr>
            <a:spLocks noGrp="1"/>
          </p:cNvSpPr>
          <p:nvPr>
            <p:ph type="dt" sz="half" idx="10"/>
          </p:nvPr>
        </p:nvSpPr>
        <p:spPr/>
        <p:txBody>
          <a:bodyPr/>
          <a:lstStyle/>
          <a:p>
            <a:fld id="{B475A561-0437-F046-91D0-70C8788B95FC}" type="datetimeFigureOut">
              <a:rPr lang="en-PT" smtClean="0"/>
              <a:t>09/03/2026</a:t>
            </a:fld>
            <a:endParaRPr lang="en-PT"/>
          </a:p>
        </p:txBody>
      </p:sp>
      <p:sp>
        <p:nvSpPr>
          <p:cNvPr id="6" name="Footer Placeholder 5">
            <a:extLst>
              <a:ext uri="{FF2B5EF4-FFF2-40B4-BE49-F238E27FC236}">
                <a16:creationId xmlns:a16="http://schemas.microsoft.com/office/drawing/2014/main" id="{847BFF54-37D5-D51A-DE97-681AC172381D}"/>
              </a:ext>
            </a:extLst>
          </p:cNvPr>
          <p:cNvSpPr>
            <a:spLocks noGrp="1"/>
          </p:cNvSpPr>
          <p:nvPr>
            <p:ph type="ftr" sz="quarter" idx="11"/>
          </p:nvPr>
        </p:nvSpPr>
        <p:spPr/>
        <p:txBody>
          <a:bodyPr/>
          <a:lstStyle/>
          <a:p>
            <a:endParaRPr lang="en-PT"/>
          </a:p>
        </p:txBody>
      </p:sp>
      <p:sp>
        <p:nvSpPr>
          <p:cNvPr id="7" name="Slide Number Placeholder 6">
            <a:extLst>
              <a:ext uri="{FF2B5EF4-FFF2-40B4-BE49-F238E27FC236}">
                <a16:creationId xmlns:a16="http://schemas.microsoft.com/office/drawing/2014/main" id="{FE76B1C8-F9BD-4DDE-B72C-73051092C70E}"/>
              </a:ext>
            </a:extLst>
          </p:cNvPr>
          <p:cNvSpPr>
            <a:spLocks noGrp="1"/>
          </p:cNvSpPr>
          <p:nvPr>
            <p:ph type="sldNum" sz="quarter" idx="12"/>
          </p:nvPr>
        </p:nvSpPr>
        <p:spPr/>
        <p:txBody>
          <a:bodyPr/>
          <a:lstStyle/>
          <a:p>
            <a:fld id="{904B10FD-BC6A-D445-A118-EBB0DE36F883}" type="slidenum">
              <a:rPr lang="en-PT" smtClean="0"/>
              <a:t>‹#›</a:t>
            </a:fld>
            <a:endParaRPr lang="en-PT"/>
          </a:p>
        </p:txBody>
      </p:sp>
    </p:spTree>
    <p:extLst>
      <p:ext uri="{BB962C8B-B14F-4D97-AF65-F5344CB8AC3E}">
        <p14:creationId xmlns:p14="http://schemas.microsoft.com/office/powerpoint/2010/main" val="26135760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FAD69-B9FD-E782-10AC-590EB8D2845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PT"/>
          </a:p>
        </p:txBody>
      </p:sp>
      <p:sp>
        <p:nvSpPr>
          <p:cNvPr id="3" name="Picture Placeholder 2">
            <a:extLst>
              <a:ext uri="{FF2B5EF4-FFF2-40B4-BE49-F238E27FC236}">
                <a16:creationId xmlns:a16="http://schemas.microsoft.com/office/drawing/2014/main" id="{45FFE956-4C74-59D5-D948-EAFA262162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T"/>
          </a:p>
        </p:txBody>
      </p:sp>
      <p:sp>
        <p:nvSpPr>
          <p:cNvPr id="4" name="Text Placeholder 3">
            <a:extLst>
              <a:ext uri="{FF2B5EF4-FFF2-40B4-BE49-F238E27FC236}">
                <a16:creationId xmlns:a16="http://schemas.microsoft.com/office/drawing/2014/main" id="{EF77E480-C8AB-B421-614C-EF2DFD014C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DB3138D-45FE-07E0-984F-1B511040A627}"/>
              </a:ext>
            </a:extLst>
          </p:cNvPr>
          <p:cNvSpPr>
            <a:spLocks noGrp="1"/>
          </p:cNvSpPr>
          <p:nvPr>
            <p:ph type="dt" sz="half" idx="10"/>
          </p:nvPr>
        </p:nvSpPr>
        <p:spPr/>
        <p:txBody>
          <a:bodyPr/>
          <a:lstStyle/>
          <a:p>
            <a:fld id="{B475A561-0437-F046-91D0-70C8788B95FC}" type="datetimeFigureOut">
              <a:rPr lang="en-PT" smtClean="0"/>
              <a:t>09/03/2026</a:t>
            </a:fld>
            <a:endParaRPr lang="en-PT"/>
          </a:p>
        </p:txBody>
      </p:sp>
      <p:sp>
        <p:nvSpPr>
          <p:cNvPr id="6" name="Footer Placeholder 5">
            <a:extLst>
              <a:ext uri="{FF2B5EF4-FFF2-40B4-BE49-F238E27FC236}">
                <a16:creationId xmlns:a16="http://schemas.microsoft.com/office/drawing/2014/main" id="{B628A84D-6E6A-63B0-88AF-74FB24B3E2CD}"/>
              </a:ext>
            </a:extLst>
          </p:cNvPr>
          <p:cNvSpPr>
            <a:spLocks noGrp="1"/>
          </p:cNvSpPr>
          <p:nvPr>
            <p:ph type="ftr" sz="quarter" idx="11"/>
          </p:nvPr>
        </p:nvSpPr>
        <p:spPr/>
        <p:txBody>
          <a:bodyPr/>
          <a:lstStyle/>
          <a:p>
            <a:endParaRPr lang="en-PT"/>
          </a:p>
        </p:txBody>
      </p:sp>
      <p:sp>
        <p:nvSpPr>
          <p:cNvPr id="7" name="Slide Number Placeholder 6">
            <a:extLst>
              <a:ext uri="{FF2B5EF4-FFF2-40B4-BE49-F238E27FC236}">
                <a16:creationId xmlns:a16="http://schemas.microsoft.com/office/drawing/2014/main" id="{06F486BB-5E9F-468C-5BEC-01E3E9AD71CF}"/>
              </a:ext>
            </a:extLst>
          </p:cNvPr>
          <p:cNvSpPr>
            <a:spLocks noGrp="1"/>
          </p:cNvSpPr>
          <p:nvPr>
            <p:ph type="sldNum" sz="quarter" idx="12"/>
          </p:nvPr>
        </p:nvSpPr>
        <p:spPr/>
        <p:txBody>
          <a:bodyPr/>
          <a:lstStyle/>
          <a:p>
            <a:fld id="{904B10FD-BC6A-D445-A118-EBB0DE36F883}" type="slidenum">
              <a:rPr lang="en-PT" smtClean="0"/>
              <a:t>‹#›</a:t>
            </a:fld>
            <a:endParaRPr lang="en-PT"/>
          </a:p>
        </p:txBody>
      </p:sp>
    </p:spTree>
    <p:extLst>
      <p:ext uri="{BB962C8B-B14F-4D97-AF65-F5344CB8AC3E}">
        <p14:creationId xmlns:p14="http://schemas.microsoft.com/office/powerpoint/2010/main" val="2441387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A3430-CF73-AE55-73DC-1BF86B2417EB}"/>
              </a:ext>
            </a:extLst>
          </p:cNvPr>
          <p:cNvSpPr>
            <a:spLocks noGrp="1"/>
          </p:cNvSpPr>
          <p:nvPr>
            <p:ph type="title"/>
          </p:nvPr>
        </p:nvSpPr>
        <p:spPr/>
        <p:txBody>
          <a:bodyPr/>
          <a:lstStyle/>
          <a:p>
            <a:r>
              <a:rPr lang="en-GB"/>
              <a:t>Click to edit Master title style</a:t>
            </a:r>
            <a:endParaRPr lang="en-PT"/>
          </a:p>
        </p:txBody>
      </p:sp>
      <p:sp>
        <p:nvSpPr>
          <p:cNvPr id="3" name="Vertical Text Placeholder 2">
            <a:extLst>
              <a:ext uri="{FF2B5EF4-FFF2-40B4-BE49-F238E27FC236}">
                <a16:creationId xmlns:a16="http://schemas.microsoft.com/office/drawing/2014/main" id="{5E614C12-A0D8-7604-73F6-91AEB2295093}"/>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T"/>
          </a:p>
        </p:txBody>
      </p:sp>
      <p:sp>
        <p:nvSpPr>
          <p:cNvPr id="4" name="Date Placeholder 3">
            <a:extLst>
              <a:ext uri="{FF2B5EF4-FFF2-40B4-BE49-F238E27FC236}">
                <a16:creationId xmlns:a16="http://schemas.microsoft.com/office/drawing/2014/main" id="{6C20F883-5886-884C-6899-A318704FDD51}"/>
              </a:ext>
            </a:extLst>
          </p:cNvPr>
          <p:cNvSpPr>
            <a:spLocks noGrp="1"/>
          </p:cNvSpPr>
          <p:nvPr>
            <p:ph type="dt" sz="half" idx="10"/>
          </p:nvPr>
        </p:nvSpPr>
        <p:spPr/>
        <p:txBody>
          <a:bodyPr/>
          <a:lstStyle/>
          <a:p>
            <a:fld id="{B475A561-0437-F046-91D0-70C8788B95FC}" type="datetimeFigureOut">
              <a:rPr lang="en-PT" smtClean="0"/>
              <a:t>09/03/2026</a:t>
            </a:fld>
            <a:endParaRPr lang="en-PT"/>
          </a:p>
        </p:txBody>
      </p:sp>
      <p:sp>
        <p:nvSpPr>
          <p:cNvPr id="5" name="Footer Placeholder 4">
            <a:extLst>
              <a:ext uri="{FF2B5EF4-FFF2-40B4-BE49-F238E27FC236}">
                <a16:creationId xmlns:a16="http://schemas.microsoft.com/office/drawing/2014/main" id="{3E141FCF-8B2D-CC31-54B9-43D68F1E9009}"/>
              </a:ext>
            </a:extLst>
          </p:cNvPr>
          <p:cNvSpPr>
            <a:spLocks noGrp="1"/>
          </p:cNvSpPr>
          <p:nvPr>
            <p:ph type="ftr" sz="quarter" idx="11"/>
          </p:nvPr>
        </p:nvSpPr>
        <p:spPr/>
        <p:txBody>
          <a:bodyPr/>
          <a:lstStyle/>
          <a:p>
            <a:endParaRPr lang="en-PT"/>
          </a:p>
        </p:txBody>
      </p:sp>
      <p:sp>
        <p:nvSpPr>
          <p:cNvPr id="6" name="Slide Number Placeholder 5">
            <a:extLst>
              <a:ext uri="{FF2B5EF4-FFF2-40B4-BE49-F238E27FC236}">
                <a16:creationId xmlns:a16="http://schemas.microsoft.com/office/drawing/2014/main" id="{197F0B72-BF0D-4271-BB8D-07AC421F018E}"/>
              </a:ext>
            </a:extLst>
          </p:cNvPr>
          <p:cNvSpPr>
            <a:spLocks noGrp="1"/>
          </p:cNvSpPr>
          <p:nvPr>
            <p:ph type="sldNum" sz="quarter" idx="12"/>
          </p:nvPr>
        </p:nvSpPr>
        <p:spPr/>
        <p:txBody>
          <a:bodyPr/>
          <a:lstStyle/>
          <a:p>
            <a:fld id="{904B10FD-BC6A-D445-A118-EBB0DE36F883}" type="slidenum">
              <a:rPr lang="en-PT" smtClean="0"/>
              <a:t>‹#›</a:t>
            </a:fld>
            <a:endParaRPr lang="en-PT"/>
          </a:p>
        </p:txBody>
      </p:sp>
    </p:spTree>
    <p:extLst>
      <p:ext uri="{BB962C8B-B14F-4D97-AF65-F5344CB8AC3E}">
        <p14:creationId xmlns:p14="http://schemas.microsoft.com/office/powerpoint/2010/main" val="12379598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3B36B9-6766-3F9F-3F9D-179B8529C0E2}"/>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PT"/>
          </a:p>
        </p:txBody>
      </p:sp>
      <p:sp>
        <p:nvSpPr>
          <p:cNvPr id="3" name="Vertical Text Placeholder 2">
            <a:extLst>
              <a:ext uri="{FF2B5EF4-FFF2-40B4-BE49-F238E27FC236}">
                <a16:creationId xmlns:a16="http://schemas.microsoft.com/office/drawing/2014/main" id="{7B480D2D-12B5-DD32-4FB4-2AAF9BBBCC9D}"/>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T"/>
          </a:p>
        </p:txBody>
      </p:sp>
      <p:sp>
        <p:nvSpPr>
          <p:cNvPr id="4" name="Date Placeholder 3">
            <a:extLst>
              <a:ext uri="{FF2B5EF4-FFF2-40B4-BE49-F238E27FC236}">
                <a16:creationId xmlns:a16="http://schemas.microsoft.com/office/drawing/2014/main" id="{B2F65EFC-2F9F-5817-B05B-A07EB6B516D3}"/>
              </a:ext>
            </a:extLst>
          </p:cNvPr>
          <p:cNvSpPr>
            <a:spLocks noGrp="1"/>
          </p:cNvSpPr>
          <p:nvPr>
            <p:ph type="dt" sz="half" idx="10"/>
          </p:nvPr>
        </p:nvSpPr>
        <p:spPr/>
        <p:txBody>
          <a:bodyPr/>
          <a:lstStyle/>
          <a:p>
            <a:fld id="{B475A561-0437-F046-91D0-70C8788B95FC}" type="datetimeFigureOut">
              <a:rPr lang="en-PT" smtClean="0"/>
              <a:t>09/03/2026</a:t>
            </a:fld>
            <a:endParaRPr lang="en-PT"/>
          </a:p>
        </p:txBody>
      </p:sp>
      <p:sp>
        <p:nvSpPr>
          <p:cNvPr id="5" name="Footer Placeholder 4">
            <a:extLst>
              <a:ext uri="{FF2B5EF4-FFF2-40B4-BE49-F238E27FC236}">
                <a16:creationId xmlns:a16="http://schemas.microsoft.com/office/drawing/2014/main" id="{2B4B8320-2B25-4059-9785-FC55013F4A2D}"/>
              </a:ext>
            </a:extLst>
          </p:cNvPr>
          <p:cNvSpPr>
            <a:spLocks noGrp="1"/>
          </p:cNvSpPr>
          <p:nvPr>
            <p:ph type="ftr" sz="quarter" idx="11"/>
          </p:nvPr>
        </p:nvSpPr>
        <p:spPr/>
        <p:txBody>
          <a:bodyPr/>
          <a:lstStyle/>
          <a:p>
            <a:endParaRPr lang="en-PT"/>
          </a:p>
        </p:txBody>
      </p:sp>
      <p:sp>
        <p:nvSpPr>
          <p:cNvPr id="6" name="Slide Number Placeholder 5">
            <a:extLst>
              <a:ext uri="{FF2B5EF4-FFF2-40B4-BE49-F238E27FC236}">
                <a16:creationId xmlns:a16="http://schemas.microsoft.com/office/drawing/2014/main" id="{DB627494-30DB-051E-6F33-FFC5CE5B0B04}"/>
              </a:ext>
            </a:extLst>
          </p:cNvPr>
          <p:cNvSpPr>
            <a:spLocks noGrp="1"/>
          </p:cNvSpPr>
          <p:nvPr>
            <p:ph type="sldNum" sz="quarter" idx="12"/>
          </p:nvPr>
        </p:nvSpPr>
        <p:spPr/>
        <p:txBody>
          <a:bodyPr/>
          <a:lstStyle/>
          <a:p>
            <a:fld id="{904B10FD-BC6A-D445-A118-EBB0DE36F883}" type="slidenum">
              <a:rPr lang="en-PT" smtClean="0"/>
              <a:t>‹#›</a:t>
            </a:fld>
            <a:endParaRPr lang="en-PT"/>
          </a:p>
        </p:txBody>
      </p:sp>
    </p:spTree>
    <p:extLst>
      <p:ext uri="{BB962C8B-B14F-4D97-AF65-F5344CB8AC3E}">
        <p14:creationId xmlns:p14="http://schemas.microsoft.com/office/powerpoint/2010/main" val="23649569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Blank Slide">
    <p:spTree>
      <p:nvGrpSpPr>
        <p:cNvPr id="1" name=""/>
        <p:cNvGrpSpPr/>
        <p:nvPr/>
      </p:nvGrpSpPr>
      <p:grpSpPr>
        <a:xfrm>
          <a:off x="0" y="0"/>
          <a:ext cx="0" cy="0"/>
          <a:chOff x="0" y="0"/>
          <a:chExt cx="0" cy="0"/>
        </a:xfrm>
      </p:grpSpPr>
      <p:sp>
        <p:nvSpPr>
          <p:cNvPr id="9" name="Rectangle 8"/>
          <p:cNvSpPr/>
          <p:nvPr userDrawn="1"/>
        </p:nvSpPr>
        <p:spPr>
          <a:xfrm>
            <a:off x="0" y="0"/>
            <a:ext cx="12192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2327727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 05">
    <p:spTree>
      <p:nvGrpSpPr>
        <p:cNvPr id="1" name=""/>
        <p:cNvGrpSpPr/>
        <p:nvPr/>
      </p:nvGrpSpPr>
      <p:grpSpPr>
        <a:xfrm>
          <a:off x="0" y="0"/>
          <a:ext cx="0" cy="0"/>
          <a:chOff x="0" y="0"/>
          <a:chExt cx="0" cy="0"/>
        </a:xfrm>
      </p:grpSpPr>
      <p:sp>
        <p:nvSpPr>
          <p:cNvPr id="7" name="Line"/>
          <p:cNvSpPr/>
          <p:nvPr userDrawn="1"/>
        </p:nvSpPr>
        <p:spPr>
          <a:xfrm>
            <a:off x="337654" y="619237"/>
            <a:ext cx="571697" cy="1"/>
          </a:xfrm>
          <a:prstGeom prst="line">
            <a:avLst/>
          </a:prstGeom>
          <a:ln w="25400">
            <a:solidFill>
              <a:srgbClr val="000000"/>
            </a:solidFill>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sp>
        <p:nvSpPr>
          <p:cNvPr id="8" name="Text Placeholder 21"/>
          <p:cNvSpPr>
            <a:spLocks noGrp="1"/>
          </p:cNvSpPr>
          <p:nvPr>
            <p:ph type="body" sz="quarter" idx="13" hasCustomPrompt="1"/>
          </p:nvPr>
        </p:nvSpPr>
        <p:spPr>
          <a:xfrm>
            <a:off x="311340" y="364775"/>
            <a:ext cx="5415090" cy="221919"/>
          </a:xfrm>
          <a:prstGeom prst="rect">
            <a:avLst/>
          </a:prstGeom>
        </p:spPr>
        <p:txBody>
          <a:bodyPr/>
          <a:lstStyle>
            <a:lvl1pPr marL="0" indent="0">
              <a:buNone/>
              <a:defRPr sz="1000" cap="all" baseline="0">
                <a:latin typeface="Open Sans" panose="020B0606030504020204" pitchFamily="34" charset="0"/>
                <a:ea typeface="Open Sans" panose="020B0606030504020204" pitchFamily="34" charset="0"/>
                <a:cs typeface="Open Sans" panose="020B0606030504020204" pitchFamily="34" charset="0"/>
              </a:defRPr>
            </a:lvl1pPr>
          </a:lstStyle>
          <a:p>
            <a:pPr lvl="0"/>
            <a:r>
              <a:rPr lang="en-US"/>
              <a:t>Place project name here | DATE</a:t>
            </a:r>
            <a:endParaRPr lang="en-GB"/>
          </a:p>
        </p:txBody>
      </p:sp>
      <p:sp>
        <p:nvSpPr>
          <p:cNvPr id="9" name="Text Placeholder 2"/>
          <p:cNvSpPr>
            <a:spLocks noGrp="1"/>
          </p:cNvSpPr>
          <p:nvPr>
            <p:ph type="body" sz="quarter" idx="14" hasCustomPrompt="1"/>
          </p:nvPr>
        </p:nvSpPr>
        <p:spPr>
          <a:xfrm>
            <a:off x="311340" y="1349455"/>
            <a:ext cx="5415090" cy="540306"/>
          </a:xfrm>
          <a:prstGeom prst="rect">
            <a:avLst/>
          </a:prstGeom>
        </p:spPr>
        <p:txBody>
          <a:bodyPr/>
          <a:lstStyle>
            <a:lvl1pPr marL="0" marR="0" indent="0" algn="l" defTabSz="412750" rtl="0" fontAlgn="auto" latinLnBrk="0" hangingPunct="0">
              <a:lnSpc>
                <a:spcPct val="80000"/>
              </a:lnSpc>
              <a:spcBef>
                <a:spcPts val="0"/>
              </a:spcBef>
              <a:spcAft>
                <a:spcPts val="0"/>
              </a:spcAft>
              <a:buClrTx/>
              <a:buSzTx/>
              <a:buFontTx/>
              <a:buNone/>
              <a:tabLst/>
              <a:defRPr kumimoji="0" lang="en-US" sz="4550" b="0" i="0" u="none" strike="noStrike" cap="none" spc="0" normalizeH="0" baseline="0" dirty="0" smtClean="0">
                <a:ln>
                  <a:noFill/>
                </a:ln>
                <a:solidFill>
                  <a:srgbClr val="000000"/>
                </a:solidFill>
                <a:effectLst/>
                <a:uFillTx/>
                <a:latin typeface="Playfair Display"/>
                <a:ea typeface="Playfair Display"/>
                <a:cs typeface="Playfair Display"/>
                <a:sym typeface="Helvetica Neue"/>
              </a:defRPr>
            </a:lvl1pPr>
          </a:lstStyle>
          <a:p>
            <a:pPr lvl="0"/>
            <a:r>
              <a:rPr lang="en-US"/>
              <a:t>Title goes here</a:t>
            </a:r>
          </a:p>
        </p:txBody>
      </p:sp>
      <p:sp>
        <p:nvSpPr>
          <p:cNvPr id="10" name="Text Placeholder 2"/>
          <p:cNvSpPr>
            <a:spLocks noGrp="1"/>
          </p:cNvSpPr>
          <p:nvPr>
            <p:ph type="body" sz="quarter" idx="15" hasCustomPrompt="1"/>
          </p:nvPr>
        </p:nvSpPr>
        <p:spPr>
          <a:xfrm>
            <a:off x="311340" y="2099192"/>
            <a:ext cx="5415090" cy="198239"/>
          </a:xfrm>
          <a:prstGeom prst="rect">
            <a:avLst/>
          </a:prstGeom>
        </p:spPr>
        <p:txBody>
          <a:bodyPr/>
          <a:lstStyle>
            <a:lvl1pPr marL="0" marR="0" indent="0" algn="l" defTabSz="412750" rtl="0" fontAlgn="auto" latinLnBrk="0" hangingPunct="0">
              <a:lnSpc>
                <a:spcPct val="80000"/>
              </a:lnSpc>
              <a:spcBef>
                <a:spcPts val="0"/>
              </a:spcBef>
              <a:spcAft>
                <a:spcPts val="0"/>
              </a:spcAft>
              <a:buClrTx/>
              <a:buSzTx/>
              <a:buFontTx/>
              <a:buNone/>
              <a:tabLst/>
              <a:defRPr kumimoji="0" lang="en-US" sz="1600" b="0" i="0" u="none" strike="noStrike" cap="all" spc="0" normalizeH="0" baseline="0" dirty="0" smtClean="0">
                <a:ln>
                  <a:noFill/>
                </a:ln>
                <a:solidFill>
                  <a:srgbClr val="000000"/>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stStyle>
          <a:p>
            <a:pPr lvl="0"/>
            <a:r>
              <a:rPr lang="en-US"/>
              <a:t>SUBTITLE GOES HERE</a:t>
            </a:r>
          </a:p>
        </p:txBody>
      </p:sp>
      <p:sp>
        <p:nvSpPr>
          <p:cNvPr id="11" name="Text Placeholder 2"/>
          <p:cNvSpPr>
            <a:spLocks noGrp="1"/>
          </p:cNvSpPr>
          <p:nvPr>
            <p:ph type="body" sz="quarter" idx="16" hasCustomPrompt="1"/>
          </p:nvPr>
        </p:nvSpPr>
        <p:spPr>
          <a:xfrm>
            <a:off x="337654" y="3215997"/>
            <a:ext cx="5415090" cy="2396218"/>
          </a:xfrm>
          <a:prstGeom prst="rect">
            <a:avLst/>
          </a:prstGeom>
        </p:spPr>
        <p:txBody>
          <a:bodyPr/>
          <a:lstStyle>
            <a:lvl1pPr marL="0" marR="0" indent="0" algn="l" defTabSz="412750" rtl="0" fontAlgn="auto" latinLnBrk="0" hangingPunct="0">
              <a:lnSpc>
                <a:spcPct val="100000"/>
              </a:lnSpc>
              <a:spcBef>
                <a:spcPts val="0"/>
              </a:spcBef>
              <a:spcAft>
                <a:spcPts val="600"/>
              </a:spcAft>
              <a:buClrTx/>
              <a:buSzTx/>
              <a:buFontTx/>
              <a:buNone/>
              <a:tabLst/>
              <a:defRPr kumimoji="0" lang="en-US" sz="1200" b="0" i="0" u="none" strike="noStrike" cap="none" spc="0" normalizeH="0" baseline="0" dirty="0" smtClean="0">
                <a:ln>
                  <a:noFill/>
                </a:ln>
                <a:solidFill>
                  <a:srgbClr val="000000"/>
                </a:solidFill>
                <a:effectLst/>
                <a:uFillTx/>
                <a:latin typeface="Open Sans "/>
                <a:ea typeface="Open Sans Light" panose="020B0306030504020204" pitchFamily="34" charset="0"/>
                <a:cs typeface="Open Sans Light" panose="020B0306030504020204" pitchFamily="34" charset="0"/>
                <a:sym typeface="Helvetica Neue"/>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Ut</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a:t>
            </a:r>
            <a:r>
              <a:rPr lang="en-US" err="1"/>
              <a:t>Duis</a:t>
            </a:r>
            <a:r>
              <a:rPr lang="en-US"/>
              <a:t>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a:t>
            </a:r>
            <a:r>
              <a:rPr lang="en-US" err="1"/>
              <a:t>dolore</a:t>
            </a:r>
            <a:r>
              <a:rPr lang="en-US"/>
              <a:t>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a:t>
            </a:r>
            <a:r>
              <a:rPr lang="en-US" err="1"/>
              <a:t>sunt</a:t>
            </a:r>
            <a:r>
              <a:rPr lang="en-US"/>
              <a: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a:p>
            <a:pPr lvl="0"/>
            <a:r>
              <a:rPr lang="en-US" err="1"/>
              <a:t>Sed</a:t>
            </a:r>
            <a:r>
              <a:rPr lang="en-US"/>
              <a:t>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 </a:t>
            </a:r>
            <a:r>
              <a:rPr lang="en-US" err="1"/>
              <a:t>eaque</a:t>
            </a:r>
            <a:r>
              <a:rPr lang="en-US"/>
              <a:t> </a:t>
            </a:r>
            <a:r>
              <a:rPr lang="en-US" err="1"/>
              <a:t>ipsa</a:t>
            </a:r>
            <a:r>
              <a:rPr lang="en-US"/>
              <a:t> quae ab </a:t>
            </a:r>
            <a:r>
              <a:rPr lang="en-US" err="1"/>
              <a:t>illo</a:t>
            </a:r>
            <a:r>
              <a:rPr lang="en-US"/>
              <a:t> </a:t>
            </a:r>
            <a:r>
              <a:rPr lang="en-US" err="1"/>
              <a:t>inventore</a:t>
            </a:r>
            <a:r>
              <a:rPr lang="en-US"/>
              <a:t> </a:t>
            </a:r>
            <a:r>
              <a:rPr lang="en-US" err="1"/>
              <a:t>veritatis</a:t>
            </a:r>
            <a:r>
              <a:rPr lang="en-US"/>
              <a:t> et quasi </a:t>
            </a:r>
            <a:r>
              <a:rPr lang="en-US" err="1"/>
              <a:t>architecto</a:t>
            </a:r>
            <a:r>
              <a:rPr lang="en-US"/>
              <a:t> </a:t>
            </a:r>
            <a:r>
              <a:rPr lang="en-US" err="1"/>
              <a:t>beatae</a:t>
            </a:r>
            <a:r>
              <a:rPr lang="en-US"/>
              <a:t> vitae dicta </a:t>
            </a:r>
            <a:r>
              <a:rPr lang="en-US" err="1"/>
              <a:t>sunt</a:t>
            </a:r>
            <a:r>
              <a:rPr lang="en-US"/>
              <a:t> </a:t>
            </a:r>
            <a:r>
              <a:rPr lang="en-US" err="1"/>
              <a:t>explicabo</a:t>
            </a:r>
            <a:r>
              <a:rPr lang="en-US"/>
              <a:t>. Nemo </a:t>
            </a:r>
            <a:r>
              <a:rPr lang="en-US" err="1"/>
              <a:t>enim</a:t>
            </a:r>
            <a:r>
              <a:rPr lang="en-US"/>
              <a:t> </a:t>
            </a:r>
            <a:r>
              <a:rPr lang="en-US" err="1"/>
              <a:t>ipsam</a:t>
            </a:r>
            <a:r>
              <a:rPr lang="en-US"/>
              <a:t> </a:t>
            </a:r>
            <a:r>
              <a:rPr lang="en-US" err="1"/>
              <a:t>voluptatem</a:t>
            </a:r>
            <a:r>
              <a:rPr lang="en-US"/>
              <a:t> </a:t>
            </a:r>
            <a:r>
              <a:rPr lang="en-US" err="1"/>
              <a:t>quia</a:t>
            </a:r>
            <a:r>
              <a:rPr lang="en-US"/>
              <a:t> </a:t>
            </a:r>
            <a:r>
              <a:rPr lang="en-US" err="1"/>
              <a:t>voluptas</a:t>
            </a:r>
            <a:r>
              <a:rPr lang="en-US"/>
              <a:t> sit </a:t>
            </a:r>
            <a:r>
              <a:rPr lang="en-US" err="1"/>
              <a:t>aspernatur</a:t>
            </a:r>
            <a:endParaRPr lang="en-US"/>
          </a:p>
        </p:txBody>
      </p:sp>
      <p:sp>
        <p:nvSpPr>
          <p:cNvPr id="12" name="Rectangle 11"/>
          <p:cNvSpPr/>
          <p:nvPr userDrawn="1"/>
        </p:nvSpPr>
        <p:spPr>
          <a:xfrm>
            <a:off x="0" y="5886794"/>
            <a:ext cx="12192000" cy="246221"/>
          </a:xfrm>
          <a:prstGeom prst="rect">
            <a:avLst/>
          </a:prstGeom>
          <a:solidFill>
            <a:schemeClr val="tx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412750" rtl="0" fontAlgn="auto" latinLnBrk="0" hangingPunct="0">
              <a:lnSpc>
                <a:spcPct val="100000"/>
              </a:lnSpc>
              <a:spcBef>
                <a:spcPts val="0"/>
              </a:spcBef>
              <a:spcAft>
                <a:spcPts val="0"/>
              </a:spcAft>
              <a:buClrTx/>
              <a:buSzTx/>
              <a:buFontTx/>
              <a:buNone/>
              <a:tabLst/>
            </a:pPr>
            <a:endParaRPr kumimoji="0" lang="en-GB" sz="1600" b="0" i="0" u="none" strike="noStrike" cap="none" spc="0" normalizeH="0" baseline="0">
              <a:ln>
                <a:noFill/>
              </a:ln>
              <a:solidFill>
                <a:srgbClr val="FFFFFF"/>
              </a:solidFill>
              <a:effectLst/>
              <a:uFillTx/>
              <a:latin typeface="+mn-lt"/>
              <a:ea typeface="+mn-ea"/>
              <a:cs typeface="+mn-cs"/>
              <a:sym typeface="Helvetica Neue Medium"/>
            </a:endParaRPr>
          </a:p>
        </p:txBody>
      </p:sp>
      <p:pic>
        <p:nvPicPr>
          <p:cNvPr id="13" name="Image" descr="Image"/>
          <p:cNvPicPr>
            <a:picLocks noChangeAspect="1"/>
          </p:cNvPicPr>
          <p:nvPr userDrawn="1"/>
        </p:nvPicPr>
        <p:blipFill>
          <a:blip r:embed="rId2"/>
          <a:stretch>
            <a:fillRect/>
          </a:stretch>
        </p:blipFill>
        <p:spPr>
          <a:xfrm>
            <a:off x="311340" y="6313916"/>
            <a:ext cx="1709282" cy="285276"/>
          </a:xfrm>
          <a:prstGeom prst="rect">
            <a:avLst/>
          </a:prstGeom>
          <a:ln w="12700">
            <a:miter lim="400000"/>
          </a:ln>
        </p:spPr>
      </p:pic>
      <p:sp>
        <p:nvSpPr>
          <p:cNvPr id="14" name="Picture Placeholder 2"/>
          <p:cNvSpPr>
            <a:spLocks noGrp="1"/>
          </p:cNvSpPr>
          <p:nvPr>
            <p:ph type="pic" sz="quarter" idx="18" hasCustomPrompt="1"/>
          </p:nvPr>
        </p:nvSpPr>
        <p:spPr>
          <a:xfrm>
            <a:off x="6195060" y="-3810"/>
            <a:ext cx="5996940" cy="5917807"/>
          </a:xfrm>
          <a:prstGeom prst="rect">
            <a:avLst/>
          </a:prstGeom>
          <a:blipFill>
            <a:blip r:embed="rId3"/>
            <a:stretch>
              <a:fillRect/>
            </a:stretch>
          </a:blipFill>
        </p:spPr>
        <p:txBody>
          <a:bodyPr anchor="ctr"/>
          <a:lstStyle>
            <a:lvl1pPr marL="0" indent="0" algn="ctr">
              <a:buNone/>
              <a:defRPr sz="1800" b="1" baseline="0">
                <a:solidFill>
                  <a:schemeClr val="bg1"/>
                </a:solidFill>
                <a:latin typeface="Open Sans "/>
                <a:ea typeface="Open Sans Light" panose="020B0306030504020204" pitchFamily="34" charset="0"/>
                <a:cs typeface="Open Sans Light" panose="020B0306030504020204" pitchFamily="34" charset="0"/>
              </a:defRPr>
            </a:lvl1pPr>
          </a:lstStyle>
          <a:p>
            <a:r>
              <a:rPr lang="en-GB"/>
              <a:t>Double click to add </a:t>
            </a:r>
            <a:br>
              <a:rPr lang="en-GB"/>
            </a:br>
            <a:r>
              <a:rPr lang="en-GB"/>
              <a:t>your picture here</a:t>
            </a:r>
          </a:p>
        </p:txBody>
      </p:sp>
      <p:sp>
        <p:nvSpPr>
          <p:cNvPr id="2" name="Datumsplatzhalter 1">
            <a:extLst>
              <a:ext uri="{FF2B5EF4-FFF2-40B4-BE49-F238E27FC236}">
                <a16:creationId xmlns:a16="http://schemas.microsoft.com/office/drawing/2014/main" id="{1C7171DE-1BC2-CD1B-4BAD-E5FE42C45404}"/>
              </a:ext>
            </a:extLst>
          </p:cNvPr>
          <p:cNvSpPr>
            <a:spLocks noGrp="1"/>
          </p:cNvSpPr>
          <p:nvPr>
            <p:ph type="dt" sz="half" idx="19"/>
          </p:nvPr>
        </p:nvSpPr>
        <p:spPr/>
        <p:txBody>
          <a:bodyPr/>
          <a:lstStyle/>
          <a:p>
            <a:fld id="{11F0D11B-6D3D-B74B-A486-BF58D000F796}" type="datetime1">
              <a:rPr lang="de-DE" smtClean="0"/>
              <a:t>09.03.26</a:t>
            </a:fld>
            <a:endParaRPr lang="de-DE"/>
          </a:p>
        </p:txBody>
      </p:sp>
      <p:sp>
        <p:nvSpPr>
          <p:cNvPr id="3" name="Fußzeilenplatzhalter 2">
            <a:extLst>
              <a:ext uri="{FF2B5EF4-FFF2-40B4-BE49-F238E27FC236}">
                <a16:creationId xmlns:a16="http://schemas.microsoft.com/office/drawing/2014/main" id="{4F0B7841-D710-95E0-7F83-51BE62585B3A}"/>
              </a:ext>
            </a:extLst>
          </p:cNvPr>
          <p:cNvSpPr>
            <a:spLocks noGrp="1"/>
          </p:cNvSpPr>
          <p:nvPr>
            <p:ph type="ftr" sz="quarter" idx="20"/>
          </p:nvPr>
        </p:nvSpPr>
        <p:spPr/>
        <p:txBody>
          <a:bodyPr/>
          <a:lstStyle/>
          <a:p>
            <a:endParaRPr lang="de-DE"/>
          </a:p>
        </p:txBody>
      </p:sp>
      <p:sp>
        <p:nvSpPr>
          <p:cNvPr id="4" name="Foliennummernplatzhalter 3">
            <a:extLst>
              <a:ext uri="{FF2B5EF4-FFF2-40B4-BE49-F238E27FC236}">
                <a16:creationId xmlns:a16="http://schemas.microsoft.com/office/drawing/2014/main" id="{3D21EC49-6B76-CBAB-1B79-8B2E7ADE4D71}"/>
              </a:ext>
            </a:extLst>
          </p:cNvPr>
          <p:cNvSpPr>
            <a:spLocks noGrp="1"/>
          </p:cNvSpPr>
          <p:nvPr>
            <p:ph type="sldNum" sz="quarter" idx="21"/>
          </p:nvPr>
        </p:nvSpPr>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fld id="{96D0270E-ECD2-CA4B-BE22-56AEC998461C}" type="slidenum">
              <a:rPr lang="de-DE" smtClean="0"/>
              <a:pPr/>
              <a:t>‹#›</a:t>
            </a:fld>
            <a:endParaRPr lang="de-DE"/>
          </a:p>
        </p:txBody>
      </p:sp>
    </p:spTree>
    <p:extLst>
      <p:ext uri="{BB962C8B-B14F-4D97-AF65-F5344CB8AC3E}">
        <p14:creationId xmlns:p14="http://schemas.microsoft.com/office/powerpoint/2010/main" val="2844691292"/>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1CEAB5-B399-A81F-C4CC-FB01747577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PT"/>
          </a:p>
        </p:txBody>
      </p:sp>
      <p:sp>
        <p:nvSpPr>
          <p:cNvPr id="3" name="Text Placeholder 2">
            <a:extLst>
              <a:ext uri="{FF2B5EF4-FFF2-40B4-BE49-F238E27FC236}">
                <a16:creationId xmlns:a16="http://schemas.microsoft.com/office/drawing/2014/main" id="{850A111C-D534-B16A-B2CC-3E25CA3D70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T"/>
          </a:p>
        </p:txBody>
      </p:sp>
      <p:sp>
        <p:nvSpPr>
          <p:cNvPr id="4" name="Date Placeholder 3">
            <a:extLst>
              <a:ext uri="{FF2B5EF4-FFF2-40B4-BE49-F238E27FC236}">
                <a16:creationId xmlns:a16="http://schemas.microsoft.com/office/drawing/2014/main" id="{7A7F6E12-1316-8818-D9D5-929052B11A7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475A561-0437-F046-91D0-70C8788B95FC}" type="datetimeFigureOut">
              <a:rPr lang="en-PT" smtClean="0"/>
              <a:t>09/03/2026</a:t>
            </a:fld>
            <a:endParaRPr lang="en-PT"/>
          </a:p>
        </p:txBody>
      </p:sp>
      <p:sp>
        <p:nvSpPr>
          <p:cNvPr id="5" name="Footer Placeholder 4">
            <a:extLst>
              <a:ext uri="{FF2B5EF4-FFF2-40B4-BE49-F238E27FC236}">
                <a16:creationId xmlns:a16="http://schemas.microsoft.com/office/drawing/2014/main" id="{85AD7E73-F4A5-00B8-9BE0-FCC92E96A2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PT"/>
          </a:p>
        </p:txBody>
      </p:sp>
      <p:sp>
        <p:nvSpPr>
          <p:cNvPr id="6" name="Slide Number Placeholder 5">
            <a:extLst>
              <a:ext uri="{FF2B5EF4-FFF2-40B4-BE49-F238E27FC236}">
                <a16:creationId xmlns:a16="http://schemas.microsoft.com/office/drawing/2014/main" id="{6530767C-2F30-36CA-6D14-59921F1265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04B10FD-BC6A-D445-A118-EBB0DE36F883}" type="slidenum">
              <a:rPr lang="en-PT" smtClean="0"/>
              <a:t>‹#›</a:t>
            </a:fld>
            <a:endParaRPr lang="en-PT"/>
          </a:p>
        </p:txBody>
      </p:sp>
    </p:spTree>
    <p:extLst>
      <p:ext uri="{BB962C8B-B14F-4D97-AF65-F5344CB8AC3E}">
        <p14:creationId xmlns:p14="http://schemas.microsoft.com/office/powerpoint/2010/main" val="1087283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5.png"/><Relationship Id="rId2" Type="http://schemas.openxmlformats.org/officeDocument/2006/relationships/slideLayout" Target="../slideLayouts/slideLayout12.xml"/><Relationship Id="rId1" Type="http://schemas.openxmlformats.org/officeDocument/2006/relationships/tags" Target="../tags/tag1.xml"/><Relationship Id="rId6" Type="http://schemas.openxmlformats.org/officeDocument/2006/relationships/image" Target="../media/image4.emf"/><Relationship Id="rId5" Type="http://schemas.openxmlformats.org/officeDocument/2006/relationships/oleObject" Target="../embeddings/oleObject1.bin"/><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notesSlide" Target="../notesSlides/notesSlide2.xml"/><Relationship Id="rId7" Type="http://schemas.openxmlformats.org/officeDocument/2006/relationships/image" Target="../media/image8.emf"/><Relationship Id="rId2" Type="http://schemas.openxmlformats.org/officeDocument/2006/relationships/slideLayout" Target="../slideLayouts/slideLayout13.xml"/><Relationship Id="rId1" Type="http://schemas.openxmlformats.org/officeDocument/2006/relationships/tags" Target="../tags/tag2.xml"/><Relationship Id="rId6" Type="http://schemas.openxmlformats.org/officeDocument/2006/relationships/oleObject" Target="../embeddings/oleObject2.bin"/><Relationship Id="rId5" Type="http://schemas.openxmlformats.org/officeDocument/2006/relationships/image" Target="../media/image7.jpeg"/><Relationship Id="rId4" Type="http://schemas.openxmlformats.org/officeDocument/2006/relationships/image" Target="../media/image6.jpg"/><Relationship Id="rId9" Type="http://schemas.openxmlformats.org/officeDocument/2006/relationships/image" Target="../media/image10.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3.xml"/><Relationship Id="rId6" Type="http://schemas.openxmlformats.org/officeDocument/2006/relationships/image" Target="../media/image11.png"/><Relationship Id="rId5" Type="http://schemas.openxmlformats.org/officeDocument/2006/relationships/image" Target="../media/image8.emf"/><Relationship Id="rId4" Type="http://schemas.openxmlformats.org/officeDocument/2006/relationships/oleObject" Target="../embeddings/oleObject2.bin"/></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7" Type="http://schemas.microsoft.com/office/2007/relationships/hdphoto" Target="../media/hdphoto1.wdp"/><Relationship Id="rId2" Type="http://schemas.openxmlformats.org/officeDocument/2006/relationships/slideLayout" Target="../slideLayouts/slideLayout13.xml"/><Relationship Id="rId1" Type="http://schemas.openxmlformats.org/officeDocument/2006/relationships/tags" Target="../tags/tag4.xml"/><Relationship Id="rId6" Type="http://schemas.openxmlformats.org/officeDocument/2006/relationships/image" Target="../media/image12.png"/><Relationship Id="rId5" Type="http://schemas.openxmlformats.org/officeDocument/2006/relationships/image" Target="../media/image8.emf"/><Relationship Id="rId4" Type="http://schemas.openxmlformats.org/officeDocument/2006/relationships/oleObject" Target="../embeddings/oleObject2.bin"/></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5.xml"/><Relationship Id="rId5" Type="http://schemas.openxmlformats.org/officeDocument/2006/relationships/image" Target="../media/image8.emf"/><Relationship Id="rId4"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6.xml"/><Relationship Id="rId5" Type="http://schemas.openxmlformats.org/officeDocument/2006/relationships/image" Target="../media/image8.emf"/><Relationship Id="rId4" Type="http://schemas.openxmlformats.org/officeDocument/2006/relationships/oleObject" Target="../embeddings/oleObject2.bin"/></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ags" Target="../tags/tag7.xml"/><Relationship Id="rId6" Type="http://schemas.openxmlformats.org/officeDocument/2006/relationships/chart" Target="../charts/chart1.xml"/><Relationship Id="rId5" Type="http://schemas.openxmlformats.org/officeDocument/2006/relationships/image" Target="../media/image8.emf"/><Relationship Id="rId4" Type="http://schemas.openxmlformats.org/officeDocument/2006/relationships/oleObject" Target="../embeddings/oleObject2.bin"/></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ags" Target="../tags/tag8.xml"/><Relationship Id="rId6" Type="http://schemas.openxmlformats.org/officeDocument/2006/relationships/chart" Target="../charts/chart2.xml"/><Relationship Id="rId5" Type="http://schemas.openxmlformats.org/officeDocument/2006/relationships/image" Target="../media/image8.emf"/><Relationship Id="rId4" Type="http://schemas.openxmlformats.org/officeDocument/2006/relationships/oleObject" Target="../embeddings/oleObject2.bin"/></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tags" Target="../tags/tag9.xml"/><Relationship Id="rId5" Type="http://schemas.openxmlformats.org/officeDocument/2006/relationships/image" Target="../media/image8.emf"/><Relationship Id="rId4" Type="http://schemas.openxmlformats.org/officeDocument/2006/relationships/oleObject" Target="../embeddings/oleObject2.bin"/></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7" Type="http://schemas.openxmlformats.org/officeDocument/2006/relationships/image" Target="../media/image13.png"/><Relationship Id="rId2" Type="http://schemas.openxmlformats.org/officeDocument/2006/relationships/slideLayout" Target="../slideLayouts/slideLayout13.xml"/><Relationship Id="rId1" Type="http://schemas.openxmlformats.org/officeDocument/2006/relationships/tags" Target="../tags/tag10.xml"/><Relationship Id="rId6" Type="http://schemas.openxmlformats.org/officeDocument/2006/relationships/image" Target="../media/image11.png"/><Relationship Id="rId5" Type="http://schemas.openxmlformats.org/officeDocument/2006/relationships/image" Target="../media/image8.emf"/><Relationship Id="rId4" Type="http://schemas.openxmlformats.org/officeDocument/2006/relationships/oleObject" Target="../embeddings/oleObject2.bin"/></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tags" Target="../tags/tag11.xml"/><Relationship Id="rId6" Type="http://schemas.openxmlformats.org/officeDocument/2006/relationships/image" Target="../media/image11.png"/><Relationship Id="rId5" Type="http://schemas.openxmlformats.org/officeDocument/2006/relationships/image" Target="../media/image8.emf"/><Relationship Id="rId4" Type="http://schemas.openxmlformats.org/officeDocument/2006/relationships/oleObject" Target="../embeddings/oleObject2.bin"/></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3.xml"/><Relationship Id="rId1" Type="http://schemas.openxmlformats.org/officeDocument/2006/relationships/tags" Target="../tags/tag12.xml"/><Relationship Id="rId6" Type="http://schemas.openxmlformats.org/officeDocument/2006/relationships/image" Target="../media/image13.png"/><Relationship Id="rId5" Type="http://schemas.openxmlformats.org/officeDocument/2006/relationships/image" Target="../media/image8.emf"/><Relationship Id="rId4" Type="http://schemas.openxmlformats.org/officeDocument/2006/relationships/oleObject" Target="../embeddings/oleObject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8E530-AC9F-8A76-C919-EFA7E048BD52}"/>
            </a:ext>
          </a:extLst>
        </p:cNvPr>
        <p:cNvGrpSpPr/>
        <p:nvPr/>
      </p:nvGrpSpPr>
      <p:grpSpPr>
        <a:xfrm>
          <a:off x="0" y="0"/>
          <a:ext cx="0" cy="0"/>
          <a:chOff x="0" y="0"/>
          <a:chExt cx="0" cy="0"/>
        </a:xfrm>
      </p:grpSpPr>
      <p:pic>
        <p:nvPicPr>
          <p:cNvPr id="6146" name="Picture 2" descr="Exploring Fintech: Its Crucial Role &amp; Significant Influence">
            <a:extLst>
              <a:ext uri="{FF2B5EF4-FFF2-40B4-BE49-F238E27FC236}">
                <a16:creationId xmlns:a16="http://schemas.microsoft.com/office/drawing/2014/main" id="{18B57D6C-440A-41EE-1B68-94247A42406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7383" r="10950"/>
          <a:stretch>
            <a:fillRect/>
          </a:stretch>
        </p:blipFill>
        <p:spPr bwMode="auto">
          <a:xfrm>
            <a:off x="-1" y="11"/>
            <a:ext cx="12192001" cy="6857989"/>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hink-cell data - do not delete" hidden="1">
            <a:extLst>
              <a:ext uri="{FF2B5EF4-FFF2-40B4-BE49-F238E27FC236}">
                <a16:creationId xmlns:a16="http://schemas.microsoft.com/office/drawing/2014/main" id="{4157CCDE-89DF-79BE-F69B-89B247B85F28}"/>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Folie" r:id="rId5" imgW="7772400" imgH="10058400" progId="TCLayout.ActiveDocument.1">
                  <p:embed/>
                </p:oleObj>
              </mc:Choice>
              <mc:Fallback>
                <p:oleObj name="think-cell Folie" r:id="rId5" imgW="7772400" imgH="10058400" progId="TCLayout.ActiveDocument.1">
                  <p:embed/>
                  <p:pic>
                    <p:nvPicPr>
                      <p:cNvPr id="2" name="think-cell data - do not delete" hidden="1">
                        <a:extLst>
                          <a:ext uri="{FF2B5EF4-FFF2-40B4-BE49-F238E27FC236}">
                            <a16:creationId xmlns:a16="http://schemas.microsoft.com/office/drawing/2014/main" id="{4157CCDE-89DF-79BE-F69B-89B247B85F28}"/>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340B4ABB-2713-F829-3AAB-391E39B8BC7B}"/>
              </a:ext>
            </a:extLst>
          </p:cNvPr>
          <p:cNvSpPr/>
          <p:nvPr/>
        </p:nvSpPr>
        <p:spPr>
          <a:xfrm>
            <a:off x="734786" y="914401"/>
            <a:ext cx="3819961" cy="5244860"/>
          </a:xfrm>
          <a:prstGeom prst="rect">
            <a:avLst/>
          </a:prstGeom>
          <a:solidFill>
            <a:schemeClr val="accent1">
              <a:lumMod val="50000"/>
              <a:alpha val="8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45720" rIns="91440" bIns="45720" rtlCol="0" anchor="ctr"/>
          <a:lstStyle/>
          <a:p>
            <a:endParaRPr lang="en-DE" sz="2400" b="1">
              <a:solidFill>
                <a:schemeClr val="bg1"/>
              </a:solidFill>
              <a:latin typeface="HELVETICA LIGHT" panose="020B0403020202020204" pitchFamily="34" charset="0"/>
              <a:cs typeface="FUTURA MEDIUM" panose="020B0602020204020303" pitchFamily="34" charset="-79"/>
            </a:endParaRPr>
          </a:p>
          <a:p>
            <a:endParaRPr lang="en-DE" sz="3200" b="1">
              <a:solidFill>
                <a:schemeClr val="bg1"/>
              </a:solidFill>
              <a:latin typeface="Helvetica" pitchFamily="2" charset="0"/>
              <a:cs typeface="FUTURA MEDIUM" panose="020B0602020204020303" pitchFamily="34" charset="-79"/>
            </a:endParaRPr>
          </a:p>
          <a:p>
            <a:endParaRPr lang="en-DE" sz="3200" b="1">
              <a:solidFill>
                <a:schemeClr val="bg1"/>
              </a:solidFill>
              <a:latin typeface="Helvetica" pitchFamily="2" charset="0"/>
              <a:cs typeface="FUTURA MEDIUM" panose="020B0602020204020303" pitchFamily="34" charset="-79"/>
            </a:endParaRPr>
          </a:p>
          <a:p>
            <a:endParaRPr lang="en-DE" b="1">
              <a:solidFill>
                <a:schemeClr val="bg1"/>
              </a:solidFill>
              <a:latin typeface="HELVETICA LIGHT" panose="020B0403020202020204" pitchFamily="34" charset="0"/>
              <a:cs typeface="FUTURA MEDIUM" panose="020B0602020204020303" pitchFamily="34" charset="-79"/>
            </a:endParaRPr>
          </a:p>
          <a:p>
            <a:pPr>
              <a:lnSpc>
                <a:spcPct val="150000"/>
              </a:lnSpc>
            </a:pPr>
            <a:r>
              <a:rPr lang="pt-PT" b="1">
                <a:solidFill>
                  <a:schemeClr val="bg1"/>
                </a:solidFill>
                <a:latin typeface="Open Sans"/>
                <a:ea typeface="Open Sans"/>
                <a:cs typeface="Open Sans"/>
              </a:rPr>
              <a:t>Data </a:t>
            </a:r>
            <a:r>
              <a:rPr lang="pt-PT" b="1" err="1">
                <a:solidFill>
                  <a:schemeClr val="bg1"/>
                </a:solidFill>
                <a:latin typeface="Open Sans"/>
                <a:ea typeface="Open Sans"/>
                <a:cs typeface="Open Sans"/>
              </a:rPr>
              <a:t>Ecosystems</a:t>
            </a:r>
            <a:r>
              <a:rPr lang="pt-PT" b="1">
                <a:solidFill>
                  <a:schemeClr val="bg1"/>
                </a:solidFill>
                <a:latin typeface="Open Sans"/>
                <a:ea typeface="Open Sans"/>
                <a:cs typeface="Open Sans"/>
              </a:rPr>
              <a:t> </a:t>
            </a:r>
            <a:r>
              <a:rPr lang="pt-PT" b="1" err="1">
                <a:solidFill>
                  <a:schemeClr val="bg1"/>
                </a:solidFill>
                <a:latin typeface="Open Sans"/>
                <a:ea typeface="Open Sans"/>
                <a:cs typeface="Open Sans"/>
              </a:rPr>
              <a:t>and</a:t>
            </a:r>
            <a:r>
              <a:rPr lang="pt-PT" b="1">
                <a:solidFill>
                  <a:schemeClr val="bg1"/>
                </a:solidFill>
                <a:latin typeface="Open Sans"/>
                <a:ea typeface="Open Sans"/>
                <a:cs typeface="Open Sans"/>
              </a:rPr>
              <a:t> </a:t>
            </a:r>
            <a:r>
              <a:rPr lang="pt-PT" b="1" err="1">
                <a:solidFill>
                  <a:schemeClr val="bg1"/>
                </a:solidFill>
                <a:latin typeface="Open Sans"/>
                <a:ea typeface="Open Sans"/>
                <a:cs typeface="Open Sans"/>
              </a:rPr>
              <a:t>Governance</a:t>
            </a:r>
            <a:r>
              <a:rPr lang="pt-PT" b="1">
                <a:solidFill>
                  <a:schemeClr val="bg1"/>
                </a:solidFill>
                <a:latin typeface="Open Sans"/>
                <a:ea typeface="Open Sans"/>
                <a:cs typeface="Open Sans"/>
              </a:rPr>
              <a:t> in </a:t>
            </a:r>
            <a:r>
              <a:rPr lang="pt-PT" b="1" err="1">
                <a:solidFill>
                  <a:schemeClr val="bg1"/>
                </a:solidFill>
                <a:latin typeface="Open Sans"/>
                <a:ea typeface="Open Sans"/>
                <a:cs typeface="Open Sans"/>
              </a:rPr>
              <a:t>Organizations</a:t>
            </a:r>
            <a:endParaRPr lang="en-DE" b="1">
              <a:solidFill>
                <a:schemeClr val="bg1"/>
              </a:solidFill>
              <a:latin typeface="Open Sans"/>
              <a:ea typeface="Open Sans"/>
              <a:cs typeface="Open Sans"/>
            </a:endParaRPr>
          </a:p>
          <a:p>
            <a:pPr>
              <a:lnSpc>
                <a:spcPct val="150000"/>
              </a:lnSpc>
            </a:pPr>
            <a:r>
              <a:rPr lang="en-GB">
                <a:solidFill>
                  <a:schemeClr val="bg1"/>
                </a:solidFill>
                <a:latin typeface="Open Sans"/>
                <a:ea typeface="Open Sans"/>
                <a:cs typeface="Open Sans"/>
              </a:rPr>
              <a:t>Professor Michail </a:t>
            </a:r>
            <a:r>
              <a:rPr lang="en-GB" err="1">
                <a:solidFill>
                  <a:schemeClr val="bg1"/>
                </a:solidFill>
                <a:latin typeface="Open Sans"/>
                <a:ea typeface="Open Sans"/>
                <a:cs typeface="Open Sans"/>
              </a:rPr>
              <a:t>Batikas</a:t>
            </a:r>
            <a:endParaRPr lang="en-GB">
              <a:solidFill>
                <a:schemeClr val="bg1"/>
              </a:solidFill>
              <a:latin typeface="Open Sans"/>
              <a:ea typeface="Open Sans"/>
              <a:cs typeface="Open Sans"/>
            </a:endParaRPr>
          </a:p>
          <a:p>
            <a:pPr>
              <a:lnSpc>
                <a:spcPct val="150000"/>
              </a:lnSpc>
            </a:pPr>
            <a:endParaRPr lang="en-DE">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a:lnSpc>
                <a:spcPct val="150000"/>
              </a:lnSpc>
            </a:pPr>
            <a:r>
              <a:rPr lang="en-DE" sz="1600">
                <a:solidFill>
                  <a:schemeClr val="bg1"/>
                </a:solidFill>
                <a:latin typeface="Open Sans"/>
                <a:ea typeface="Open Sans"/>
                <a:cs typeface="Open Sans"/>
              </a:rPr>
              <a:t>202</a:t>
            </a:r>
            <a:r>
              <a:rPr lang="pt-PT" sz="1600">
                <a:solidFill>
                  <a:schemeClr val="bg1"/>
                </a:solidFill>
                <a:latin typeface="Open Sans"/>
                <a:ea typeface="Open Sans"/>
                <a:cs typeface="Open Sans"/>
              </a:rPr>
              <a:t>6 </a:t>
            </a:r>
            <a:r>
              <a:rPr lang="en-DE" sz="1600">
                <a:solidFill>
                  <a:schemeClr val="bg1"/>
                </a:solidFill>
                <a:latin typeface="Open Sans"/>
                <a:ea typeface="Open Sans"/>
                <a:cs typeface="Open Sans"/>
              </a:rPr>
              <a:t>T3</a:t>
            </a:r>
          </a:p>
          <a:p>
            <a:pPr>
              <a:lnSpc>
                <a:spcPct val="150000"/>
              </a:lnSpc>
            </a:pPr>
            <a:r>
              <a:rPr lang="en-DE" sz="1600">
                <a:solidFill>
                  <a:schemeClr val="bg1"/>
                </a:solidFill>
                <a:latin typeface="Open Sans"/>
                <a:ea typeface="Open Sans"/>
                <a:cs typeface="Open Sans"/>
              </a:rPr>
              <a:t>Group </a:t>
            </a:r>
            <a:r>
              <a:rPr lang="pt-PT" sz="1600">
                <a:solidFill>
                  <a:schemeClr val="bg1"/>
                </a:solidFill>
                <a:latin typeface="Open Sans"/>
                <a:ea typeface="Open Sans"/>
                <a:cs typeface="Open Sans"/>
              </a:rPr>
              <a:t>6</a:t>
            </a:r>
            <a:r>
              <a:rPr lang="en-DE" sz="1600">
                <a:solidFill>
                  <a:schemeClr val="bg1"/>
                </a:solidFill>
                <a:latin typeface="Open Sans"/>
                <a:ea typeface="Open Sans"/>
                <a:cs typeface="Open Sans"/>
              </a:rPr>
              <a:t> TXB</a:t>
            </a:r>
          </a:p>
          <a:p>
            <a:pPr algn="ctr"/>
            <a:endParaRPr lang="en-DE" b="1">
              <a:latin typeface="Helvetica" pitchFamily="2" charset="0"/>
            </a:endParaRPr>
          </a:p>
        </p:txBody>
      </p:sp>
      <p:pic>
        <p:nvPicPr>
          <p:cNvPr id="7" name="Picture 6" descr="A black and white logo&#10;&#10;Description automatically generated">
            <a:extLst>
              <a:ext uri="{FF2B5EF4-FFF2-40B4-BE49-F238E27FC236}">
                <a16:creationId xmlns:a16="http://schemas.microsoft.com/office/drawing/2014/main" id="{1126E9E9-73D4-3B36-8633-82EEE5A36137}"/>
              </a:ext>
            </a:extLst>
          </p:cNvPr>
          <p:cNvPicPr>
            <a:picLocks noChangeAspect="1"/>
          </p:cNvPicPr>
          <p:nvPr/>
        </p:nvPicPr>
        <p:blipFill>
          <a:blip r:embed="rId7"/>
          <a:stretch>
            <a:fillRect/>
          </a:stretch>
        </p:blipFill>
        <p:spPr>
          <a:xfrm>
            <a:off x="1138908" y="1098414"/>
            <a:ext cx="2664955" cy="1265223"/>
          </a:xfrm>
          <a:prstGeom prst="rect">
            <a:avLst/>
          </a:prstGeom>
        </p:spPr>
      </p:pic>
      <p:cxnSp>
        <p:nvCxnSpPr>
          <p:cNvPr id="9" name="Straight Connector 8">
            <a:extLst>
              <a:ext uri="{FF2B5EF4-FFF2-40B4-BE49-F238E27FC236}">
                <a16:creationId xmlns:a16="http://schemas.microsoft.com/office/drawing/2014/main" id="{9DF47633-9E1D-7687-0069-3DC0D8F836CA}"/>
              </a:ext>
            </a:extLst>
          </p:cNvPr>
          <p:cNvCxnSpPr/>
          <p:nvPr/>
        </p:nvCxnSpPr>
        <p:spPr>
          <a:xfrm>
            <a:off x="739625" y="4713773"/>
            <a:ext cx="1620000" cy="0"/>
          </a:xfrm>
          <a:prstGeom prst="line">
            <a:avLst/>
          </a:prstGeom>
          <a:ln w="19050">
            <a:solidFill>
              <a:schemeClr val="bg1"/>
            </a:solidFill>
          </a:ln>
        </p:spPr>
        <p:style>
          <a:lnRef idx="1">
            <a:schemeClr val="dk1"/>
          </a:lnRef>
          <a:fillRef idx="0">
            <a:schemeClr val="dk1"/>
          </a:fillRef>
          <a:effectRef idx="0">
            <a:schemeClr val="dk1"/>
          </a:effectRef>
          <a:fontRef idx="minor">
            <a:schemeClr val="tx1"/>
          </a:fontRef>
        </p:style>
      </p:cxnSp>
      <p:sp>
        <p:nvSpPr>
          <p:cNvPr id="3" name="Rectangle 3">
            <a:extLst>
              <a:ext uri="{FF2B5EF4-FFF2-40B4-BE49-F238E27FC236}">
                <a16:creationId xmlns:a16="http://schemas.microsoft.com/office/drawing/2014/main" id="{4FFC89BF-34F5-C2FF-0932-B0E51CDAAC63}"/>
              </a:ext>
            </a:extLst>
          </p:cNvPr>
          <p:cNvSpPr>
            <a:spLocks noChangeArrowheads="1"/>
          </p:cNvSpPr>
          <p:nvPr/>
        </p:nvSpPr>
        <p:spPr bwMode="auto">
          <a:xfrm>
            <a:off x="0" y="0"/>
            <a:ext cx="838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de-DE" altLang="de-DE" sz="1800" b="0" i="0" u="none" strike="noStrike" cap="none" normalizeH="0" baseline="0">
                <a:ln>
                  <a:noFill/>
                </a:ln>
                <a:solidFill>
                  <a:schemeClr val="tx1"/>
                </a:solidFill>
                <a:effectLst/>
                <a:latin typeface="Arial" panose="020B0604020202020204" pitchFamily="34" charset="0"/>
              </a:rPr>
            </a:br>
            <a:endParaRPr kumimoji="0" lang="de-DE" altLang="de-DE"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de-DE" altLang="de-DE" sz="1800" b="0" i="0" u="none" strike="noStrike" cap="none" normalizeH="0" baseline="0">
              <a:ln>
                <a:noFill/>
              </a:ln>
              <a:solidFill>
                <a:schemeClr val="tx1"/>
              </a:solidFill>
              <a:effectLst/>
              <a:latin typeface="Arial" panose="020B0604020202020204" pitchFamily="34" charset="0"/>
            </a:endParaRPr>
          </a:p>
        </p:txBody>
      </p:sp>
      <p:sp>
        <p:nvSpPr>
          <p:cNvPr id="4" name="Rectangle 5">
            <a:extLst>
              <a:ext uri="{FF2B5EF4-FFF2-40B4-BE49-F238E27FC236}">
                <a16:creationId xmlns:a16="http://schemas.microsoft.com/office/drawing/2014/main" id="{91C7D7CA-C465-D269-E954-2E4F272B9169}"/>
              </a:ext>
            </a:extLst>
          </p:cNvPr>
          <p:cNvSpPr>
            <a:spLocks noChangeArrowheads="1"/>
          </p:cNvSpPr>
          <p:nvPr/>
        </p:nvSpPr>
        <p:spPr bwMode="auto">
          <a:xfrm>
            <a:off x="0" y="938349025"/>
            <a:ext cx="838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de-DE" altLang="de-DE" sz="1800" b="0" i="0" u="none" strike="noStrike" cap="none" normalizeH="0" baseline="0">
                <a:ln>
                  <a:noFill/>
                </a:ln>
                <a:solidFill>
                  <a:schemeClr val="tx1"/>
                </a:solidFill>
                <a:effectLst/>
                <a:latin typeface="Arial" panose="020B0604020202020204" pitchFamily="34" charset="0"/>
              </a:rPr>
            </a:br>
            <a:endParaRPr kumimoji="0" lang="de-DE" altLang="de-DE"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91159950"/>
      </p:ext>
    </p:extLst>
  </p:cSld>
  <p:clrMapOvr>
    <a:masterClrMapping/>
  </p:clrMapOvr>
  <mc:AlternateContent xmlns:mc="http://schemas.openxmlformats.org/markup-compatibility/2006">
    <mc:Choice xmlns:p14="http://schemas.microsoft.com/office/powerpoint/2010/main" Requires="p14">
      <p:transition spd="slow" p14:dur="2000" advTm="10699"/>
    </mc:Choice>
    <mc:Fallback>
      <p:transition spd="slow" advTm="1069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6FAB9B-DDB2-1219-8ED1-44C6220D98F8}"/>
            </a:ext>
          </a:extLst>
        </p:cNvPr>
        <p:cNvGrpSpPr/>
        <p:nvPr/>
      </p:nvGrpSpPr>
      <p:grpSpPr>
        <a:xfrm>
          <a:off x="0" y="0"/>
          <a:ext cx="0" cy="0"/>
          <a:chOff x="0" y="0"/>
          <a:chExt cx="0" cy="0"/>
        </a:xfrm>
      </p:grpSpPr>
      <p:sp>
        <p:nvSpPr>
          <p:cNvPr id="31" name="Ellipse 9">
            <a:extLst>
              <a:ext uri="{FF2B5EF4-FFF2-40B4-BE49-F238E27FC236}">
                <a16:creationId xmlns:a16="http://schemas.microsoft.com/office/drawing/2014/main" id="{6374C712-1BD1-8BCB-B4DE-C5D9B8D439D8}"/>
              </a:ext>
            </a:extLst>
          </p:cNvPr>
          <p:cNvSpPr/>
          <p:nvPr/>
        </p:nvSpPr>
        <p:spPr>
          <a:xfrm>
            <a:off x="6215418" y="1824576"/>
            <a:ext cx="1141443" cy="1130400"/>
          </a:xfrm>
          <a:prstGeom prst="ellipse">
            <a:avLst/>
          </a:prstGeom>
          <a:blipFill dpi="0" rotWithShape="1">
            <a:blip r:embed="rId4">
              <a:extLst>
                <a:ext uri="{28A0092B-C50C-407E-A947-70E740481C1C}">
                  <a14:useLocalDpi xmlns:a14="http://schemas.microsoft.com/office/drawing/2010/main" val="0"/>
                </a:ext>
              </a:extLst>
            </a:blip>
            <a:srcRect/>
            <a:stretch>
              <a:fillRect/>
            </a:stretch>
          </a:blip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Ellipse 9">
            <a:extLst>
              <a:ext uri="{FF2B5EF4-FFF2-40B4-BE49-F238E27FC236}">
                <a16:creationId xmlns:a16="http://schemas.microsoft.com/office/drawing/2014/main" id="{6F6C7707-7DD8-FC5A-29A4-DD7CC684AB29}"/>
              </a:ext>
            </a:extLst>
          </p:cNvPr>
          <p:cNvSpPr/>
          <p:nvPr/>
        </p:nvSpPr>
        <p:spPr>
          <a:xfrm>
            <a:off x="4150378" y="1804894"/>
            <a:ext cx="1141443" cy="1130400"/>
          </a:xfrm>
          <a:prstGeom prst="ellipse">
            <a:avLst/>
          </a:prstGeom>
          <a:solidFill>
            <a:schemeClr val="bg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Ellipse 9">
            <a:extLst>
              <a:ext uri="{FF2B5EF4-FFF2-40B4-BE49-F238E27FC236}">
                <a16:creationId xmlns:a16="http://schemas.microsoft.com/office/drawing/2014/main" id="{8D6F1979-1084-9BE2-C416-CFC9D8324213}"/>
              </a:ext>
            </a:extLst>
          </p:cNvPr>
          <p:cNvSpPr/>
          <p:nvPr/>
        </p:nvSpPr>
        <p:spPr>
          <a:xfrm>
            <a:off x="2103077" y="1809186"/>
            <a:ext cx="1141443" cy="1130400"/>
          </a:xfrm>
          <a:prstGeom prst="ellipse">
            <a:avLst/>
          </a:prstGeom>
          <a:blipFill dpi="0" rotWithShape="1">
            <a:blip r:embed="rId5">
              <a:extLst>
                <a:ext uri="{28A0092B-C50C-407E-A947-70E740481C1C}">
                  <a14:useLocalDpi xmlns:a14="http://schemas.microsoft.com/office/drawing/2010/main" val="0"/>
                </a:ext>
              </a:extLst>
            </a:blip>
            <a:srcRect/>
            <a:stretch>
              <a:fillRect/>
            </a:stretch>
          </a:blip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5" name="think-cell data - do not delete" hidden="1">
            <a:extLst>
              <a:ext uri="{FF2B5EF4-FFF2-40B4-BE49-F238E27FC236}">
                <a16:creationId xmlns:a16="http://schemas.microsoft.com/office/drawing/2014/main" id="{106CEA03-311E-F5A0-2077-3D648C1F4A1A}"/>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Folie" r:id="rId6" imgW="7772400" imgH="10058400" progId="TCLayout.ActiveDocument.1">
                  <p:embed/>
                </p:oleObj>
              </mc:Choice>
              <mc:Fallback>
                <p:oleObj name="think-cell Folie" r:id="rId6" imgW="7772400" imgH="10058400" progId="TCLayout.ActiveDocument.1">
                  <p:embed/>
                  <p:pic>
                    <p:nvPicPr>
                      <p:cNvPr id="15" name="think-cell data - do not delete" hidden="1">
                        <a:extLst>
                          <a:ext uri="{FF2B5EF4-FFF2-40B4-BE49-F238E27FC236}">
                            <a16:creationId xmlns:a16="http://schemas.microsoft.com/office/drawing/2014/main" id="{106CEA03-311E-F5A0-2077-3D648C1F4A1A}"/>
                          </a:ext>
                        </a:extLst>
                      </p:cNvPr>
                      <p:cNvPicPr/>
                      <p:nvPr/>
                    </p:nvPicPr>
                    <p:blipFill>
                      <a:blip r:embed="rId7"/>
                      <a:stretch>
                        <a:fillRect/>
                      </a:stretch>
                    </p:blipFill>
                    <p:spPr>
                      <a:xfrm>
                        <a:off x="1588" y="1588"/>
                        <a:ext cx="1227" cy="1588"/>
                      </a:xfrm>
                      <a:prstGeom prst="rect">
                        <a:avLst/>
                      </a:prstGeom>
                    </p:spPr>
                  </p:pic>
                </p:oleObj>
              </mc:Fallback>
            </mc:AlternateContent>
          </a:graphicData>
        </a:graphic>
      </p:graphicFrame>
      <p:sp>
        <p:nvSpPr>
          <p:cNvPr id="5" name="Foliennummernplatzhalter 4">
            <a:extLst>
              <a:ext uri="{FF2B5EF4-FFF2-40B4-BE49-F238E27FC236}">
                <a16:creationId xmlns:a16="http://schemas.microsoft.com/office/drawing/2014/main" id="{121A3F7B-E6AF-BEFA-6183-290CB47A8C2B}"/>
              </a:ext>
            </a:extLst>
          </p:cNvPr>
          <p:cNvSpPr>
            <a:spLocks noGrp="1"/>
          </p:cNvSpPr>
          <p:nvPr>
            <p:ph type="sldNum" sz="quarter" idx="21"/>
          </p:nvPr>
        </p:nvSpPr>
        <p:spPr/>
        <p:txBody>
          <a:bodyPr/>
          <a:lstStyle/>
          <a:p>
            <a:fld id="{96D0270E-ECD2-CA4B-BE22-56AEC998461C}" type="slidenum">
              <a:rPr lang="de-DE" smtClean="0"/>
              <a:t>2</a:t>
            </a:fld>
            <a:endParaRPr lang="de-DE"/>
          </a:p>
        </p:txBody>
      </p:sp>
      <p:sp>
        <p:nvSpPr>
          <p:cNvPr id="3" name="Google Shape;1285;p63">
            <a:extLst>
              <a:ext uri="{FF2B5EF4-FFF2-40B4-BE49-F238E27FC236}">
                <a16:creationId xmlns:a16="http://schemas.microsoft.com/office/drawing/2014/main" id="{01E7C3E2-497D-3735-A70C-3B9024159EC1}"/>
              </a:ext>
            </a:extLst>
          </p:cNvPr>
          <p:cNvSpPr txBox="1"/>
          <p:nvPr/>
        </p:nvSpPr>
        <p:spPr>
          <a:xfrm>
            <a:off x="6071224" y="3278731"/>
            <a:ext cx="1647582" cy="307736"/>
          </a:xfrm>
          <a:prstGeom prst="rect">
            <a:avLst/>
          </a:prstGeom>
          <a:noFill/>
          <a:ln>
            <a:noFill/>
          </a:ln>
        </p:spPr>
        <p:txBody>
          <a:bodyPr spcFirstLastPara="1" wrap="square" lIns="91425" tIns="45700" rIns="91425" bIns="45700" anchor="t" anchorCtr="0">
            <a:spAutoFit/>
          </a:bodyPr>
          <a:lstStyle/>
          <a:p>
            <a:pPr algn="ctr" defTabSz="685800"/>
            <a:r>
              <a:rPr lang="en-US" sz="1400" b="1" dirty="0">
                <a:latin typeface="Open Sans"/>
                <a:ea typeface="Open Sans"/>
                <a:cs typeface="Open Sans"/>
                <a:sym typeface="Raleway"/>
              </a:rPr>
              <a:t>Pietro Franchi</a:t>
            </a:r>
            <a:endParaRPr lang="pt-PT" dirty="0"/>
          </a:p>
        </p:txBody>
      </p:sp>
      <p:cxnSp>
        <p:nvCxnSpPr>
          <p:cNvPr id="7" name="Straight Connector 74">
            <a:extLst>
              <a:ext uri="{FF2B5EF4-FFF2-40B4-BE49-F238E27FC236}">
                <a16:creationId xmlns:a16="http://schemas.microsoft.com/office/drawing/2014/main" id="{F703B1F4-6658-6776-BE9C-037839DFED3D}"/>
              </a:ext>
            </a:extLst>
          </p:cNvPr>
          <p:cNvCxnSpPr>
            <a:cxnSpLocks/>
          </p:cNvCxnSpPr>
          <p:nvPr/>
        </p:nvCxnSpPr>
        <p:spPr>
          <a:xfrm>
            <a:off x="6183000" y="3148669"/>
            <a:ext cx="1181839" cy="11043"/>
          </a:xfrm>
          <a:prstGeom prst="line">
            <a:avLst/>
          </a:prstGeom>
          <a:ln w="19050" cap="flat" cmpd="sng" algn="ctr">
            <a:solidFill>
              <a:schemeClr val="tx1"/>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8" name="Google Shape;1285;p63">
            <a:extLst>
              <a:ext uri="{FF2B5EF4-FFF2-40B4-BE49-F238E27FC236}">
                <a16:creationId xmlns:a16="http://schemas.microsoft.com/office/drawing/2014/main" id="{909901D9-4C27-EE92-DAEF-29860A964407}"/>
              </a:ext>
            </a:extLst>
          </p:cNvPr>
          <p:cNvSpPr txBox="1"/>
          <p:nvPr/>
        </p:nvSpPr>
        <p:spPr>
          <a:xfrm>
            <a:off x="3999532" y="3301003"/>
            <a:ext cx="1423144" cy="307736"/>
          </a:xfrm>
          <a:prstGeom prst="rect">
            <a:avLst/>
          </a:prstGeom>
          <a:noFill/>
          <a:ln>
            <a:noFill/>
          </a:ln>
        </p:spPr>
        <p:txBody>
          <a:bodyPr spcFirstLastPara="1" wrap="square" lIns="91425" tIns="45700" rIns="91425" bIns="45700" anchor="t" anchorCtr="0">
            <a:spAutoFit/>
          </a:bodyPr>
          <a:lstStyle/>
          <a:p>
            <a:pPr algn="ctr" defTabSz="685800"/>
            <a:r>
              <a:rPr lang="en-US" sz="1400" b="1">
                <a:latin typeface="Open Sans"/>
                <a:ea typeface="Open Sans"/>
                <a:cs typeface="Open Sans"/>
              </a:rPr>
              <a:t>Lu Gan</a:t>
            </a:r>
            <a:endParaRPr lang="en-US" sz="1400" b="1">
              <a:latin typeface="Open Sans" panose="020B0606030504020204" pitchFamily="34" charset="0"/>
              <a:ea typeface="Open Sans" panose="020B0606030504020204" pitchFamily="34" charset="0"/>
              <a:cs typeface="Open Sans" panose="020B0606030504020204" pitchFamily="34" charset="0"/>
            </a:endParaRPr>
          </a:p>
        </p:txBody>
      </p:sp>
      <p:cxnSp>
        <p:nvCxnSpPr>
          <p:cNvPr id="23" name="Straight Connector 70">
            <a:extLst>
              <a:ext uri="{FF2B5EF4-FFF2-40B4-BE49-F238E27FC236}">
                <a16:creationId xmlns:a16="http://schemas.microsoft.com/office/drawing/2014/main" id="{F2E5E891-710D-91E0-3BA4-7F6AD02D1651}"/>
              </a:ext>
            </a:extLst>
          </p:cNvPr>
          <p:cNvCxnSpPr>
            <a:cxnSpLocks/>
          </p:cNvCxnSpPr>
          <p:nvPr/>
        </p:nvCxnSpPr>
        <p:spPr>
          <a:xfrm>
            <a:off x="4137947" y="3132190"/>
            <a:ext cx="1181839" cy="11043"/>
          </a:xfrm>
          <a:prstGeom prst="line">
            <a:avLst/>
          </a:prstGeom>
          <a:ln w="19050" cap="flat" cmpd="sng" algn="ctr">
            <a:solidFill>
              <a:schemeClr val="tx1"/>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 name="Google Shape;1289;p63">
            <a:extLst>
              <a:ext uri="{FF2B5EF4-FFF2-40B4-BE49-F238E27FC236}">
                <a16:creationId xmlns:a16="http://schemas.microsoft.com/office/drawing/2014/main" id="{1A4A56BC-36B0-4D08-1386-2693B638E4C3}"/>
              </a:ext>
            </a:extLst>
          </p:cNvPr>
          <p:cNvSpPr txBox="1"/>
          <p:nvPr/>
        </p:nvSpPr>
        <p:spPr>
          <a:xfrm>
            <a:off x="1829808" y="3282921"/>
            <a:ext cx="1647583" cy="307736"/>
          </a:xfrm>
          <a:prstGeom prst="rect">
            <a:avLst/>
          </a:prstGeom>
          <a:noFill/>
          <a:ln>
            <a:noFill/>
          </a:ln>
        </p:spPr>
        <p:txBody>
          <a:bodyPr spcFirstLastPara="1" wrap="square" lIns="91425" tIns="45700" rIns="91425" bIns="45700" anchor="t" anchorCtr="0">
            <a:spAutoFit/>
          </a:bodyPr>
          <a:lstStyle/>
          <a:p>
            <a:pPr algn="ctr" defTabSz="685800"/>
            <a:r>
              <a:rPr lang="en-US" sz="1400" b="1">
                <a:latin typeface="Open Sans"/>
                <a:ea typeface="Open Sans"/>
                <a:cs typeface="Open Sans"/>
                <a:sym typeface="Raleway"/>
              </a:rPr>
              <a:t>Leonor Oliveira</a:t>
            </a:r>
            <a:endParaRPr lang="en-US" sz="1400" b="1">
              <a:latin typeface="Open Sans"/>
              <a:ea typeface="Open Sans"/>
              <a:cs typeface="Open Sans"/>
            </a:endParaRPr>
          </a:p>
        </p:txBody>
      </p:sp>
      <p:cxnSp>
        <p:nvCxnSpPr>
          <p:cNvPr id="17" name="Straight Connector 53">
            <a:extLst>
              <a:ext uri="{FF2B5EF4-FFF2-40B4-BE49-F238E27FC236}">
                <a16:creationId xmlns:a16="http://schemas.microsoft.com/office/drawing/2014/main" id="{2CC20BDD-9813-054D-AF9E-2DC282C17F24}"/>
              </a:ext>
            </a:extLst>
          </p:cNvPr>
          <p:cNvCxnSpPr>
            <a:cxnSpLocks/>
          </p:cNvCxnSpPr>
          <p:nvPr/>
        </p:nvCxnSpPr>
        <p:spPr>
          <a:xfrm>
            <a:off x="2062681" y="3125439"/>
            <a:ext cx="1181839" cy="11043"/>
          </a:xfrm>
          <a:prstGeom prst="line">
            <a:avLst/>
          </a:prstGeom>
          <a:ln w="19050" cap="flat" cmpd="sng" algn="ctr">
            <a:solidFill>
              <a:schemeClr val="tx1"/>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6" name="Google Shape;1285;p63">
            <a:extLst>
              <a:ext uri="{FF2B5EF4-FFF2-40B4-BE49-F238E27FC236}">
                <a16:creationId xmlns:a16="http://schemas.microsoft.com/office/drawing/2014/main" id="{F8C00C8A-78CC-7C18-B10C-519E7A8CA449}"/>
              </a:ext>
            </a:extLst>
          </p:cNvPr>
          <p:cNvSpPr txBox="1"/>
          <p:nvPr/>
        </p:nvSpPr>
        <p:spPr>
          <a:xfrm>
            <a:off x="8014589" y="3291168"/>
            <a:ext cx="1695373" cy="307736"/>
          </a:xfrm>
          <a:prstGeom prst="rect">
            <a:avLst/>
          </a:prstGeom>
          <a:noFill/>
          <a:ln>
            <a:noFill/>
          </a:ln>
        </p:spPr>
        <p:txBody>
          <a:bodyPr spcFirstLastPara="1" wrap="square" lIns="91425" tIns="45700" rIns="91425" bIns="45700" anchor="t" anchorCtr="0">
            <a:spAutoFit/>
          </a:bodyPr>
          <a:lstStyle/>
          <a:p>
            <a:pPr algn="ctr" defTabSz="685800"/>
            <a:r>
              <a:rPr lang="en-US" sz="1400" b="1">
                <a:latin typeface="Open Sans"/>
                <a:ea typeface="Open Sans"/>
                <a:cs typeface="Open Sans"/>
                <a:sym typeface="Raleway"/>
              </a:rPr>
              <a:t>António </a:t>
            </a:r>
            <a:r>
              <a:rPr lang="en-US" sz="1400" b="1" err="1">
                <a:latin typeface="Open Sans"/>
                <a:ea typeface="Open Sans"/>
                <a:cs typeface="Open Sans"/>
                <a:sym typeface="Raleway"/>
              </a:rPr>
              <a:t>Grincho</a:t>
            </a:r>
            <a:endParaRPr lang="pt-PT"/>
          </a:p>
        </p:txBody>
      </p:sp>
      <p:cxnSp>
        <p:nvCxnSpPr>
          <p:cNvPr id="38" name="Straight Connector 57">
            <a:extLst>
              <a:ext uri="{FF2B5EF4-FFF2-40B4-BE49-F238E27FC236}">
                <a16:creationId xmlns:a16="http://schemas.microsoft.com/office/drawing/2014/main" id="{60C601B6-0768-A884-6376-96492B60981C}"/>
              </a:ext>
            </a:extLst>
          </p:cNvPr>
          <p:cNvCxnSpPr>
            <a:cxnSpLocks/>
          </p:cNvCxnSpPr>
          <p:nvPr/>
        </p:nvCxnSpPr>
        <p:spPr>
          <a:xfrm>
            <a:off x="8248901" y="3132190"/>
            <a:ext cx="1181839" cy="11043"/>
          </a:xfrm>
          <a:prstGeom prst="line">
            <a:avLst/>
          </a:prstGeom>
          <a:ln w="19050" cap="flat" cmpd="sng" algn="ctr">
            <a:solidFill>
              <a:schemeClr val="tx1"/>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9" name="Gruppieren 8">
            <a:extLst>
              <a:ext uri="{FF2B5EF4-FFF2-40B4-BE49-F238E27FC236}">
                <a16:creationId xmlns:a16="http://schemas.microsoft.com/office/drawing/2014/main" id="{4CF6D942-ABCA-3F16-B6D7-2731AB9D9AEF}"/>
              </a:ext>
            </a:extLst>
          </p:cNvPr>
          <p:cNvGrpSpPr/>
          <p:nvPr/>
        </p:nvGrpSpPr>
        <p:grpSpPr>
          <a:xfrm>
            <a:off x="1873635" y="3892491"/>
            <a:ext cx="7394791" cy="318693"/>
            <a:chOff x="2188996" y="5000139"/>
            <a:chExt cx="7324936" cy="318693"/>
          </a:xfrm>
        </p:grpSpPr>
        <p:sp>
          <p:nvSpPr>
            <p:cNvPr id="6" name="Google Shape;1285;p63">
              <a:extLst>
                <a:ext uri="{FF2B5EF4-FFF2-40B4-BE49-F238E27FC236}">
                  <a16:creationId xmlns:a16="http://schemas.microsoft.com/office/drawing/2014/main" id="{E2E9F018-E869-3E03-CB1F-1B3236FD3857}"/>
                </a:ext>
              </a:extLst>
            </p:cNvPr>
            <p:cNvSpPr txBox="1"/>
            <p:nvPr/>
          </p:nvSpPr>
          <p:spPr>
            <a:xfrm>
              <a:off x="6229950" y="5011096"/>
              <a:ext cx="1507240" cy="307736"/>
            </a:xfrm>
            <a:prstGeom prst="rect">
              <a:avLst/>
            </a:prstGeom>
            <a:noFill/>
            <a:ln>
              <a:noFill/>
            </a:ln>
          </p:spPr>
          <p:txBody>
            <a:bodyPr spcFirstLastPara="1" wrap="square" lIns="91425" tIns="45700" rIns="91425" bIns="45700" anchor="t" anchorCtr="0">
              <a:spAutoFit/>
            </a:bodyPr>
            <a:lstStyle/>
            <a:p>
              <a:pPr algn="ctr" defTabSz="685800"/>
              <a:r>
                <a:rPr lang="en-US" sz="1400">
                  <a:latin typeface="Open Sans"/>
                  <a:ea typeface="Open Sans"/>
                  <a:cs typeface="Open Sans"/>
                  <a:sym typeface="Calibri"/>
                </a:rPr>
                <a:t>   73019</a:t>
              </a:r>
              <a:endParaRPr lang="en-US" sz="1400">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19" name="Google Shape;1285;p63">
              <a:extLst>
                <a:ext uri="{FF2B5EF4-FFF2-40B4-BE49-F238E27FC236}">
                  <a16:creationId xmlns:a16="http://schemas.microsoft.com/office/drawing/2014/main" id="{0A9E94D3-BB43-A331-99C9-2059EE850305}"/>
                </a:ext>
              </a:extLst>
            </p:cNvPr>
            <p:cNvSpPr txBox="1"/>
            <p:nvPr/>
          </p:nvSpPr>
          <p:spPr>
            <a:xfrm>
              <a:off x="4263635" y="5011096"/>
              <a:ext cx="1507240" cy="307736"/>
            </a:xfrm>
            <a:prstGeom prst="rect">
              <a:avLst/>
            </a:prstGeom>
            <a:noFill/>
            <a:ln>
              <a:noFill/>
            </a:ln>
          </p:spPr>
          <p:txBody>
            <a:bodyPr spcFirstLastPara="1" wrap="square" lIns="91425" tIns="45700" rIns="91425" bIns="45700" anchor="t" anchorCtr="0">
              <a:spAutoFit/>
            </a:bodyPr>
            <a:lstStyle/>
            <a:p>
              <a:pPr algn="ctr" defTabSz="685800"/>
              <a:r>
                <a:rPr lang="en-US" sz="1400">
                  <a:latin typeface="Open Sans"/>
                  <a:ea typeface="Open Sans"/>
                  <a:cs typeface="Open Sans"/>
                </a:rPr>
                <a:t>73630</a:t>
              </a:r>
            </a:p>
          </p:txBody>
        </p:sp>
        <p:sp>
          <p:nvSpPr>
            <p:cNvPr id="16" name="Google Shape;1289;p63">
              <a:extLst>
                <a:ext uri="{FF2B5EF4-FFF2-40B4-BE49-F238E27FC236}">
                  <a16:creationId xmlns:a16="http://schemas.microsoft.com/office/drawing/2014/main" id="{B5D54A9F-2243-3A18-14C5-50A5FD41F1CE}"/>
                </a:ext>
              </a:extLst>
            </p:cNvPr>
            <p:cNvSpPr txBox="1"/>
            <p:nvPr/>
          </p:nvSpPr>
          <p:spPr>
            <a:xfrm>
              <a:off x="2188996" y="5000139"/>
              <a:ext cx="1507240" cy="307736"/>
            </a:xfrm>
            <a:prstGeom prst="rect">
              <a:avLst/>
            </a:prstGeom>
            <a:noFill/>
            <a:ln>
              <a:noFill/>
            </a:ln>
          </p:spPr>
          <p:txBody>
            <a:bodyPr spcFirstLastPara="1" wrap="square" lIns="91425" tIns="45700" rIns="91425" bIns="45700" anchor="t" anchorCtr="0">
              <a:spAutoFit/>
            </a:bodyPr>
            <a:lstStyle/>
            <a:p>
              <a:pPr algn="ctr" defTabSz="685800"/>
              <a:r>
                <a:rPr lang="en-US" sz="1400">
                  <a:latin typeface="Open Sans"/>
                  <a:ea typeface="Open Sans"/>
                  <a:cs typeface="Open Sans"/>
                </a:rPr>
                <a:t>71736</a:t>
              </a:r>
            </a:p>
          </p:txBody>
        </p:sp>
        <p:sp>
          <p:nvSpPr>
            <p:cNvPr id="37" name="Google Shape;1285;p63">
              <a:extLst>
                <a:ext uri="{FF2B5EF4-FFF2-40B4-BE49-F238E27FC236}">
                  <a16:creationId xmlns:a16="http://schemas.microsoft.com/office/drawing/2014/main" id="{289D5F99-3AEB-7546-9B23-A0266D30390E}"/>
                </a:ext>
              </a:extLst>
            </p:cNvPr>
            <p:cNvSpPr txBox="1"/>
            <p:nvPr/>
          </p:nvSpPr>
          <p:spPr>
            <a:xfrm>
              <a:off x="8006692" y="5000139"/>
              <a:ext cx="1507240" cy="307736"/>
            </a:xfrm>
            <a:prstGeom prst="rect">
              <a:avLst/>
            </a:prstGeom>
            <a:noFill/>
            <a:ln>
              <a:noFill/>
            </a:ln>
          </p:spPr>
          <p:txBody>
            <a:bodyPr spcFirstLastPara="1" wrap="square" lIns="91425" tIns="45700" rIns="91425" bIns="45700" anchor="t" anchorCtr="0">
              <a:spAutoFit/>
            </a:bodyPr>
            <a:lstStyle/>
            <a:p>
              <a:pPr algn="ctr" defTabSz="685800"/>
              <a:endParaRPr lang="en-US" sz="1400">
                <a:latin typeface="Open Sans"/>
                <a:ea typeface="Open Sans"/>
                <a:cs typeface="Open Sans"/>
              </a:endParaRPr>
            </a:p>
          </p:txBody>
        </p:sp>
      </p:grpSp>
      <p:sp>
        <p:nvSpPr>
          <p:cNvPr id="22" name="Google Shape;1285;p63">
            <a:extLst>
              <a:ext uri="{FF2B5EF4-FFF2-40B4-BE49-F238E27FC236}">
                <a16:creationId xmlns:a16="http://schemas.microsoft.com/office/drawing/2014/main" id="{29C04411-01E2-7577-CE42-9E2C6A712AE5}"/>
              </a:ext>
            </a:extLst>
          </p:cNvPr>
          <p:cNvSpPr txBox="1"/>
          <p:nvPr/>
        </p:nvSpPr>
        <p:spPr>
          <a:xfrm>
            <a:off x="1943054" y="4319258"/>
            <a:ext cx="1518283" cy="307736"/>
          </a:xfrm>
          <a:prstGeom prst="rect">
            <a:avLst/>
          </a:prstGeom>
          <a:noFill/>
          <a:ln>
            <a:noFill/>
          </a:ln>
        </p:spPr>
        <p:txBody>
          <a:bodyPr spcFirstLastPara="1" wrap="square" lIns="91425" tIns="45700" rIns="91425" bIns="45700" anchor="t" anchorCtr="0">
            <a:spAutoFit/>
          </a:bodyPr>
          <a:lstStyle/>
          <a:p>
            <a:pPr algn="ctr" defTabSz="685800"/>
            <a:r>
              <a:rPr lang="en-US" sz="1400">
                <a:latin typeface="Open Sans" panose="020B0606030504020204" pitchFamily="34" charset="0"/>
                <a:ea typeface="Open Sans" panose="020B0606030504020204" pitchFamily="34" charset="0"/>
                <a:cs typeface="Open Sans" panose="020B0606030504020204" pitchFamily="34" charset="0"/>
                <a:sym typeface="Calibri"/>
              </a:rPr>
              <a:t>Data Engineer</a:t>
            </a:r>
          </a:p>
        </p:txBody>
      </p:sp>
      <p:sp>
        <p:nvSpPr>
          <p:cNvPr id="26" name="Google Shape;1285;p63">
            <a:extLst>
              <a:ext uri="{FF2B5EF4-FFF2-40B4-BE49-F238E27FC236}">
                <a16:creationId xmlns:a16="http://schemas.microsoft.com/office/drawing/2014/main" id="{8E6E6C1E-7690-C87E-B91C-AB94FB8E2DD8}"/>
              </a:ext>
            </a:extLst>
          </p:cNvPr>
          <p:cNvSpPr txBox="1"/>
          <p:nvPr/>
        </p:nvSpPr>
        <p:spPr>
          <a:xfrm>
            <a:off x="5981697" y="4326008"/>
            <a:ext cx="1814352" cy="307736"/>
          </a:xfrm>
          <a:prstGeom prst="rect">
            <a:avLst/>
          </a:prstGeom>
          <a:noFill/>
          <a:ln>
            <a:noFill/>
          </a:ln>
        </p:spPr>
        <p:txBody>
          <a:bodyPr spcFirstLastPara="1" wrap="square" lIns="91425" tIns="45700" rIns="91425" bIns="45700" anchor="t" anchorCtr="0">
            <a:spAutoFit/>
          </a:bodyPr>
          <a:lstStyle/>
          <a:p>
            <a:pPr algn="ctr" defTabSz="685800"/>
            <a:r>
              <a:rPr lang="en-US" sz="1400">
                <a:latin typeface="Open Sans" panose="020B0606030504020204" pitchFamily="34" charset="0"/>
                <a:ea typeface="Open Sans" panose="020B0606030504020204" pitchFamily="34" charset="0"/>
                <a:cs typeface="Open Sans" panose="020B0606030504020204" pitchFamily="34" charset="0"/>
                <a:sym typeface="Calibri"/>
              </a:rPr>
              <a:t>Governance Officer</a:t>
            </a:r>
          </a:p>
        </p:txBody>
      </p:sp>
      <p:sp>
        <p:nvSpPr>
          <p:cNvPr id="28" name="Google Shape;1285;p63">
            <a:extLst>
              <a:ext uri="{FF2B5EF4-FFF2-40B4-BE49-F238E27FC236}">
                <a16:creationId xmlns:a16="http://schemas.microsoft.com/office/drawing/2014/main" id="{24AA3FEF-0258-4CDF-2910-BEEAF5F65ED8}"/>
              </a:ext>
            </a:extLst>
          </p:cNvPr>
          <p:cNvSpPr txBox="1"/>
          <p:nvPr/>
        </p:nvSpPr>
        <p:spPr>
          <a:xfrm>
            <a:off x="4022739" y="4326008"/>
            <a:ext cx="1518283" cy="307736"/>
          </a:xfrm>
          <a:prstGeom prst="rect">
            <a:avLst/>
          </a:prstGeom>
          <a:noFill/>
          <a:ln>
            <a:noFill/>
          </a:ln>
        </p:spPr>
        <p:txBody>
          <a:bodyPr spcFirstLastPara="1" wrap="square" lIns="91425" tIns="45700" rIns="91425" bIns="45700" anchor="t" anchorCtr="0">
            <a:spAutoFit/>
          </a:bodyPr>
          <a:lstStyle/>
          <a:p>
            <a:pPr algn="ctr" defTabSz="685800"/>
            <a:r>
              <a:rPr lang="en-US" sz="1400">
                <a:latin typeface="Open Sans" panose="020B0606030504020204" pitchFamily="34" charset="0"/>
                <a:ea typeface="Open Sans" panose="020B0606030504020204" pitchFamily="34" charset="0"/>
                <a:cs typeface="Open Sans" panose="020B0606030504020204" pitchFamily="34" charset="0"/>
                <a:sym typeface="Calibri"/>
              </a:rPr>
              <a:t>Data Scientist</a:t>
            </a:r>
          </a:p>
        </p:txBody>
      </p:sp>
      <p:sp>
        <p:nvSpPr>
          <p:cNvPr id="29" name="Google Shape;1285;p63">
            <a:extLst>
              <a:ext uri="{FF2B5EF4-FFF2-40B4-BE49-F238E27FC236}">
                <a16:creationId xmlns:a16="http://schemas.microsoft.com/office/drawing/2014/main" id="{77D2713F-C637-4F9E-4620-FA1F8F3B63AB}"/>
              </a:ext>
            </a:extLst>
          </p:cNvPr>
          <p:cNvSpPr txBox="1"/>
          <p:nvPr/>
        </p:nvSpPr>
        <p:spPr>
          <a:xfrm>
            <a:off x="8131489" y="4326008"/>
            <a:ext cx="1518283" cy="307736"/>
          </a:xfrm>
          <a:prstGeom prst="rect">
            <a:avLst/>
          </a:prstGeom>
          <a:noFill/>
          <a:ln>
            <a:noFill/>
          </a:ln>
        </p:spPr>
        <p:txBody>
          <a:bodyPr spcFirstLastPara="1" wrap="square" lIns="91425" tIns="45700" rIns="91425" bIns="45700" anchor="t" anchorCtr="0">
            <a:spAutoFit/>
          </a:bodyPr>
          <a:lstStyle/>
          <a:p>
            <a:pPr algn="ctr" defTabSz="685800"/>
            <a:r>
              <a:rPr lang="en-US" sz="1400">
                <a:latin typeface="Open Sans" panose="020B0606030504020204" pitchFamily="34" charset="0"/>
                <a:ea typeface="Open Sans" panose="020B0606030504020204" pitchFamily="34" charset="0"/>
                <a:cs typeface="Open Sans" panose="020B0606030504020204" pitchFamily="34" charset="0"/>
                <a:sym typeface="Calibri"/>
              </a:rPr>
              <a:t>Product Lead</a:t>
            </a:r>
          </a:p>
        </p:txBody>
      </p:sp>
      <p:sp>
        <p:nvSpPr>
          <p:cNvPr id="30" name="Ellipse 9">
            <a:extLst>
              <a:ext uri="{FF2B5EF4-FFF2-40B4-BE49-F238E27FC236}">
                <a16:creationId xmlns:a16="http://schemas.microsoft.com/office/drawing/2014/main" id="{2959799D-4ADC-AC95-BD11-C93E8D3F0B65}"/>
              </a:ext>
            </a:extLst>
          </p:cNvPr>
          <p:cNvSpPr/>
          <p:nvPr/>
        </p:nvSpPr>
        <p:spPr>
          <a:xfrm>
            <a:off x="8280458" y="1770179"/>
            <a:ext cx="1141443" cy="1130400"/>
          </a:xfrm>
          <a:prstGeom prst="ellipse">
            <a:avLst/>
          </a:prstGeom>
          <a:blipFill dpi="0" rotWithShape="1">
            <a:blip r:embed="rId8">
              <a:extLst>
                <a:ext uri="{28A0092B-C50C-407E-A947-70E740481C1C}">
                  <a14:useLocalDpi xmlns:a14="http://schemas.microsoft.com/office/drawing/2010/main" val="0"/>
                </a:ext>
              </a:extLst>
            </a:blip>
            <a:srcRect/>
            <a:stretch>
              <a:fillRect/>
            </a:stretch>
          </a:blip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Google Shape;1285;p63">
            <a:extLst>
              <a:ext uri="{FF2B5EF4-FFF2-40B4-BE49-F238E27FC236}">
                <a16:creationId xmlns:a16="http://schemas.microsoft.com/office/drawing/2014/main" id="{F3264320-23F0-22CE-3846-5B6BCA5094E4}"/>
              </a:ext>
            </a:extLst>
          </p:cNvPr>
          <p:cNvSpPr txBox="1"/>
          <p:nvPr/>
        </p:nvSpPr>
        <p:spPr>
          <a:xfrm>
            <a:off x="8079013" y="3888080"/>
            <a:ext cx="1521614" cy="307736"/>
          </a:xfrm>
          <a:prstGeom prst="rect">
            <a:avLst/>
          </a:prstGeom>
          <a:noFill/>
          <a:ln>
            <a:noFill/>
          </a:ln>
        </p:spPr>
        <p:txBody>
          <a:bodyPr spcFirstLastPara="1" wrap="square" lIns="91425" tIns="45700" rIns="91425" bIns="45700" anchor="t" anchorCtr="0">
            <a:spAutoFit/>
          </a:bodyPr>
          <a:lstStyle/>
          <a:p>
            <a:pPr algn="ctr" defTabSz="685800"/>
            <a:r>
              <a:rPr lang="en-US" sz="1400">
                <a:latin typeface="Open Sans"/>
                <a:ea typeface="Open Sans"/>
                <a:cs typeface="Open Sans"/>
                <a:sym typeface="Calibri"/>
              </a:rPr>
              <a:t>56894</a:t>
            </a:r>
            <a:endParaRPr lang="en-US" sz="1400">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25" name="Textplatzhalter 1">
            <a:extLst>
              <a:ext uri="{FF2B5EF4-FFF2-40B4-BE49-F238E27FC236}">
                <a16:creationId xmlns:a16="http://schemas.microsoft.com/office/drawing/2014/main" id="{5A93C0C3-3469-B672-75C0-EEC9F828ED0F}"/>
              </a:ext>
            </a:extLst>
          </p:cNvPr>
          <p:cNvSpPr>
            <a:spLocks noGrp="1"/>
          </p:cNvSpPr>
          <p:nvPr>
            <p:ph type="body" sz="quarter" idx="13"/>
          </p:nvPr>
        </p:nvSpPr>
        <p:spPr>
          <a:xfrm>
            <a:off x="339691" y="364775"/>
            <a:ext cx="6872065" cy="278339"/>
          </a:xfrm>
        </p:spPr>
        <p:txBody>
          <a:bodyPr vert="horz" lIns="0" tIns="45720" rIns="91440" bIns="45720" rtlCol="0" anchor="t">
            <a:normAutofit/>
          </a:bodyPr>
          <a:lstStyle/>
          <a:p>
            <a:r>
              <a:rPr lang="en-GB">
                <a:latin typeface="Open Sans"/>
                <a:ea typeface="Open Sans"/>
                <a:cs typeface="Open Sans"/>
              </a:rPr>
              <a:t>Group TXB_6 | DATA ECOSYSTEMS &amp; GOVERNANCE IN ORGANIZATIONS</a:t>
            </a:r>
          </a:p>
          <a:p>
            <a:endParaRPr lang="de-DE"/>
          </a:p>
        </p:txBody>
      </p:sp>
      <p:sp>
        <p:nvSpPr>
          <p:cNvPr id="35" name="Textplatzhalter 2">
            <a:extLst>
              <a:ext uri="{FF2B5EF4-FFF2-40B4-BE49-F238E27FC236}">
                <a16:creationId xmlns:a16="http://schemas.microsoft.com/office/drawing/2014/main" id="{FBE13110-64F5-2E9E-EF06-1B0A01F89A33}"/>
              </a:ext>
            </a:extLst>
          </p:cNvPr>
          <p:cNvSpPr txBox="1">
            <a:spLocks/>
          </p:cNvSpPr>
          <p:nvPr/>
        </p:nvSpPr>
        <p:spPr>
          <a:xfrm>
            <a:off x="332604" y="829450"/>
            <a:ext cx="11016146" cy="540306"/>
          </a:xfrm>
          <a:prstGeom prst="rect">
            <a:avLst/>
          </a:prstGeom>
        </p:spPr>
        <p:txBody>
          <a:bodyPr vert="horz" lIns="0" tIns="45720" rIns="91440" bIns="45720" rtlCol="0" anchor="t">
            <a:noAutofit/>
          </a:bodyPr>
          <a:lstStyle>
            <a:lvl1pPr marL="0" marR="0" indent="0" algn="l" defTabSz="412750" rtl="0" eaLnBrk="1" fontAlgn="auto" latinLnBrk="0" hangingPunct="0">
              <a:lnSpc>
                <a:spcPct val="80000"/>
              </a:lnSpc>
              <a:spcBef>
                <a:spcPts val="0"/>
              </a:spcBef>
              <a:spcAft>
                <a:spcPts val="0"/>
              </a:spcAft>
              <a:buClrTx/>
              <a:buSzTx/>
              <a:buFontTx/>
              <a:buNone/>
              <a:tabLst/>
              <a:defRPr kumimoji="0" lang="en-US" sz="4550" b="0" i="0" u="none" strike="noStrike" kern="1200" cap="none" spc="0" normalizeH="0" baseline="0" dirty="0" smtClean="0">
                <a:ln>
                  <a:noFill/>
                </a:ln>
                <a:solidFill>
                  <a:srgbClr val="000000"/>
                </a:solidFill>
                <a:effectLst/>
                <a:uFillTx/>
                <a:latin typeface="Playfair Display"/>
                <a:ea typeface="Playfair Display"/>
                <a:cs typeface="Playfair Display"/>
                <a:sym typeface="Helvetica Neue"/>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800" b="1">
                <a:solidFill>
                  <a:schemeClr val="tx2">
                    <a:lumMod val="75000"/>
                    <a:lumOff val="25000"/>
                  </a:schemeClr>
                </a:solidFill>
              </a:rPr>
              <a:t>Our team:</a:t>
            </a:r>
          </a:p>
        </p:txBody>
      </p:sp>
      <p:pic>
        <p:nvPicPr>
          <p:cNvPr id="2" name="图片 1" descr="小孩在微笑&#10;&#10;AI 生成的内容可能不正确。">
            <a:extLst>
              <a:ext uri="{FF2B5EF4-FFF2-40B4-BE49-F238E27FC236}">
                <a16:creationId xmlns:a16="http://schemas.microsoft.com/office/drawing/2014/main" id="{817B31F8-1DEE-BDB9-4BB6-7EAC2041ED7C}"/>
              </a:ext>
            </a:extLst>
          </p:cNvPr>
          <p:cNvPicPr>
            <a:picLocks noChangeAspect="1"/>
          </p:cNvPicPr>
          <p:nvPr/>
        </p:nvPicPr>
        <p:blipFill>
          <a:blip r:embed="rId9"/>
          <a:srcRect l="-224" t="901" b="-901"/>
          <a:stretch>
            <a:fillRect/>
          </a:stretch>
        </p:blipFill>
        <p:spPr>
          <a:xfrm>
            <a:off x="4150377" y="1769524"/>
            <a:ext cx="1141442" cy="1204895"/>
          </a:xfrm>
          <a:prstGeom prst="ellipse">
            <a:avLst/>
          </a:prstGeom>
          <a:blipFill dpi="0" rotWithShape="1">
            <a:blip r:embed="rId8">
              <a:extLst>
                <a:ext uri="{28A0092B-C50C-407E-A947-70E740481C1C}">
                  <a14:useLocalDpi xmlns:a14="http://schemas.microsoft.com/office/drawing/2010/main" val="0"/>
                </a:ext>
              </a:extLst>
            </a:blip>
            <a:srcRect/>
            <a:stretch>
              <a:fillRect/>
            </a:stretch>
          </a:blip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593651099"/>
      </p:ext>
    </p:extLst>
  </p:cSld>
  <p:clrMapOvr>
    <a:masterClrMapping/>
  </p:clrMapOvr>
  <p:transition spd="med" advTm="14898"/>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E10A3-8DAE-9589-3971-685B7A9565D8}"/>
            </a:ext>
          </a:extLst>
        </p:cNvPr>
        <p:cNvGrpSpPr/>
        <p:nvPr/>
      </p:nvGrpSpPr>
      <p:grpSpPr>
        <a:xfrm>
          <a:off x="0" y="0"/>
          <a:ext cx="0" cy="0"/>
          <a:chOff x="0" y="0"/>
          <a:chExt cx="0" cy="0"/>
        </a:xfrm>
      </p:grpSpPr>
      <p:graphicFrame>
        <p:nvGraphicFramePr>
          <p:cNvPr id="15" name="think-cell data - do not delete" hidden="1">
            <a:extLst>
              <a:ext uri="{FF2B5EF4-FFF2-40B4-BE49-F238E27FC236}">
                <a16:creationId xmlns:a16="http://schemas.microsoft.com/office/drawing/2014/main" id="{15394113-D193-C230-017C-2645FDFB6B21}"/>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Folie" r:id="rId4" imgW="7772400" imgH="10058400" progId="TCLayout.ActiveDocument.1">
                  <p:embed/>
                </p:oleObj>
              </mc:Choice>
              <mc:Fallback>
                <p:oleObj name="think-cell Folie" r:id="rId4" imgW="7772400" imgH="10058400" progId="TCLayout.ActiveDocument.1">
                  <p:embed/>
                  <p:pic>
                    <p:nvPicPr>
                      <p:cNvPr id="15" name="think-cell data - do not delete" hidden="1">
                        <a:extLst>
                          <a:ext uri="{FF2B5EF4-FFF2-40B4-BE49-F238E27FC236}">
                            <a16:creationId xmlns:a16="http://schemas.microsoft.com/office/drawing/2014/main" id="{15394113-D193-C230-017C-2645FDFB6B2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Foliennummernplatzhalter 4">
            <a:extLst>
              <a:ext uri="{FF2B5EF4-FFF2-40B4-BE49-F238E27FC236}">
                <a16:creationId xmlns:a16="http://schemas.microsoft.com/office/drawing/2014/main" id="{C14F72EB-23D2-F7CF-5511-7D209E34C6E8}"/>
              </a:ext>
            </a:extLst>
          </p:cNvPr>
          <p:cNvSpPr>
            <a:spLocks noGrp="1"/>
          </p:cNvSpPr>
          <p:nvPr>
            <p:ph type="sldNum" sz="quarter" idx="21"/>
          </p:nvPr>
        </p:nvSpPr>
        <p:spPr/>
        <p:txBody>
          <a:bodyPr/>
          <a:lstStyle/>
          <a:p>
            <a:fld id="{96D0270E-ECD2-CA4B-BE22-56AEC998461C}" type="slidenum">
              <a:rPr lang="de-DE" smtClean="0"/>
              <a:t>3</a:t>
            </a:fld>
            <a:endParaRPr lang="de-DE"/>
          </a:p>
        </p:txBody>
      </p:sp>
      <p:sp>
        <p:nvSpPr>
          <p:cNvPr id="3" name="CaixaDeTexto 2">
            <a:extLst>
              <a:ext uri="{FF2B5EF4-FFF2-40B4-BE49-F238E27FC236}">
                <a16:creationId xmlns:a16="http://schemas.microsoft.com/office/drawing/2014/main" id="{019C7561-2662-C1A2-8CE4-D8DFF82E76D5}"/>
              </a:ext>
            </a:extLst>
          </p:cNvPr>
          <p:cNvSpPr txBox="1"/>
          <p:nvPr/>
        </p:nvSpPr>
        <p:spPr>
          <a:xfrm>
            <a:off x="565870" y="3788668"/>
            <a:ext cx="11210119"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a:p>
            <a:pPr algn="l"/>
            <a:endParaRPr lang="en-US"/>
          </a:p>
          <a:p>
            <a:endParaRPr lang="en-US"/>
          </a:p>
          <a:p>
            <a:endParaRPr lang="pt-PT"/>
          </a:p>
        </p:txBody>
      </p:sp>
      <p:sp>
        <p:nvSpPr>
          <p:cNvPr id="9" name="Textplatzhalter 2">
            <a:extLst>
              <a:ext uri="{FF2B5EF4-FFF2-40B4-BE49-F238E27FC236}">
                <a16:creationId xmlns:a16="http://schemas.microsoft.com/office/drawing/2014/main" id="{F48AB3DA-9997-1B2C-688B-DFAE5BB06150}"/>
              </a:ext>
            </a:extLst>
          </p:cNvPr>
          <p:cNvSpPr txBox="1">
            <a:spLocks/>
          </p:cNvSpPr>
          <p:nvPr/>
        </p:nvSpPr>
        <p:spPr>
          <a:xfrm>
            <a:off x="332604" y="829450"/>
            <a:ext cx="11016146" cy="540306"/>
          </a:xfrm>
          <a:prstGeom prst="rect">
            <a:avLst/>
          </a:prstGeom>
        </p:spPr>
        <p:txBody>
          <a:bodyPr vert="horz" lIns="0" tIns="45720" rIns="91440" bIns="45720" rtlCol="0" anchor="t">
            <a:noAutofit/>
          </a:bodyPr>
          <a:lstStyle>
            <a:lvl1pPr marL="0" marR="0" indent="0" algn="l" defTabSz="412750" rtl="0" eaLnBrk="1" fontAlgn="auto" latinLnBrk="0" hangingPunct="0">
              <a:lnSpc>
                <a:spcPct val="80000"/>
              </a:lnSpc>
              <a:spcBef>
                <a:spcPts val="0"/>
              </a:spcBef>
              <a:spcAft>
                <a:spcPts val="0"/>
              </a:spcAft>
              <a:buClrTx/>
              <a:buSzTx/>
              <a:buFontTx/>
              <a:buNone/>
              <a:tabLst/>
              <a:defRPr kumimoji="0" lang="en-US" sz="4550" b="0" i="0" u="none" strike="noStrike" kern="1200" cap="none" spc="0" normalizeH="0" baseline="0" dirty="0" smtClean="0">
                <a:ln>
                  <a:noFill/>
                </a:ln>
                <a:solidFill>
                  <a:srgbClr val="000000"/>
                </a:solidFill>
                <a:effectLst/>
                <a:uFillTx/>
                <a:latin typeface="Playfair Display"/>
                <a:ea typeface="Playfair Display"/>
                <a:cs typeface="Playfair Display"/>
                <a:sym typeface="Helvetica Neue"/>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800" b="1">
                <a:solidFill>
                  <a:schemeClr val="tx2">
                    <a:lumMod val="90000"/>
                    <a:lumOff val="10000"/>
                  </a:schemeClr>
                </a:solidFill>
              </a:rPr>
              <a:t>Project Objective</a:t>
            </a:r>
          </a:p>
        </p:txBody>
      </p:sp>
      <p:sp>
        <p:nvSpPr>
          <p:cNvPr id="6" name="Textplatzhalter 1">
            <a:extLst>
              <a:ext uri="{FF2B5EF4-FFF2-40B4-BE49-F238E27FC236}">
                <a16:creationId xmlns:a16="http://schemas.microsoft.com/office/drawing/2014/main" id="{BACC0574-2995-4459-EA89-9B884F6661C6}"/>
              </a:ext>
            </a:extLst>
          </p:cNvPr>
          <p:cNvSpPr>
            <a:spLocks noGrp="1"/>
          </p:cNvSpPr>
          <p:nvPr>
            <p:ph type="body" sz="quarter" idx="13"/>
          </p:nvPr>
        </p:nvSpPr>
        <p:spPr>
          <a:xfrm>
            <a:off x="339691" y="364775"/>
            <a:ext cx="6872065" cy="278339"/>
          </a:xfrm>
        </p:spPr>
        <p:txBody>
          <a:bodyPr vert="horz" lIns="0" tIns="45720" rIns="91440" bIns="45720" rtlCol="0" anchor="t">
            <a:normAutofit/>
          </a:bodyPr>
          <a:lstStyle/>
          <a:p>
            <a:r>
              <a:rPr lang="en-GB">
                <a:latin typeface="Open Sans"/>
                <a:ea typeface="Open Sans"/>
                <a:cs typeface="Open Sans"/>
              </a:rPr>
              <a:t>Group TXB_6 | DATA ECOSYSTEMS &amp; GOVERNANCE IN ORGANIZATIONS</a:t>
            </a:r>
          </a:p>
          <a:p>
            <a:endParaRPr lang="de-DE"/>
          </a:p>
        </p:txBody>
      </p:sp>
      <p:sp>
        <p:nvSpPr>
          <p:cNvPr id="10" name="CaixaDeTexto 2">
            <a:extLst>
              <a:ext uri="{FF2B5EF4-FFF2-40B4-BE49-F238E27FC236}">
                <a16:creationId xmlns:a16="http://schemas.microsoft.com/office/drawing/2014/main" id="{BA60A698-F6F9-33C7-50E0-CCAFAF5866FD}"/>
              </a:ext>
            </a:extLst>
          </p:cNvPr>
          <p:cNvSpPr txBox="1"/>
          <p:nvPr/>
        </p:nvSpPr>
        <p:spPr>
          <a:xfrm>
            <a:off x="257461" y="1219112"/>
            <a:ext cx="9033889"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err="1"/>
              <a:t>NovaCred</a:t>
            </a:r>
            <a:r>
              <a:rPr lang="en-US" sz="2400"/>
              <a:t> received a regulatory inquiry about possible discrimination in lending decisions. </a:t>
            </a:r>
          </a:p>
        </p:txBody>
      </p:sp>
      <p:sp>
        <p:nvSpPr>
          <p:cNvPr id="11" name="Oval 10">
            <a:extLst>
              <a:ext uri="{FF2B5EF4-FFF2-40B4-BE49-F238E27FC236}">
                <a16:creationId xmlns:a16="http://schemas.microsoft.com/office/drawing/2014/main" id="{6F7A4D5C-B8D5-47E0-C991-81A93FACE9FB}"/>
              </a:ext>
            </a:extLst>
          </p:cNvPr>
          <p:cNvSpPr/>
          <p:nvPr/>
        </p:nvSpPr>
        <p:spPr>
          <a:xfrm>
            <a:off x="283344" y="4226083"/>
            <a:ext cx="2036355" cy="1443224"/>
          </a:xfrm>
          <a:prstGeom prst="ellipse">
            <a:avLst/>
          </a:prstGeom>
          <a:gradFill flip="none" rotWithShape="1">
            <a:gsLst>
              <a:gs pos="7000">
                <a:schemeClr val="bg2"/>
              </a:gs>
              <a:gs pos="25000">
                <a:schemeClr val="tx2">
                  <a:lumMod val="25000"/>
                  <a:lumOff val="75000"/>
                </a:schemeClr>
              </a:gs>
              <a:gs pos="67000">
                <a:schemeClr val="tx2">
                  <a:lumMod val="25000"/>
                  <a:lumOff val="75000"/>
                </a:schemeClr>
              </a:gs>
              <a:gs pos="100000">
                <a:schemeClr val="tx2">
                  <a:lumMod val="10000"/>
                  <a:lumOff val="90000"/>
                  <a:shade val="100000"/>
                  <a:satMod val="115000"/>
                </a:schemeClr>
              </a:gs>
            </a:gsLst>
            <a:lin ang="13500000" scaled="1"/>
            <a:tileRect/>
          </a:gradFill>
          <a:ln w="12700">
            <a:noFill/>
            <a:prstDash val="solid"/>
          </a:ln>
          <a:effectLst>
            <a:innerShdw blurRad="63500" dist="50800" dir="8100000">
              <a:prstClr val="black">
                <a:alpha val="50000"/>
              </a:prstClr>
            </a:innerShdw>
          </a:effectLst>
        </p:spPr>
        <p:txBody>
          <a:bodyPr anchor="ctr"/>
          <a:lstStyle/>
          <a:p>
            <a:pPr algn="ctr"/>
            <a:r>
              <a:rPr lang="en-PT" b="1">
                <a:solidFill>
                  <a:schemeClr val="tx2">
                    <a:lumMod val="75000"/>
                    <a:lumOff val="25000"/>
                  </a:schemeClr>
                </a:solidFill>
              </a:rPr>
              <a:t>Dataset</a:t>
            </a:r>
          </a:p>
        </p:txBody>
      </p:sp>
      <p:sp>
        <p:nvSpPr>
          <p:cNvPr id="17" name="Oval 16">
            <a:extLst>
              <a:ext uri="{FF2B5EF4-FFF2-40B4-BE49-F238E27FC236}">
                <a16:creationId xmlns:a16="http://schemas.microsoft.com/office/drawing/2014/main" id="{7C957F71-BE3D-1F02-8984-F740E1C7BFE9}"/>
              </a:ext>
            </a:extLst>
          </p:cNvPr>
          <p:cNvSpPr/>
          <p:nvPr/>
        </p:nvSpPr>
        <p:spPr>
          <a:xfrm>
            <a:off x="2672506" y="4226083"/>
            <a:ext cx="2036357" cy="1448339"/>
          </a:xfrm>
          <a:prstGeom prst="ellipse">
            <a:avLst/>
          </a:prstGeom>
          <a:blipFill dpi="0" rotWithShape="1">
            <a:blip r:embed="rId6">
              <a:alphaModFix amt="37000"/>
            </a:blip>
            <a:srcRect/>
            <a:tile tx="0" ty="0" sx="100000" sy="100000" flip="none" algn="tl"/>
          </a:blipFill>
          <a:ln w="12700">
            <a:noFill/>
            <a:prstDash val="solid"/>
          </a:ln>
          <a:effectLst>
            <a:innerShdw blurRad="63500" dist="50800" dir="8100000">
              <a:prstClr val="black">
                <a:alpha val="50000"/>
              </a:prstClr>
            </a:innerShdw>
          </a:effectLst>
        </p:spPr>
        <p:txBody>
          <a:bodyPr anchor="ctr"/>
          <a:lstStyle/>
          <a:p>
            <a:pPr algn="ctr"/>
            <a:r>
              <a:rPr lang="en-PT" b="1">
                <a:solidFill>
                  <a:schemeClr val="tx2">
                    <a:lumMod val="75000"/>
                    <a:lumOff val="25000"/>
                  </a:schemeClr>
                </a:solidFill>
              </a:rPr>
              <a:t>Data quality</a:t>
            </a:r>
          </a:p>
        </p:txBody>
      </p:sp>
      <p:sp>
        <p:nvSpPr>
          <p:cNvPr id="18" name="Oval 17">
            <a:extLst>
              <a:ext uri="{FF2B5EF4-FFF2-40B4-BE49-F238E27FC236}">
                <a16:creationId xmlns:a16="http://schemas.microsoft.com/office/drawing/2014/main" id="{CC3048F9-AE01-134D-E798-F2BA277E7C1E}"/>
              </a:ext>
            </a:extLst>
          </p:cNvPr>
          <p:cNvSpPr/>
          <p:nvPr/>
        </p:nvSpPr>
        <p:spPr>
          <a:xfrm>
            <a:off x="5061667" y="4232869"/>
            <a:ext cx="2036354" cy="1455125"/>
          </a:xfrm>
          <a:prstGeom prst="ellipse">
            <a:avLst/>
          </a:prstGeom>
          <a:gradFill flip="none" rotWithShape="1">
            <a:gsLst>
              <a:gs pos="7000">
                <a:schemeClr val="bg2"/>
              </a:gs>
              <a:gs pos="25000">
                <a:schemeClr val="tx2">
                  <a:lumMod val="25000"/>
                  <a:lumOff val="75000"/>
                </a:schemeClr>
              </a:gs>
              <a:gs pos="67000">
                <a:schemeClr val="tx2">
                  <a:lumMod val="25000"/>
                  <a:lumOff val="75000"/>
                </a:schemeClr>
              </a:gs>
              <a:gs pos="100000">
                <a:schemeClr val="tx2">
                  <a:lumMod val="10000"/>
                  <a:lumOff val="90000"/>
                  <a:shade val="100000"/>
                  <a:satMod val="115000"/>
                </a:schemeClr>
              </a:gs>
            </a:gsLst>
            <a:lin ang="16200000" scaled="1"/>
            <a:tileRect/>
          </a:gradFill>
          <a:ln w="12700">
            <a:noFill/>
            <a:prstDash val="solid"/>
          </a:ln>
          <a:effectLst>
            <a:innerShdw blurRad="63500" dist="50800" dir="8100000">
              <a:prstClr val="black">
                <a:alpha val="50000"/>
              </a:prstClr>
            </a:innerShdw>
          </a:effectLst>
        </p:spPr>
        <p:txBody>
          <a:bodyPr anchor="ctr"/>
          <a:lstStyle/>
          <a:p>
            <a:pPr algn="ctr"/>
            <a:r>
              <a:rPr lang="en-PT" b="1">
                <a:solidFill>
                  <a:schemeClr val="tx2">
                    <a:lumMod val="75000"/>
                    <a:lumOff val="25000"/>
                  </a:schemeClr>
                </a:solidFill>
              </a:rPr>
              <a:t>Bias Analysis</a:t>
            </a:r>
          </a:p>
        </p:txBody>
      </p:sp>
      <p:sp>
        <p:nvSpPr>
          <p:cNvPr id="19" name="Oval 18">
            <a:extLst>
              <a:ext uri="{FF2B5EF4-FFF2-40B4-BE49-F238E27FC236}">
                <a16:creationId xmlns:a16="http://schemas.microsoft.com/office/drawing/2014/main" id="{5AC1F750-F759-6ECF-5C75-8C8AEB5BB4AE}"/>
              </a:ext>
            </a:extLst>
          </p:cNvPr>
          <p:cNvSpPr/>
          <p:nvPr/>
        </p:nvSpPr>
        <p:spPr>
          <a:xfrm>
            <a:off x="7450825" y="4232870"/>
            <a:ext cx="2036356" cy="1436437"/>
          </a:xfrm>
          <a:prstGeom prst="ellipse">
            <a:avLst/>
          </a:prstGeom>
          <a:blipFill dpi="0" rotWithShape="1">
            <a:blip r:embed="rId6">
              <a:alphaModFix amt="43155"/>
            </a:blip>
            <a:srcRect/>
            <a:tile tx="0" ty="0" sx="100000" sy="100000" flip="none" algn="tl"/>
          </a:blipFill>
          <a:ln w="12700">
            <a:noFill/>
            <a:prstDash val="solid"/>
          </a:ln>
          <a:effectLst>
            <a:innerShdw blurRad="63500" dist="50800" dir="8100000">
              <a:prstClr val="black">
                <a:alpha val="50000"/>
              </a:prstClr>
            </a:innerShdw>
          </a:effectLst>
        </p:spPr>
        <p:txBody>
          <a:bodyPr anchor="ctr"/>
          <a:lstStyle/>
          <a:p>
            <a:pPr algn="ctr"/>
            <a:r>
              <a:rPr lang="en-PT" b="1">
                <a:solidFill>
                  <a:schemeClr val="tx2">
                    <a:lumMod val="75000"/>
                    <a:lumOff val="25000"/>
                  </a:schemeClr>
                </a:solidFill>
              </a:rPr>
              <a:t>Privacy Review</a:t>
            </a:r>
          </a:p>
        </p:txBody>
      </p:sp>
      <p:sp>
        <p:nvSpPr>
          <p:cNvPr id="20" name="Oval 19">
            <a:extLst>
              <a:ext uri="{FF2B5EF4-FFF2-40B4-BE49-F238E27FC236}">
                <a16:creationId xmlns:a16="http://schemas.microsoft.com/office/drawing/2014/main" id="{3998BAF5-74BE-0D4D-272C-261E5E4669AC}"/>
              </a:ext>
            </a:extLst>
          </p:cNvPr>
          <p:cNvSpPr/>
          <p:nvPr/>
        </p:nvSpPr>
        <p:spPr>
          <a:xfrm>
            <a:off x="9839985" y="4226083"/>
            <a:ext cx="2047216" cy="1443224"/>
          </a:xfrm>
          <a:prstGeom prst="ellipse">
            <a:avLst/>
          </a:prstGeom>
          <a:gradFill flip="none" rotWithShape="1">
            <a:gsLst>
              <a:gs pos="7000">
                <a:schemeClr val="bg2"/>
              </a:gs>
              <a:gs pos="25000">
                <a:schemeClr val="tx2">
                  <a:lumMod val="25000"/>
                  <a:lumOff val="75000"/>
                </a:schemeClr>
              </a:gs>
              <a:gs pos="67000">
                <a:schemeClr val="tx2">
                  <a:lumMod val="25000"/>
                  <a:lumOff val="75000"/>
                </a:schemeClr>
              </a:gs>
              <a:gs pos="100000">
                <a:schemeClr val="tx2">
                  <a:lumMod val="10000"/>
                  <a:lumOff val="90000"/>
                  <a:shade val="100000"/>
                  <a:satMod val="115000"/>
                </a:schemeClr>
              </a:gs>
            </a:gsLst>
            <a:lin ang="16200000" scaled="1"/>
            <a:tileRect/>
          </a:gradFill>
          <a:ln w="12700">
            <a:noFill/>
            <a:prstDash val="solid"/>
          </a:ln>
          <a:effectLst>
            <a:innerShdw blurRad="63500" dist="50800" dir="8100000">
              <a:prstClr val="black">
                <a:alpha val="50000"/>
              </a:prstClr>
            </a:innerShdw>
          </a:effectLst>
        </p:spPr>
        <p:txBody>
          <a:bodyPr anchor="ctr"/>
          <a:lstStyle/>
          <a:p>
            <a:pPr algn="ctr"/>
            <a:r>
              <a:rPr lang="en-PT" b="1">
                <a:solidFill>
                  <a:schemeClr val="tx2">
                    <a:lumMod val="75000"/>
                    <a:lumOff val="25000"/>
                  </a:schemeClr>
                </a:solidFill>
              </a:rPr>
              <a:t>Governance Sugestions</a:t>
            </a:r>
          </a:p>
        </p:txBody>
      </p:sp>
      <p:sp>
        <p:nvSpPr>
          <p:cNvPr id="12" name="平行四边形 11">
            <a:extLst>
              <a:ext uri="{FF2B5EF4-FFF2-40B4-BE49-F238E27FC236}">
                <a16:creationId xmlns:a16="http://schemas.microsoft.com/office/drawing/2014/main" id="{E3458B86-7855-4A1E-1BC1-DEE365F02EC3}"/>
              </a:ext>
            </a:extLst>
          </p:cNvPr>
          <p:cNvSpPr/>
          <p:nvPr/>
        </p:nvSpPr>
        <p:spPr>
          <a:xfrm>
            <a:off x="4906077" y="3711597"/>
            <a:ext cx="5794970" cy="339866"/>
          </a:xfrm>
          <a:prstGeom prst="parallelogram">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800">
                <a:solidFill>
                  <a:schemeClr val="tx2">
                    <a:lumMod val="90000"/>
                    <a:lumOff val="10000"/>
                  </a:schemeClr>
                </a:solidFill>
              </a:rPr>
              <a:t>Propose </a:t>
            </a:r>
            <a:r>
              <a:rPr lang="en-US" altLang="zh-CN" sz="1800" b="1">
                <a:solidFill>
                  <a:schemeClr val="tx2">
                    <a:lumMod val="90000"/>
                    <a:lumOff val="10000"/>
                  </a:schemeClr>
                </a:solidFill>
              </a:rPr>
              <a:t>governance improvements</a:t>
            </a:r>
          </a:p>
        </p:txBody>
      </p:sp>
      <p:sp>
        <p:nvSpPr>
          <p:cNvPr id="13" name="平行四边形 12">
            <a:extLst>
              <a:ext uri="{FF2B5EF4-FFF2-40B4-BE49-F238E27FC236}">
                <a16:creationId xmlns:a16="http://schemas.microsoft.com/office/drawing/2014/main" id="{5C1CF30B-A57E-05D6-F75D-508E951AE10D}"/>
              </a:ext>
            </a:extLst>
          </p:cNvPr>
          <p:cNvSpPr/>
          <p:nvPr/>
        </p:nvSpPr>
        <p:spPr>
          <a:xfrm>
            <a:off x="878238" y="2050510"/>
            <a:ext cx="5794970" cy="339866"/>
          </a:xfrm>
          <a:prstGeom prst="parallelogram">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800">
                <a:solidFill>
                  <a:schemeClr val="tx2">
                    <a:lumMod val="90000"/>
                    <a:lumOff val="10000"/>
                  </a:schemeClr>
                </a:solidFill>
              </a:rPr>
              <a:t>Audit the dataset for </a:t>
            </a:r>
            <a:r>
              <a:rPr lang="en-US" altLang="zh-CN" sz="1800" b="1">
                <a:solidFill>
                  <a:schemeClr val="tx2">
                    <a:lumMod val="90000"/>
                    <a:lumOff val="10000"/>
                  </a:schemeClr>
                </a:solidFill>
              </a:rPr>
              <a:t>data quality</a:t>
            </a:r>
            <a:r>
              <a:rPr lang="en-US" altLang="zh-CN" sz="1800">
                <a:solidFill>
                  <a:schemeClr val="tx2">
                    <a:lumMod val="90000"/>
                    <a:lumOff val="10000"/>
                  </a:schemeClr>
                </a:solidFill>
              </a:rPr>
              <a:t> issues</a:t>
            </a:r>
          </a:p>
        </p:txBody>
      </p:sp>
      <p:sp>
        <p:nvSpPr>
          <p:cNvPr id="14" name="平行四边形 13">
            <a:extLst>
              <a:ext uri="{FF2B5EF4-FFF2-40B4-BE49-F238E27FC236}">
                <a16:creationId xmlns:a16="http://schemas.microsoft.com/office/drawing/2014/main" id="{D2D6480E-30C5-704B-4F71-856E1EE76C80}"/>
              </a:ext>
            </a:extLst>
          </p:cNvPr>
          <p:cNvSpPr/>
          <p:nvPr/>
        </p:nvSpPr>
        <p:spPr>
          <a:xfrm>
            <a:off x="2402137" y="2600681"/>
            <a:ext cx="5794970" cy="339866"/>
          </a:xfrm>
          <a:prstGeom prst="parallelogram">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800">
                <a:solidFill>
                  <a:schemeClr val="tx2">
                    <a:lumMod val="90000"/>
                    <a:lumOff val="10000"/>
                  </a:schemeClr>
                </a:solidFill>
              </a:rPr>
              <a:t>Detect </a:t>
            </a:r>
            <a:r>
              <a:rPr lang="en-US" altLang="zh-CN" sz="1800" b="1">
                <a:solidFill>
                  <a:schemeClr val="tx2">
                    <a:lumMod val="90000"/>
                    <a:lumOff val="10000"/>
                  </a:schemeClr>
                </a:solidFill>
              </a:rPr>
              <a:t>potential bias </a:t>
            </a:r>
            <a:r>
              <a:rPr lang="en-US" altLang="zh-CN" sz="1800">
                <a:solidFill>
                  <a:schemeClr val="tx2">
                    <a:lumMod val="90000"/>
                    <a:lumOff val="10000"/>
                  </a:schemeClr>
                </a:solidFill>
              </a:rPr>
              <a:t>in lending decisions</a:t>
            </a:r>
          </a:p>
        </p:txBody>
      </p:sp>
      <p:sp>
        <p:nvSpPr>
          <p:cNvPr id="16" name="平行四边形 15">
            <a:extLst>
              <a:ext uri="{FF2B5EF4-FFF2-40B4-BE49-F238E27FC236}">
                <a16:creationId xmlns:a16="http://schemas.microsoft.com/office/drawing/2014/main" id="{5CDB1322-4BC2-7A2C-CEFE-545F8A5E6B89}"/>
              </a:ext>
            </a:extLst>
          </p:cNvPr>
          <p:cNvSpPr/>
          <p:nvPr/>
        </p:nvSpPr>
        <p:spPr>
          <a:xfrm>
            <a:off x="3803727" y="3149284"/>
            <a:ext cx="5794970" cy="339866"/>
          </a:xfrm>
          <a:prstGeom prst="parallelogram">
            <a:avLst/>
          </a:prstGeom>
          <a:gradFill>
            <a:gsLst>
              <a:gs pos="0">
                <a:schemeClr val="accent1">
                  <a:lumMod val="5000"/>
                  <a:lumOff val="95000"/>
                </a:schemeClr>
              </a:gs>
              <a:gs pos="68000">
                <a:schemeClr val="accent1">
                  <a:lumMod val="45000"/>
                  <a:lumOff val="55000"/>
                </a:schemeClr>
              </a:gs>
              <a:gs pos="94000">
                <a:schemeClr val="accent1">
                  <a:lumMod val="45000"/>
                  <a:lumOff val="55000"/>
                </a:schemeClr>
              </a:gs>
              <a:gs pos="100000">
                <a:schemeClr val="accent1">
                  <a:lumMod val="30000"/>
                  <a:lumOff val="7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dirty="0">
                <a:solidFill>
                  <a:schemeClr val="tx2">
                    <a:lumMod val="90000"/>
                    <a:lumOff val="10000"/>
                  </a:schemeClr>
                </a:solidFill>
              </a:rPr>
              <a:t>Evaluate</a:t>
            </a:r>
            <a:r>
              <a:rPr lang="en-US" altLang="zh-CN" b="1" dirty="0">
                <a:solidFill>
                  <a:schemeClr val="tx2">
                    <a:lumMod val="90000"/>
                    <a:lumOff val="10000"/>
                  </a:schemeClr>
                </a:solidFill>
              </a:rPr>
              <a:t> privacy </a:t>
            </a:r>
            <a:r>
              <a:rPr lang="en-US" altLang="zh-CN" dirty="0">
                <a:solidFill>
                  <a:schemeClr val="tx2">
                    <a:lumMod val="90000"/>
                    <a:lumOff val="10000"/>
                  </a:schemeClr>
                </a:solidFill>
              </a:rPr>
              <a:t>and</a:t>
            </a:r>
            <a:r>
              <a:rPr lang="en-US" altLang="zh-CN" b="1" dirty="0">
                <a:solidFill>
                  <a:schemeClr val="tx2">
                    <a:lumMod val="90000"/>
                    <a:lumOff val="10000"/>
                  </a:schemeClr>
                </a:solidFill>
              </a:rPr>
              <a:t> GDPR compliance</a:t>
            </a:r>
            <a:endParaRPr lang="en-US" altLang="zh-CN" sz="1800" b="1" dirty="0">
              <a:solidFill>
                <a:schemeClr val="tx2">
                  <a:lumMod val="90000"/>
                  <a:lumOff val="10000"/>
                </a:schemeClr>
              </a:solidFill>
            </a:endParaRPr>
          </a:p>
        </p:txBody>
      </p:sp>
    </p:spTree>
    <p:extLst>
      <p:ext uri="{BB962C8B-B14F-4D97-AF65-F5344CB8AC3E}">
        <p14:creationId xmlns:p14="http://schemas.microsoft.com/office/powerpoint/2010/main" val="504105447"/>
      </p:ext>
    </p:extLst>
  </p:cSld>
  <p:clrMapOvr>
    <a:masterClrMapping/>
  </p:clrMapOvr>
  <p:transition spd="med" advTm="22731"/>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29B8B-9C99-322E-DEE1-302CF09C9737}"/>
            </a:ext>
          </a:extLst>
        </p:cNvPr>
        <p:cNvGrpSpPr/>
        <p:nvPr/>
      </p:nvGrpSpPr>
      <p:grpSpPr>
        <a:xfrm>
          <a:off x="0" y="0"/>
          <a:ext cx="0" cy="0"/>
          <a:chOff x="0" y="0"/>
          <a:chExt cx="0" cy="0"/>
        </a:xfrm>
      </p:grpSpPr>
      <p:sp>
        <p:nvSpPr>
          <p:cNvPr id="2" name="矩形标注 1">
            <a:extLst>
              <a:ext uri="{FF2B5EF4-FFF2-40B4-BE49-F238E27FC236}">
                <a16:creationId xmlns:a16="http://schemas.microsoft.com/office/drawing/2014/main" id="{19910B77-DEF6-3EFE-32BF-282FDBFAB5EF}"/>
              </a:ext>
            </a:extLst>
          </p:cNvPr>
          <p:cNvSpPr/>
          <p:nvPr/>
        </p:nvSpPr>
        <p:spPr>
          <a:xfrm>
            <a:off x="339691" y="1292494"/>
            <a:ext cx="8951660" cy="4447862"/>
          </a:xfrm>
          <a:prstGeom prst="wedgeRectCallout">
            <a:avLst>
              <a:gd name="adj1" fmla="val -39622"/>
              <a:gd name="adj2" fmla="val 48424"/>
            </a:avLst>
          </a:prstGeom>
          <a:solidFill>
            <a:schemeClr val="tx2">
              <a:lumMod val="10000"/>
              <a:lumOff val="90000"/>
            </a:schemeClr>
          </a:solidFill>
          <a:ln>
            <a:noFill/>
          </a:ln>
          <a:effectLst>
            <a:outerShdw blurRad="50800" dist="38100" dir="18900000" algn="b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aphicFrame>
        <p:nvGraphicFramePr>
          <p:cNvPr id="15" name="think-cell data - do not delete" hidden="1">
            <a:extLst>
              <a:ext uri="{FF2B5EF4-FFF2-40B4-BE49-F238E27FC236}">
                <a16:creationId xmlns:a16="http://schemas.microsoft.com/office/drawing/2014/main" id="{6BDC32BF-666A-00FC-40E1-384234E37A1C}"/>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Folie" r:id="rId4" imgW="7772400" imgH="10058400" progId="TCLayout.ActiveDocument.1">
                  <p:embed/>
                </p:oleObj>
              </mc:Choice>
              <mc:Fallback>
                <p:oleObj name="think-cell Folie" r:id="rId4" imgW="7772400" imgH="10058400" progId="TCLayout.ActiveDocument.1">
                  <p:embed/>
                  <p:pic>
                    <p:nvPicPr>
                      <p:cNvPr id="15" name="think-cell data - do not delete" hidden="1">
                        <a:extLst>
                          <a:ext uri="{FF2B5EF4-FFF2-40B4-BE49-F238E27FC236}">
                            <a16:creationId xmlns:a16="http://schemas.microsoft.com/office/drawing/2014/main" id="{6BDC32BF-666A-00FC-40E1-384234E37A1C}"/>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Foliennummernplatzhalter 4">
            <a:extLst>
              <a:ext uri="{FF2B5EF4-FFF2-40B4-BE49-F238E27FC236}">
                <a16:creationId xmlns:a16="http://schemas.microsoft.com/office/drawing/2014/main" id="{09A20DEA-3715-DA24-0171-39DC1CBD46A4}"/>
              </a:ext>
            </a:extLst>
          </p:cNvPr>
          <p:cNvSpPr>
            <a:spLocks noGrp="1"/>
          </p:cNvSpPr>
          <p:nvPr>
            <p:ph type="sldNum" sz="quarter" idx="21"/>
          </p:nvPr>
        </p:nvSpPr>
        <p:spPr/>
        <p:txBody>
          <a:bodyPr/>
          <a:lstStyle/>
          <a:p>
            <a:fld id="{96D0270E-ECD2-CA4B-BE22-56AEC998461C}" type="slidenum">
              <a:rPr lang="de-DE" smtClean="0"/>
              <a:t>4</a:t>
            </a:fld>
            <a:endParaRPr lang="de-DE"/>
          </a:p>
        </p:txBody>
      </p:sp>
      <p:sp>
        <p:nvSpPr>
          <p:cNvPr id="9" name="Textplatzhalter 2">
            <a:extLst>
              <a:ext uri="{FF2B5EF4-FFF2-40B4-BE49-F238E27FC236}">
                <a16:creationId xmlns:a16="http://schemas.microsoft.com/office/drawing/2014/main" id="{E18BBD5E-7743-6F2D-01E5-1121B0915A54}"/>
              </a:ext>
            </a:extLst>
          </p:cNvPr>
          <p:cNvSpPr txBox="1">
            <a:spLocks/>
          </p:cNvSpPr>
          <p:nvPr/>
        </p:nvSpPr>
        <p:spPr>
          <a:xfrm>
            <a:off x="332604" y="829450"/>
            <a:ext cx="11016146" cy="540306"/>
          </a:xfrm>
          <a:prstGeom prst="rect">
            <a:avLst/>
          </a:prstGeom>
        </p:spPr>
        <p:txBody>
          <a:bodyPr vert="horz" lIns="0" tIns="45720" rIns="91440" bIns="45720" rtlCol="0" anchor="t">
            <a:noAutofit/>
          </a:bodyPr>
          <a:lstStyle>
            <a:lvl1pPr marL="0" marR="0" indent="0" algn="l" defTabSz="412750" rtl="0" eaLnBrk="1" fontAlgn="auto" latinLnBrk="0" hangingPunct="0">
              <a:lnSpc>
                <a:spcPct val="80000"/>
              </a:lnSpc>
              <a:spcBef>
                <a:spcPts val="0"/>
              </a:spcBef>
              <a:spcAft>
                <a:spcPts val="0"/>
              </a:spcAft>
              <a:buClrTx/>
              <a:buSzTx/>
              <a:buFontTx/>
              <a:buNone/>
              <a:tabLst/>
              <a:defRPr kumimoji="0" lang="en-US" sz="4550" b="0" i="0" u="none" strike="noStrike" kern="1200" cap="none" spc="0" normalizeH="0" baseline="0" dirty="0" smtClean="0">
                <a:ln>
                  <a:noFill/>
                </a:ln>
                <a:solidFill>
                  <a:srgbClr val="000000"/>
                </a:solidFill>
                <a:effectLst/>
                <a:uFillTx/>
                <a:latin typeface="Playfair Display"/>
                <a:ea typeface="Playfair Display"/>
                <a:cs typeface="Playfair Display"/>
                <a:sym typeface="Helvetica Neue"/>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800" b="1">
                <a:solidFill>
                  <a:schemeClr val="tx2">
                    <a:lumMod val="90000"/>
                    <a:lumOff val="10000"/>
                  </a:schemeClr>
                </a:solidFill>
              </a:rPr>
              <a:t>Dataset Overview</a:t>
            </a:r>
          </a:p>
        </p:txBody>
      </p:sp>
      <p:sp>
        <p:nvSpPr>
          <p:cNvPr id="6" name="Textplatzhalter 1">
            <a:extLst>
              <a:ext uri="{FF2B5EF4-FFF2-40B4-BE49-F238E27FC236}">
                <a16:creationId xmlns:a16="http://schemas.microsoft.com/office/drawing/2014/main" id="{44B736DC-8253-F1D1-CF9A-44B2F237B2EE}"/>
              </a:ext>
            </a:extLst>
          </p:cNvPr>
          <p:cNvSpPr>
            <a:spLocks noGrp="1"/>
          </p:cNvSpPr>
          <p:nvPr>
            <p:ph type="body" sz="quarter" idx="13"/>
          </p:nvPr>
        </p:nvSpPr>
        <p:spPr>
          <a:xfrm>
            <a:off x="339691" y="364775"/>
            <a:ext cx="6872065" cy="278339"/>
          </a:xfrm>
        </p:spPr>
        <p:txBody>
          <a:bodyPr vert="horz" lIns="0" tIns="45720" rIns="91440" bIns="45720" rtlCol="0" anchor="t">
            <a:normAutofit/>
          </a:bodyPr>
          <a:lstStyle/>
          <a:p>
            <a:r>
              <a:rPr lang="en-GB">
                <a:latin typeface="Open Sans"/>
                <a:ea typeface="Open Sans"/>
                <a:cs typeface="Open Sans"/>
              </a:rPr>
              <a:t>Group TXB_6 | DATA ECOSYSTEMS &amp; GOVERNANCE IN ORGANIZATIONS</a:t>
            </a:r>
          </a:p>
          <a:p>
            <a:endParaRPr lang="de-DE"/>
          </a:p>
        </p:txBody>
      </p:sp>
      <p:pic>
        <p:nvPicPr>
          <p:cNvPr id="4" name="Imagem 3" descr="Uma imagem com texto, captura de ecrã, Tipo de letra, número&#10;&#10;Os conteúdos gerados por IA poderão estar incorretos.">
            <a:extLst>
              <a:ext uri="{FF2B5EF4-FFF2-40B4-BE49-F238E27FC236}">
                <a16:creationId xmlns:a16="http://schemas.microsoft.com/office/drawing/2014/main" id="{D1A1E878-40F0-179B-CFB6-91560B5E3BD3}"/>
              </a:ext>
            </a:extLst>
          </p:cNvPr>
          <p:cNvPicPr>
            <a:picLocks noChangeAspect="1"/>
          </p:cNvPicPr>
          <p:nvPr/>
        </p:nvPicPr>
        <p:blipFill>
          <a:blip r:embed="rId6">
            <a:duotone>
              <a:schemeClr val="accent1">
                <a:shade val="45000"/>
                <a:satMod val="135000"/>
              </a:schemeClr>
              <a:prstClr val="white"/>
            </a:duotone>
            <a:alphaModFix amt="70000"/>
            <a:extLst>
              <a:ext uri="{BEBA8EAE-BF5A-486C-A8C5-ECC9F3942E4B}">
                <a14:imgProps xmlns:a14="http://schemas.microsoft.com/office/drawing/2010/main">
                  <a14:imgLayer r:embed="rId7">
                    <a14:imgEffect>
                      <a14:colorTemperature colorTemp="11200"/>
                    </a14:imgEffect>
                    <a14:imgEffect>
                      <a14:saturation sat="200000"/>
                    </a14:imgEffect>
                  </a14:imgLayer>
                </a14:imgProps>
              </a:ext>
            </a:extLst>
          </a:blip>
          <a:stretch>
            <a:fillRect/>
          </a:stretch>
        </p:blipFill>
        <p:spPr>
          <a:xfrm>
            <a:off x="8793329" y="3000375"/>
            <a:ext cx="2867026" cy="2571750"/>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
        <p:nvSpPr>
          <p:cNvPr id="10" name="CaixaDeTexto 2">
            <a:extLst>
              <a:ext uri="{FF2B5EF4-FFF2-40B4-BE49-F238E27FC236}">
                <a16:creationId xmlns:a16="http://schemas.microsoft.com/office/drawing/2014/main" id="{10C6A04C-A92D-6D57-6541-EC77E150CAFC}"/>
              </a:ext>
            </a:extLst>
          </p:cNvPr>
          <p:cNvSpPr txBox="1"/>
          <p:nvPr/>
        </p:nvSpPr>
        <p:spPr>
          <a:xfrm>
            <a:off x="339691" y="1369756"/>
            <a:ext cx="11210119" cy="53553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chemeClr val="tx2">
                    <a:lumMod val="90000"/>
                    <a:lumOff val="10000"/>
                  </a:schemeClr>
                </a:solidFill>
                <a:ea typeface="+mn-lt"/>
                <a:cs typeface="+mn-lt"/>
              </a:rPr>
              <a:t>Dataset size:</a:t>
            </a:r>
            <a:r>
              <a:rPr lang="en-US">
                <a:solidFill>
                  <a:schemeClr val="tx2">
                    <a:lumMod val="90000"/>
                    <a:lumOff val="10000"/>
                  </a:schemeClr>
                </a:solidFill>
                <a:ea typeface="+mn-lt"/>
                <a:cs typeface="+mn-lt"/>
              </a:rPr>
              <a:t> 502 loan application records × 8 raw columns</a:t>
            </a:r>
            <a:endParaRPr lang="en-US">
              <a:solidFill>
                <a:schemeClr val="tx2">
                  <a:lumMod val="90000"/>
                  <a:lumOff val="10000"/>
                </a:schemeClr>
              </a:solidFill>
            </a:endParaRPr>
          </a:p>
          <a:p>
            <a:endParaRPr lang="en-US">
              <a:solidFill>
                <a:schemeClr val="tx2">
                  <a:lumMod val="90000"/>
                  <a:lumOff val="10000"/>
                </a:schemeClr>
              </a:solidFill>
              <a:ea typeface="+mn-lt"/>
              <a:cs typeface="+mn-lt"/>
            </a:endParaRPr>
          </a:p>
          <a:p>
            <a:r>
              <a:rPr lang="en-US" b="1">
                <a:solidFill>
                  <a:schemeClr val="tx2">
                    <a:lumMod val="90000"/>
                    <a:lumOff val="10000"/>
                  </a:schemeClr>
                </a:solidFill>
                <a:ea typeface="+mn-lt"/>
                <a:cs typeface="+mn-lt"/>
              </a:rPr>
              <a:t>Data format:</a:t>
            </a:r>
            <a:r>
              <a:rPr lang="en-US">
                <a:solidFill>
                  <a:schemeClr val="tx2">
                    <a:lumMod val="90000"/>
                    <a:lumOff val="10000"/>
                  </a:schemeClr>
                </a:solidFill>
                <a:ea typeface="+mn-lt"/>
                <a:cs typeface="+mn-lt"/>
              </a:rPr>
              <a:t> Semi-structured JSON with several </a:t>
            </a:r>
            <a:r>
              <a:rPr lang="en-US" b="1">
                <a:solidFill>
                  <a:schemeClr val="tx2">
                    <a:lumMod val="90000"/>
                    <a:lumOff val="10000"/>
                  </a:schemeClr>
                </a:solidFill>
                <a:ea typeface="+mn-lt"/>
                <a:cs typeface="+mn-lt"/>
              </a:rPr>
              <a:t>nested </a:t>
            </a:r>
            <a:r>
              <a:rPr lang="en-US">
                <a:solidFill>
                  <a:schemeClr val="tx2">
                    <a:lumMod val="90000"/>
                    <a:lumOff val="10000"/>
                  </a:schemeClr>
                </a:solidFill>
                <a:ea typeface="+mn-lt"/>
                <a:cs typeface="+mn-lt"/>
              </a:rPr>
              <a:t>object columns</a:t>
            </a:r>
            <a:endParaRPr lang="en-US">
              <a:solidFill>
                <a:schemeClr val="tx2">
                  <a:lumMod val="90000"/>
                  <a:lumOff val="10000"/>
                </a:schemeClr>
              </a:solidFill>
            </a:endParaRPr>
          </a:p>
          <a:p>
            <a:endParaRPr lang="en-US">
              <a:solidFill>
                <a:schemeClr val="tx2">
                  <a:lumMod val="90000"/>
                  <a:lumOff val="10000"/>
                </a:schemeClr>
              </a:solidFill>
            </a:endParaRPr>
          </a:p>
          <a:p>
            <a:r>
              <a:rPr lang="en-US" b="1">
                <a:solidFill>
                  <a:schemeClr val="tx2">
                    <a:lumMod val="90000"/>
                    <a:lumOff val="10000"/>
                  </a:schemeClr>
                </a:solidFill>
              </a:rPr>
              <a:t>Core raw fields:</a:t>
            </a:r>
          </a:p>
          <a:p>
            <a:pPr marL="742950" lvl="1" indent="-285750">
              <a:buFont typeface="Courier New"/>
              <a:buChar char="o"/>
            </a:pPr>
            <a:r>
              <a:rPr lang="en-US">
                <a:solidFill>
                  <a:schemeClr val="tx2">
                    <a:lumMod val="90000"/>
                    <a:lumOff val="10000"/>
                  </a:schemeClr>
                </a:solidFill>
              </a:rPr>
              <a:t>_id</a:t>
            </a:r>
          </a:p>
          <a:p>
            <a:pPr marL="742950" lvl="1" indent="-285750" algn="l">
              <a:buFont typeface="Courier New"/>
              <a:buChar char="o"/>
            </a:pPr>
            <a:r>
              <a:rPr lang="en-US" err="1">
                <a:solidFill>
                  <a:schemeClr val="tx2">
                    <a:lumMod val="90000"/>
                    <a:lumOff val="10000"/>
                  </a:schemeClr>
                </a:solidFill>
              </a:rPr>
              <a:t>applicant_info</a:t>
            </a:r>
            <a:endParaRPr lang="en-US">
              <a:solidFill>
                <a:schemeClr val="tx2">
                  <a:lumMod val="90000"/>
                  <a:lumOff val="10000"/>
                </a:schemeClr>
              </a:solidFill>
            </a:endParaRPr>
          </a:p>
          <a:p>
            <a:pPr marL="742950" lvl="1" indent="-285750">
              <a:buFont typeface="Courier New"/>
              <a:buChar char="o"/>
            </a:pPr>
            <a:r>
              <a:rPr lang="en-US">
                <a:solidFill>
                  <a:schemeClr val="tx2">
                    <a:lumMod val="90000"/>
                    <a:lumOff val="10000"/>
                  </a:schemeClr>
                </a:solidFill>
              </a:rPr>
              <a:t>financials  </a:t>
            </a:r>
          </a:p>
          <a:p>
            <a:pPr marL="742950" lvl="1" indent="-285750">
              <a:buFont typeface="Courier New"/>
              <a:buChar char="o"/>
            </a:pPr>
            <a:r>
              <a:rPr lang="en-US" err="1">
                <a:solidFill>
                  <a:schemeClr val="tx2">
                    <a:lumMod val="90000"/>
                    <a:lumOff val="10000"/>
                  </a:schemeClr>
                </a:solidFill>
              </a:rPr>
              <a:t>spending_behavior</a:t>
            </a:r>
            <a:endParaRPr lang="en-US">
              <a:solidFill>
                <a:schemeClr val="tx2">
                  <a:lumMod val="90000"/>
                  <a:lumOff val="10000"/>
                </a:schemeClr>
              </a:solidFill>
            </a:endParaRPr>
          </a:p>
          <a:p>
            <a:pPr marL="742950" lvl="1" indent="-285750">
              <a:buFont typeface="Courier New"/>
              <a:buChar char="o"/>
            </a:pPr>
            <a:r>
              <a:rPr lang="en-US">
                <a:solidFill>
                  <a:schemeClr val="tx2">
                    <a:lumMod val="90000"/>
                    <a:lumOff val="10000"/>
                  </a:schemeClr>
                </a:solidFill>
              </a:rPr>
              <a:t>Decision</a:t>
            </a:r>
          </a:p>
          <a:p>
            <a:pPr lvl="1"/>
            <a:endParaRPr lang="en-US">
              <a:solidFill>
                <a:schemeClr val="tx2">
                  <a:lumMod val="90000"/>
                  <a:lumOff val="10000"/>
                </a:schemeClr>
              </a:solidFill>
            </a:endParaRPr>
          </a:p>
          <a:p>
            <a:r>
              <a:rPr lang="en-US" b="1">
                <a:solidFill>
                  <a:schemeClr val="tx2">
                    <a:lumMod val="90000"/>
                    <a:lumOff val="10000"/>
                  </a:schemeClr>
                </a:solidFill>
              </a:rPr>
              <a:t>Sparse fields:</a:t>
            </a:r>
          </a:p>
          <a:p>
            <a:pPr marL="742950" lvl="1" indent="-285750">
              <a:buFont typeface="Courier New"/>
              <a:buChar char="o"/>
            </a:pPr>
            <a:r>
              <a:rPr lang="en-US" err="1">
                <a:solidFill>
                  <a:schemeClr val="tx2">
                    <a:lumMod val="90000"/>
                    <a:lumOff val="10000"/>
                  </a:schemeClr>
                </a:solidFill>
              </a:rPr>
              <a:t>processing_stamp</a:t>
            </a:r>
            <a:r>
              <a:rPr lang="en-US">
                <a:solidFill>
                  <a:schemeClr val="tx2">
                    <a:lumMod val="90000"/>
                    <a:lumOff val="10000"/>
                  </a:schemeClr>
                </a:solidFill>
              </a:rPr>
              <a:t> (</a:t>
            </a:r>
            <a:r>
              <a:rPr lang="en-US" b="1">
                <a:solidFill>
                  <a:schemeClr val="tx2">
                    <a:lumMod val="90000"/>
                    <a:lumOff val="10000"/>
                  </a:schemeClr>
                </a:solidFill>
              </a:rPr>
              <a:t>87.6% missing</a:t>
            </a:r>
            <a:r>
              <a:rPr lang="en-US">
                <a:solidFill>
                  <a:schemeClr val="tx2">
                    <a:lumMod val="90000"/>
                    <a:lumOff val="10000"/>
                  </a:schemeClr>
                </a:solidFill>
              </a:rPr>
              <a:t>)</a:t>
            </a:r>
          </a:p>
          <a:p>
            <a:pPr marL="742950" lvl="1" indent="-285750">
              <a:buFont typeface="Courier New"/>
              <a:buChar char="o"/>
            </a:pPr>
            <a:r>
              <a:rPr lang="en-US" err="1">
                <a:solidFill>
                  <a:schemeClr val="tx2">
                    <a:lumMod val="90000"/>
                    <a:lumOff val="10000"/>
                  </a:schemeClr>
                </a:solidFill>
              </a:rPr>
              <a:t>loan_purpose</a:t>
            </a:r>
            <a:r>
              <a:rPr lang="en-US">
                <a:solidFill>
                  <a:schemeClr val="tx2">
                    <a:lumMod val="90000"/>
                    <a:lumOff val="10000"/>
                  </a:schemeClr>
                </a:solidFill>
              </a:rPr>
              <a:t> (90% missing)</a:t>
            </a:r>
          </a:p>
          <a:p>
            <a:pPr marL="742950" lvl="1" indent="-285750">
              <a:buFont typeface="Courier New"/>
              <a:buChar char="o"/>
            </a:pPr>
            <a:r>
              <a:rPr lang="en-US">
                <a:solidFill>
                  <a:schemeClr val="tx2">
                    <a:lumMod val="90000"/>
                    <a:lumOff val="10000"/>
                  </a:schemeClr>
                </a:solidFill>
              </a:rPr>
              <a:t>notes (99.6% missing)</a:t>
            </a:r>
          </a:p>
          <a:p>
            <a:endParaRPr lang="en-US">
              <a:solidFill>
                <a:schemeClr val="tx2">
                  <a:lumMod val="90000"/>
                  <a:lumOff val="10000"/>
                </a:schemeClr>
              </a:solidFill>
            </a:endParaRPr>
          </a:p>
          <a:p>
            <a:endParaRPr lang="en-US">
              <a:solidFill>
                <a:schemeClr val="tx2">
                  <a:lumMod val="90000"/>
                  <a:lumOff val="10000"/>
                </a:schemeClr>
              </a:solidFill>
            </a:endParaRPr>
          </a:p>
          <a:p>
            <a:endParaRPr lang="en-US">
              <a:solidFill>
                <a:schemeClr val="tx2">
                  <a:lumMod val="90000"/>
                  <a:lumOff val="10000"/>
                </a:schemeClr>
              </a:solidFill>
            </a:endParaRPr>
          </a:p>
          <a:p>
            <a:endParaRPr lang="en-US">
              <a:solidFill>
                <a:schemeClr val="tx2">
                  <a:lumMod val="90000"/>
                  <a:lumOff val="10000"/>
                </a:schemeClr>
              </a:solidFill>
            </a:endParaRPr>
          </a:p>
        </p:txBody>
      </p:sp>
      <p:sp>
        <p:nvSpPr>
          <p:cNvPr id="11" name="Shape 9">
            <a:extLst>
              <a:ext uri="{FF2B5EF4-FFF2-40B4-BE49-F238E27FC236}">
                <a16:creationId xmlns:a16="http://schemas.microsoft.com/office/drawing/2014/main" id="{F28CDA19-A485-31A0-7D0F-9F1279A41123}"/>
              </a:ext>
            </a:extLst>
          </p:cNvPr>
          <p:cNvSpPr/>
          <p:nvPr/>
        </p:nvSpPr>
        <p:spPr>
          <a:xfrm>
            <a:off x="266539" y="1269982"/>
            <a:ext cx="73152" cy="4470374"/>
          </a:xfrm>
          <a:prstGeom prst="rect">
            <a:avLst/>
          </a:prstGeom>
          <a:solidFill>
            <a:srgbClr val="F97316"/>
          </a:solidFill>
          <a:ln w="12700">
            <a:solidFill>
              <a:srgbClr val="F97316"/>
            </a:solidFill>
            <a:prstDash val="solid"/>
          </a:ln>
        </p:spPr>
        <p:txBody>
          <a:bodyPr/>
          <a:lstStyle/>
          <a:p>
            <a:endParaRPr lang="zh-CN" altLang="en-US"/>
          </a:p>
        </p:txBody>
      </p:sp>
    </p:spTree>
    <p:extLst>
      <p:ext uri="{BB962C8B-B14F-4D97-AF65-F5344CB8AC3E}">
        <p14:creationId xmlns:p14="http://schemas.microsoft.com/office/powerpoint/2010/main" val="1523461343"/>
      </p:ext>
    </p:extLst>
  </p:cSld>
  <p:clrMapOvr>
    <a:masterClrMapping/>
  </p:clrMapOvr>
  <p:transition spd="med" advTm="21938"/>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A998D-2E6C-F2B7-76A0-7357981CC53C}"/>
            </a:ext>
          </a:extLst>
        </p:cNvPr>
        <p:cNvGrpSpPr/>
        <p:nvPr/>
      </p:nvGrpSpPr>
      <p:grpSpPr>
        <a:xfrm>
          <a:off x="0" y="0"/>
          <a:ext cx="0" cy="0"/>
          <a:chOff x="0" y="0"/>
          <a:chExt cx="0" cy="0"/>
        </a:xfrm>
      </p:grpSpPr>
      <p:graphicFrame>
        <p:nvGraphicFramePr>
          <p:cNvPr id="15" name="think-cell data - do not delete" hidden="1">
            <a:extLst>
              <a:ext uri="{FF2B5EF4-FFF2-40B4-BE49-F238E27FC236}">
                <a16:creationId xmlns:a16="http://schemas.microsoft.com/office/drawing/2014/main" id="{B92B1E48-FE2E-87AA-46D4-1DB0D1072ECC}"/>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Folie" r:id="rId4" imgW="7772400" imgH="10058400" progId="TCLayout.ActiveDocument.1">
                  <p:embed/>
                </p:oleObj>
              </mc:Choice>
              <mc:Fallback>
                <p:oleObj name="think-cell Folie" r:id="rId4" imgW="7772400" imgH="10058400" progId="TCLayout.ActiveDocument.1">
                  <p:embed/>
                  <p:pic>
                    <p:nvPicPr>
                      <p:cNvPr id="15" name="think-cell data - do not delete" hidden="1">
                        <a:extLst>
                          <a:ext uri="{FF2B5EF4-FFF2-40B4-BE49-F238E27FC236}">
                            <a16:creationId xmlns:a16="http://schemas.microsoft.com/office/drawing/2014/main" id="{B92B1E48-FE2E-87AA-46D4-1DB0D1072ECC}"/>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Foliennummernplatzhalter 4">
            <a:extLst>
              <a:ext uri="{FF2B5EF4-FFF2-40B4-BE49-F238E27FC236}">
                <a16:creationId xmlns:a16="http://schemas.microsoft.com/office/drawing/2014/main" id="{E47B7C8C-B035-68D8-8DDA-5F888949DA04}"/>
              </a:ext>
            </a:extLst>
          </p:cNvPr>
          <p:cNvSpPr>
            <a:spLocks noGrp="1"/>
          </p:cNvSpPr>
          <p:nvPr>
            <p:ph type="sldNum" sz="quarter" idx="21"/>
          </p:nvPr>
        </p:nvSpPr>
        <p:spPr/>
        <p:txBody>
          <a:bodyPr/>
          <a:lstStyle/>
          <a:p>
            <a:fld id="{96D0270E-ECD2-CA4B-BE22-56AEC998461C}" type="slidenum">
              <a:rPr lang="en-US" smtClean="0"/>
              <a:t>5</a:t>
            </a:fld>
            <a:endParaRPr lang="en-US"/>
          </a:p>
        </p:txBody>
      </p:sp>
      <p:sp>
        <p:nvSpPr>
          <p:cNvPr id="9" name="Textplatzhalter 2">
            <a:extLst>
              <a:ext uri="{FF2B5EF4-FFF2-40B4-BE49-F238E27FC236}">
                <a16:creationId xmlns:a16="http://schemas.microsoft.com/office/drawing/2014/main" id="{151FE2B5-0A06-B2B0-2B52-EAB1E757F4F5}"/>
              </a:ext>
            </a:extLst>
          </p:cNvPr>
          <p:cNvSpPr txBox="1">
            <a:spLocks/>
          </p:cNvSpPr>
          <p:nvPr/>
        </p:nvSpPr>
        <p:spPr>
          <a:xfrm>
            <a:off x="332604" y="829450"/>
            <a:ext cx="11016146" cy="540306"/>
          </a:xfrm>
          <a:prstGeom prst="rect">
            <a:avLst/>
          </a:prstGeom>
        </p:spPr>
        <p:txBody>
          <a:bodyPr vert="horz" lIns="0" tIns="45720" rIns="91440" bIns="45720" rtlCol="0" anchor="t">
            <a:noAutofit/>
          </a:bodyPr>
          <a:lstStyle>
            <a:lvl1pPr marL="0" marR="0" indent="0" algn="l" defTabSz="412750" rtl="0" eaLnBrk="1" fontAlgn="auto" latinLnBrk="0" hangingPunct="0">
              <a:lnSpc>
                <a:spcPct val="80000"/>
              </a:lnSpc>
              <a:spcBef>
                <a:spcPts val="0"/>
              </a:spcBef>
              <a:spcAft>
                <a:spcPts val="0"/>
              </a:spcAft>
              <a:buClrTx/>
              <a:buSzTx/>
              <a:buFontTx/>
              <a:buNone/>
              <a:tabLst/>
              <a:defRPr kumimoji="0" lang="en-US" sz="4550" b="0" i="0" u="none" strike="noStrike" kern="1200" cap="none" spc="0" normalizeH="0" baseline="0" dirty="0" smtClean="0">
                <a:ln>
                  <a:noFill/>
                </a:ln>
                <a:solidFill>
                  <a:srgbClr val="000000"/>
                </a:solidFill>
                <a:effectLst/>
                <a:uFillTx/>
                <a:latin typeface="Playfair Display"/>
                <a:ea typeface="Playfair Display"/>
                <a:cs typeface="Playfair Display"/>
                <a:sym typeface="Helvetica Neue"/>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800" b="1">
                <a:solidFill>
                  <a:schemeClr val="tx2">
                    <a:lumMod val="90000"/>
                    <a:lumOff val="10000"/>
                  </a:schemeClr>
                </a:solidFill>
              </a:rPr>
              <a:t>Data Quality Findings</a:t>
            </a:r>
          </a:p>
        </p:txBody>
      </p:sp>
      <p:sp>
        <p:nvSpPr>
          <p:cNvPr id="6" name="Textplatzhalter 1">
            <a:extLst>
              <a:ext uri="{FF2B5EF4-FFF2-40B4-BE49-F238E27FC236}">
                <a16:creationId xmlns:a16="http://schemas.microsoft.com/office/drawing/2014/main" id="{78304D80-26CD-EF8E-7CAB-551D4290B9C2}"/>
              </a:ext>
            </a:extLst>
          </p:cNvPr>
          <p:cNvSpPr>
            <a:spLocks noGrp="1"/>
          </p:cNvSpPr>
          <p:nvPr>
            <p:ph type="body" sz="quarter" idx="13"/>
          </p:nvPr>
        </p:nvSpPr>
        <p:spPr>
          <a:xfrm>
            <a:off x="339691" y="364775"/>
            <a:ext cx="6872065" cy="278339"/>
          </a:xfrm>
        </p:spPr>
        <p:txBody>
          <a:bodyPr vert="horz" lIns="0" tIns="45720" rIns="91440" bIns="45720" rtlCol="0" anchor="t">
            <a:normAutofit/>
          </a:bodyPr>
          <a:lstStyle/>
          <a:p>
            <a:r>
              <a:rPr lang="en-US">
                <a:latin typeface="Open Sans"/>
                <a:ea typeface="Open Sans"/>
                <a:cs typeface="Open Sans"/>
              </a:rPr>
              <a:t>Group TXB_6 | DATA ECOSYSTEMS &amp; GOVERNANCE IN ORGANIZATIONS</a:t>
            </a:r>
          </a:p>
          <a:p>
            <a:endParaRPr lang="en-US"/>
          </a:p>
        </p:txBody>
      </p:sp>
      <p:sp>
        <p:nvSpPr>
          <p:cNvPr id="4" name="Shape 6">
            <a:extLst>
              <a:ext uri="{FF2B5EF4-FFF2-40B4-BE49-F238E27FC236}">
                <a16:creationId xmlns:a16="http://schemas.microsoft.com/office/drawing/2014/main" id="{8A3F9BF7-3047-3B00-411C-C36EC9DCC1FE}"/>
              </a:ext>
            </a:extLst>
          </p:cNvPr>
          <p:cNvSpPr/>
          <p:nvPr/>
        </p:nvSpPr>
        <p:spPr>
          <a:xfrm>
            <a:off x="1337381" y="1509189"/>
            <a:ext cx="9322501" cy="717046"/>
          </a:xfrm>
          <a:prstGeom prst="roundRect">
            <a:avLst>
              <a:gd name="adj" fmla="val 4762"/>
            </a:avLst>
          </a:prstGeom>
          <a:solidFill>
            <a:schemeClr val="tx2">
              <a:lumMod val="10000"/>
              <a:lumOff val="90000"/>
            </a:schemeClr>
          </a:solidFill>
          <a:ln w="12700">
            <a:noFill/>
            <a:prstDash val="solid"/>
          </a:ln>
          <a:effectLst>
            <a:innerShdw blurRad="63500" dist="50800" dir="8100000">
              <a:prstClr val="black">
                <a:alpha val="50000"/>
              </a:prstClr>
            </a:innerShdw>
          </a:effectLst>
        </p:spPr>
        <p:txBody>
          <a:bodyPr/>
          <a:lstStyle/>
          <a:p>
            <a:endParaRPr lang="en-US" altLang="zh-CN"/>
          </a:p>
        </p:txBody>
      </p:sp>
      <p:sp>
        <p:nvSpPr>
          <p:cNvPr id="7" name="CaixaDeTexto 6">
            <a:extLst>
              <a:ext uri="{FF2B5EF4-FFF2-40B4-BE49-F238E27FC236}">
                <a16:creationId xmlns:a16="http://schemas.microsoft.com/office/drawing/2014/main" id="{9FD4D7B2-9F51-4612-50CF-824D507C75F9}"/>
              </a:ext>
            </a:extLst>
          </p:cNvPr>
          <p:cNvSpPr txBox="1"/>
          <p:nvPr/>
        </p:nvSpPr>
        <p:spPr>
          <a:xfrm>
            <a:off x="1484085" y="1487230"/>
            <a:ext cx="7114673" cy="10310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b="1"/>
              <a:t>Structural Quality</a:t>
            </a:r>
          </a:p>
          <a:p>
            <a:r>
              <a:rPr lang="en-US" sz="1400"/>
              <a:t>Several important attributes were stored as nested JSON objects and arrays</a:t>
            </a:r>
          </a:p>
          <a:p>
            <a:r>
              <a:rPr lang="en-US" sz="1400"/>
              <a:t>Nested fields required flattening before analysis</a:t>
            </a:r>
          </a:p>
          <a:p>
            <a:endParaRPr lang="en-US"/>
          </a:p>
        </p:txBody>
      </p:sp>
      <p:sp>
        <p:nvSpPr>
          <p:cNvPr id="8" name="Shape 6">
            <a:extLst>
              <a:ext uri="{FF2B5EF4-FFF2-40B4-BE49-F238E27FC236}">
                <a16:creationId xmlns:a16="http://schemas.microsoft.com/office/drawing/2014/main" id="{2BB4689E-3C75-8CAD-ACE6-2DE9CFFB686F}"/>
              </a:ext>
            </a:extLst>
          </p:cNvPr>
          <p:cNvSpPr/>
          <p:nvPr/>
        </p:nvSpPr>
        <p:spPr>
          <a:xfrm>
            <a:off x="1337381" y="2302412"/>
            <a:ext cx="9322501" cy="586704"/>
          </a:xfrm>
          <a:prstGeom prst="roundRect">
            <a:avLst>
              <a:gd name="adj" fmla="val 4762"/>
            </a:avLst>
          </a:prstGeom>
          <a:solidFill>
            <a:schemeClr val="bg2"/>
          </a:solidFill>
          <a:ln w="12700">
            <a:noFill/>
            <a:prstDash val="solid"/>
          </a:ln>
          <a:effectLst>
            <a:innerShdw blurRad="63500" dist="50800" dir="8100000">
              <a:prstClr val="black">
                <a:alpha val="50000"/>
              </a:prstClr>
            </a:innerShdw>
          </a:effectLst>
        </p:spPr>
        <p:txBody>
          <a:bodyPr/>
          <a:lstStyle/>
          <a:p>
            <a:endParaRPr lang="en-US" altLang="zh-CN"/>
          </a:p>
        </p:txBody>
      </p:sp>
      <p:sp>
        <p:nvSpPr>
          <p:cNvPr id="10" name="CaixaDeTexto 9">
            <a:extLst>
              <a:ext uri="{FF2B5EF4-FFF2-40B4-BE49-F238E27FC236}">
                <a16:creationId xmlns:a16="http://schemas.microsoft.com/office/drawing/2014/main" id="{B67F366F-916C-0151-1098-0F3B283BA315}"/>
              </a:ext>
            </a:extLst>
          </p:cNvPr>
          <p:cNvSpPr txBox="1"/>
          <p:nvPr/>
        </p:nvSpPr>
        <p:spPr>
          <a:xfrm>
            <a:off x="1484085" y="2280450"/>
            <a:ext cx="7114673"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b="1"/>
              <a:t>Completness</a:t>
            </a:r>
            <a:endParaRPr lang="en-US" sz="1500"/>
          </a:p>
          <a:p>
            <a:r>
              <a:rPr lang="en-US" sz="1400"/>
              <a:t>Several fields showed extreme missingness</a:t>
            </a:r>
          </a:p>
          <a:p>
            <a:endParaRPr lang="en-US"/>
          </a:p>
        </p:txBody>
      </p:sp>
      <p:sp>
        <p:nvSpPr>
          <p:cNvPr id="11" name="Shape 6">
            <a:extLst>
              <a:ext uri="{FF2B5EF4-FFF2-40B4-BE49-F238E27FC236}">
                <a16:creationId xmlns:a16="http://schemas.microsoft.com/office/drawing/2014/main" id="{D0D640B3-F613-0343-997A-60380254E497}"/>
              </a:ext>
            </a:extLst>
          </p:cNvPr>
          <p:cNvSpPr/>
          <p:nvPr/>
        </p:nvSpPr>
        <p:spPr>
          <a:xfrm>
            <a:off x="1347408" y="2966433"/>
            <a:ext cx="9312475" cy="727072"/>
          </a:xfrm>
          <a:prstGeom prst="roundRect">
            <a:avLst>
              <a:gd name="adj" fmla="val 4762"/>
            </a:avLst>
          </a:prstGeom>
          <a:solidFill>
            <a:schemeClr val="tx2">
              <a:lumMod val="10000"/>
              <a:lumOff val="90000"/>
            </a:schemeClr>
          </a:solidFill>
          <a:ln w="12700">
            <a:noFill/>
            <a:prstDash val="solid"/>
          </a:ln>
          <a:effectLst>
            <a:innerShdw blurRad="63500" dist="50800" dir="8100000">
              <a:prstClr val="black">
                <a:alpha val="50000"/>
              </a:prstClr>
            </a:innerShdw>
          </a:effectLst>
        </p:spPr>
        <p:txBody>
          <a:bodyPr/>
          <a:lstStyle/>
          <a:p>
            <a:endParaRPr lang="en-US" altLang="zh-CN"/>
          </a:p>
        </p:txBody>
      </p:sp>
      <p:sp>
        <p:nvSpPr>
          <p:cNvPr id="12" name="CaixaDeTexto 11">
            <a:extLst>
              <a:ext uri="{FF2B5EF4-FFF2-40B4-BE49-F238E27FC236}">
                <a16:creationId xmlns:a16="http://schemas.microsoft.com/office/drawing/2014/main" id="{93E7B96C-389D-0B00-8FCC-D9787CBB2AAC}"/>
              </a:ext>
            </a:extLst>
          </p:cNvPr>
          <p:cNvSpPr txBox="1"/>
          <p:nvPr/>
        </p:nvSpPr>
        <p:spPr>
          <a:xfrm>
            <a:off x="1514164" y="2934444"/>
            <a:ext cx="7114673" cy="7540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b="1"/>
              <a:t>Consistency</a:t>
            </a:r>
            <a:endParaRPr lang="en-US" sz="1500"/>
          </a:p>
          <a:p>
            <a:r>
              <a:rPr lang="en-US" sz="1400">
                <a:ea typeface="+mn-lt"/>
                <a:cs typeface="+mn-lt"/>
              </a:rPr>
              <a:t>Mixed binary target formats and inconsistent categorical labels</a:t>
            </a:r>
          </a:p>
          <a:p>
            <a:r>
              <a:rPr lang="en-US" sz="1400">
                <a:ea typeface="+mn-lt"/>
                <a:cs typeface="+mn-lt"/>
              </a:rPr>
              <a:t>Date fields appeared in multiple formats</a:t>
            </a:r>
            <a:endParaRPr lang="en-US"/>
          </a:p>
        </p:txBody>
      </p:sp>
      <p:sp>
        <p:nvSpPr>
          <p:cNvPr id="13" name="Shape 6">
            <a:extLst>
              <a:ext uri="{FF2B5EF4-FFF2-40B4-BE49-F238E27FC236}">
                <a16:creationId xmlns:a16="http://schemas.microsoft.com/office/drawing/2014/main" id="{D456A8DB-68AC-4B80-D935-444C20E8B9B0}"/>
              </a:ext>
            </a:extLst>
          </p:cNvPr>
          <p:cNvSpPr/>
          <p:nvPr/>
        </p:nvSpPr>
        <p:spPr>
          <a:xfrm>
            <a:off x="1337381" y="3750390"/>
            <a:ext cx="9322501" cy="737099"/>
          </a:xfrm>
          <a:prstGeom prst="roundRect">
            <a:avLst>
              <a:gd name="adj" fmla="val 4762"/>
            </a:avLst>
          </a:prstGeom>
          <a:solidFill>
            <a:schemeClr val="bg2"/>
          </a:solidFill>
          <a:ln w="12700">
            <a:noFill/>
            <a:prstDash val="solid"/>
          </a:ln>
          <a:effectLst>
            <a:innerShdw blurRad="63500" dist="50800" dir="8100000">
              <a:prstClr val="black">
                <a:alpha val="50000"/>
              </a:prstClr>
            </a:innerShdw>
          </a:effectLst>
        </p:spPr>
        <p:txBody>
          <a:bodyPr/>
          <a:lstStyle/>
          <a:p>
            <a:endParaRPr lang="en-US" altLang="zh-CN"/>
          </a:p>
        </p:txBody>
      </p:sp>
      <p:sp>
        <p:nvSpPr>
          <p:cNvPr id="14" name="CaixaDeTexto 13">
            <a:extLst>
              <a:ext uri="{FF2B5EF4-FFF2-40B4-BE49-F238E27FC236}">
                <a16:creationId xmlns:a16="http://schemas.microsoft.com/office/drawing/2014/main" id="{998B7F9A-D71E-B58A-3A60-D5CD55E18587}"/>
              </a:ext>
            </a:extLst>
          </p:cNvPr>
          <p:cNvSpPr txBox="1"/>
          <p:nvPr/>
        </p:nvSpPr>
        <p:spPr>
          <a:xfrm>
            <a:off x="1484085" y="3728429"/>
            <a:ext cx="8919409" cy="104644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b="1"/>
              <a:t>Validity</a:t>
            </a:r>
            <a:endParaRPr lang="en-US" sz="1500"/>
          </a:p>
          <a:p>
            <a:r>
              <a:rPr lang="en-US" sz="1400"/>
              <a:t>Detected invalid financial values such as non-positive income and negative history metrics</a:t>
            </a:r>
          </a:p>
          <a:p>
            <a:r>
              <a:rPr lang="en-US" sz="1400"/>
              <a:t>Some spending entries contained malformed or non-numeric amounts</a:t>
            </a:r>
            <a:endParaRPr lang="en-US"/>
          </a:p>
          <a:p>
            <a:endParaRPr lang="en-US"/>
          </a:p>
        </p:txBody>
      </p:sp>
      <p:sp>
        <p:nvSpPr>
          <p:cNvPr id="16" name="Shape 6">
            <a:extLst>
              <a:ext uri="{FF2B5EF4-FFF2-40B4-BE49-F238E27FC236}">
                <a16:creationId xmlns:a16="http://schemas.microsoft.com/office/drawing/2014/main" id="{C9FAB226-30D9-37C9-F517-FBFECDD08714}"/>
              </a:ext>
            </a:extLst>
          </p:cNvPr>
          <p:cNvSpPr/>
          <p:nvPr/>
        </p:nvSpPr>
        <p:spPr>
          <a:xfrm>
            <a:off x="1337381" y="4554018"/>
            <a:ext cx="9322501" cy="586704"/>
          </a:xfrm>
          <a:prstGeom prst="roundRect">
            <a:avLst>
              <a:gd name="adj" fmla="val 4762"/>
            </a:avLst>
          </a:prstGeom>
          <a:solidFill>
            <a:schemeClr val="tx2">
              <a:lumMod val="10000"/>
              <a:lumOff val="90000"/>
            </a:schemeClr>
          </a:solidFill>
          <a:ln w="12700">
            <a:noFill/>
            <a:prstDash val="solid"/>
          </a:ln>
          <a:effectLst>
            <a:innerShdw blurRad="63500" dist="50800" dir="8100000">
              <a:prstClr val="black">
                <a:alpha val="50000"/>
              </a:prstClr>
            </a:innerShdw>
          </a:effectLst>
        </p:spPr>
        <p:txBody>
          <a:bodyPr/>
          <a:lstStyle/>
          <a:p>
            <a:endParaRPr lang="en-US" altLang="zh-CN"/>
          </a:p>
        </p:txBody>
      </p:sp>
      <p:sp>
        <p:nvSpPr>
          <p:cNvPr id="17" name="CaixaDeTexto 16">
            <a:extLst>
              <a:ext uri="{FF2B5EF4-FFF2-40B4-BE49-F238E27FC236}">
                <a16:creationId xmlns:a16="http://schemas.microsoft.com/office/drawing/2014/main" id="{0EB37904-A73B-D80E-A027-67CF3A087903}"/>
              </a:ext>
            </a:extLst>
          </p:cNvPr>
          <p:cNvSpPr txBox="1"/>
          <p:nvPr/>
        </p:nvSpPr>
        <p:spPr>
          <a:xfrm>
            <a:off x="1484085" y="4552109"/>
            <a:ext cx="7114673"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b="1"/>
              <a:t>Accuracy</a:t>
            </a:r>
            <a:endParaRPr lang="en-US"/>
          </a:p>
          <a:p>
            <a:r>
              <a:rPr lang="en-US" sz="1400"/>
              <a:t>Spending-to-income checks were used to detect unrealistic financial patterns</a:t>
            </a:r>
            <a:endParaRPr lang="en-US"/>
          </a:p>
          <a:p>
            <a:endParaRPr lang="en-US"/>
          </a:p>
        </p:txBody>
      </p:sp>
      <p:sp>
        <p:nvSpPr>
          <p:cNvPr id="18" name="Shape 6">
            <a:extLst>
              <a:ext uri="{FF2B5EF4-FFF2-40B4-BE49-F238E27FC236}">
                <a16:creationId xmlns:a16="http://schemas.microsoft.com/office/drawing/2014/main" id="{02A8540B-5E38-D636-63D9-4CA042234DFB}"/>
              </a:ext>
            </a:extLst>
          </p:cNvPr>
          <p:cNvSpPr/>
          <p:nvPr/>
        </p:nvSpPr>
        <p:spPr>
          <a:xfrm>
            <a:off x="1337381" y="5198367"/>
            <a:ext cx="9322501" cy="586704"/>
          </a:xfrm>
          <a:prstGeom prst="roundRect">
            <a:avLst>
              <a:gd name="adj" fmla="val 4762"/>
            </a:avLst>
          </a:prstGeom>
          <a:solidFill>
            <a:schemeClr val="bg2"/>
          </a:solidFill>
          <a:ln w="12700">
            <a:noFill/>
            <a:prstDash val="solid"/>
          </a:ln>
          <a:effectLst>
            <a:innerShdw blurRad="63500" dist="50800" dir="8100000">
              <a:prstClr val="black">
                <a:alpha val="50000"/>
              </a:prstClr>
            </a:innerShdw>
          </a:effectLst>
        </p:spPr>
        <p:txBody>
          <a:bodyPr/>
          <a:lstStyle/>
          <a:p>
            <a:endParaRPr lang="en-US" altLang="zh-CN"/>
          </a:p>
        </p:txBody>
      </p:sp>
      <p:sp>
        <p:nvSpPr>
          <p:cNvPr id="19" name="CaixaDeTexto 18">
            <a:extLst>
              <a:ext uri="{FF2B5EF4-FFF2-40B4-BE49-F238E27FC236}">
                <a16:creationId xmlns:a16="http://schemas.microsoft.com/office/drawing/2014/main" id="{405B127F-E2D3-093B-4C53-2B5E533F42F9}"/>
              </a:ext>
            </a:extLst>
          </p:cNvPr>
          <p:cNvSpPr txBox="1"/>
          <p:nvPr/>
        </p:nvSpPr>
        <p:spPr>
          <a:xfrm>
            <a:off x="1484085" y="5196458"/>
            <a:ext cx="7114673"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b="1"/>
              <a:t>Duplicates</a:t>
            </a:r>
            <a:endParaRPr lang="en-US"/>
          </a:p>
          <a:p>
            <a:r>
              <a:rPr lang="en-US" sz="1400"/>
              <a:t>Duplicate </a:t>
            </a:r>
            <a:r>
              <a:rPr lang="en-US" sz="1400">
                <a:latin typeface="Consolas"/>
              </a:rPr>
              <a:t>_id</a:t>
            </a:r>
            <a:r>
              <a:rPr lang="en-US" sz="1400"/>
              <a:t> values indicated repeated or conflicting records</a:t>
            </a:r>
            <a:endParaRPr lang="en-US"/>
          </a:p>
          <a:p>
            <a:endParaRPr lang="en-US"/>
          </a:p>
        </p:txBody>
      </p:sp>
      <p:sp>
        <p:nvSpPr>
          <p:cNvPr id="2" name="五边形 1">
            <a:extLst>
              <a:ext uri="{FF2B5EF4-FFF2-40B4-BE49-F238E27FC236}">
                <a16:creationId xmlns:a16="http://schemas.microsoft.com/office/drawing/2014/main" id="{A348C4CC-10BA-937F-29FA-A15427AEF25A}"/>
              </a:ext>
            </a:extLst>
          </p:cNvPr>
          <p:cNvSpPr/>
          <p:nvPr/>
        </p:nvSpPr>
        <p:spPr>
          <a:xfrm rot="16200000">
            <a:off x="789553" y="1491574"/>
            <a:ext cx="540304" cy="479752"/>
          </a:xfrm>
          <a:prstGeom prst="homePlat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t="100000" r="100000"/>
            </a:path>
            <a:tileRect l="-100000" b="-10000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五边形 2">
            <a:extLst>
              <a:ext uri="{FF2B5EF4-FFF2-40B4-BE49-F238E27FC236}">
                <a16:creationId xmlns:a16="http://schemas.microsoft.com/office/drawing/2014/main" id="{E30B8E44-3220-E513-E27E-77130F375569}"/>
              </a:ext>
            </a:extLst>
          </p:cNvPr>
          <p:cNvSpPr/>
          <p:nvPr/>
        </p:nvSpPr>
        <p:spPr>
          <a:xfrm rot="16200000">
            <a:off x="789552" y="4489600"/>
            <a:ext cx="540305" cy="479752"/>
          </a:xfrm>
          <a:prstGeom prst="homePlat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t="100000" r="100000"/>
            </a:path>
            <a:tileRect l="-100000" b="-10000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五边形 19">
            <a:extLst>
              <a:ext uri="{FF2B5EF4-FFF2-40B4-BE49-F238E27FC236}">
                <a16:creationId xmlns:a16="http://schemas.microsoft.com/office/drawing/2014/main" id="{F3AFCC63-9386-F9AB-40A1-A5DE6F1CB0D2}"/>
              </a:ext>
            </a:extLst>
          </p:cNvPr>
          <p:cNvSpPr/>
          <p:nvPr/>
        </p:nvSpPr>
        <p:spPr>
          <a:xfrm rot="16200000">
            <a:off x="789552" y="3740098"/>
            <a:ext cx="540305" cy="479752"/>
          </a:xfrm>
          <a:prstGeom prst="homePlat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t="100000" r="100000"/>
            </a:path>
            <a:tileRect l="-100000" b="-10000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五边形 20">
            <a:extLst>
              <a:ext uri="{FF2B5EF4-FFF2-40B4-BE49-F238E27FC236}">
                <a16:creationId xmlns:a16="http://schemas.microsoft.com/office/drawing/2014/main" id="{79EF5A08-FE6D-04F8-59D6-D6436AC65C2E}"/>
              </a:ext>
            </a:extLst>
          </p:cNvPr>
          <p:cNvSpPr/>
          <p:nvPr/>
        </p:nvSpPr>
        <p:spPr>
          <a:xfrm rot="16200000">
            <a:off x="789552" y="2975596"/>
            <a:ext cx="540305" cy="479752"/>
          </a:xfrm>
          <a:prstGeom prst="homePlat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t="100000" r="100000"/>
            </a:path>
            <a:tileRect l="-100000" b="-10000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五边形 21">
            <a:extLst>
              <a:ext uri="{FF2B5EF4-FFF2-40B4-BE49-F238E27FC236}">
                <a16:creationId xmlns:a16="http://schemas.microsoft.com/office/drawing/2014/main" id="{9F1CD58C-F19D-75AB-AB22-AEA3618871E9}"/>
              </a:ext>
            </a:extLst>
          </p:cNvPr>
          <p:cNvSpPr/>
          <p:nvPr/>
        </p:nvSpPr>
        <p:spPr>
          <a:xfrm rot="16200000">
            <a:off x="789552" y="2256071"/>
            <a:ext cx="540305" cy="479752"/>
          </a:xfrm>
          <a:prstGeom prst="homePlat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t="100000" r="100000"/>
            </a:path>
            <a:tileRect l="-100000" b="-10000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五边形 22">
            <a:extLst>
              <a:ext uri="{FF2B5EF4-FFF2-40B4-BE49-F238E27FC236}">
                <a16:creationId xmlns:a16="http://schemas.microsoft.com/office/drawing/2014/main" id="{E322B955-0708-851A-D50A-10AB1C21698F}"/>
              </a:ext>
            </a:extLst>
          </p:cNvPr>
          <p:cNvSpPr/>
          <p:nvPr/>
        </p:nvSpPr>
        <p:spPr>
          <a:xfrm rot="16200000">
            <a:off x="807042" y="5226610"/>
            <a:ext cx="540305" cy="479752"/>
          </a:xfrm>
          <a:prstGeom prst="homePlat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t="100000" r="100000"/>
            </a:path>
            <a:tileRect l="-100000" b="-10000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18456760"/>
      </p:ext>
    </p:extLst>
  </p:cSld>
  <p:clrMapOvr>
    <a:masterClrMapping/>
  </p:clrMapOvr>
  <p:transition spd="med" advTm="54810"/>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2EAF4-17E0-F8D2-0083-0AE5B3BA79F4}"/>
            </a:ext>
          </a:extLst>
        </p:cNvPr>
        <p:cNvGrpSpPr/>
        <p:nvPr/>
      </p:nvGrpSpPr>
      <p:grpSpPr>
        <a:xfrm>
          <a:off x="0" y="0"/>
          <a:ext cx="0" cy="0"/>
          <a:chOff x="0" y="0"/>
          <a:chExt cx="0" cy="0"/>
        </a:xfrm>
      </p:grpSpPr>
      <p:graphicFrame>
        <p:nvGraphicFramePr>
          <p:cNvPr id="15" name="think-cell data - do not delete" hidden="1">
            <a:extLst>
              <a:ext uri="{FF2B5EF4-FFF2-40B4-BE49-F238E27FC236}">
                <a16:creationId xmlns:a16="http://schemas.microsoft.com/office/drawing/2014/main" id="{B3CE0B13-2874-C091-538B-AA11FEDFE684}"/>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Folie" r:id="rId4" imgW="7772400" imgH="10058400" progId="TCLayout.ActiveDocument.1">
                  <p:embed/>
                </p:oleObj>
              </mc:Choice>
              <mc:Fallback>
                <p:oleObj name="think-cell Folie" r:id="rId4" imgW="7772400" imgH="10058400" progId="TCLayout.ActiveDocument.1">
                  <p:embed/>
                  <p:pic>
                    <p:nvPicPr>
                      <p:cNvPr id="15" name="think-cell data - do not delete" hidden="1">
                        <a:extLst>
                          <a:ext uri="{FF2B5EF4-FFF2-40B4-BE49-F238E27FC236}">
                            <a16:creationId xmlns:a16="http://schemas.microsoft.com/office/drawing/2014/main" id="{B3CE0B13-2874-C091-538B-AA11FEDFE684}"/>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Foliennummernplatzhalter 4">
            <a:extLst>
              <a:ext uri="{FF2B5EF4-FFF2-40B4-BE49-F238E27FC236}">
                <a16:creationId xmlns:a16="http://schemas.microsoft.com/office/drawing/2014/main" id="{F27828AD-7188-36BE-6A63-FD1CB5A1061C}"/>
              </a:ext>
            </a:extLst>
          </p:cNvPr>
          <p:cNvSpPr>
            <a:spLocks noGrp="1"/>
          </p:cNvSpPr>
          <p:nvPr>
            <p:ph type="sldNum" sz="quarter" idx="21"/>
          </p:nvPr>
        </p:nvSpPr>
        <p:spPr/>
        <p:txBody>
          <a:bodyPr/>
          <a:lstStyle/>
          <a:p>
            <a:fld id="{96D0270E-ECD2-CA4B-BE22-56AEC998461C}" type="slidenum">
              <a:rPr lang="de-DE" smtClean="0">
                <a:solidFill>
                  <a:schemeClr val="tx1"/>
                </a:solidFill>
              </a:rPr>
              <a:t>6</a:t>
            </a:fld>
            <a:endParaRPr lang="de-DE">
              <a:solidFill>
                <a:schemeClr val="tx1"/>
              </a:solidFill>
            </a:endParaRPr>
          </a:p>
        </p:txBody>
      </p:sp>
      <p:sp>
        <p:nvSpPr>
          <p:cNvPr id="3" name="CaixaDeTexto 2">
            <a:extLst>
              <a:ext uri="{FF2B5EF4-FFF2-40B4-BE49-F238E27FC236}">
                <a16:creationId xmlns:a16="http://schemas.microsoft.com/office/drawing/2014/main" id="{0ADDD8D6-F0D8-7144-77A9-7810A24520BB}"/>
              </a:ext>
            </a:extLst>
          </p:cNvPr>
          <p:cNvSpPr txBox="1"/>
          <p:nvPr/>
        </p:nvSpPr>
        <p:spPr>
          <a:xfrm>
            <a:off x="454659" y="1263726"/>
            <a:ext cx="1121011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indent="0">
              <a:buNone/>
            </a:pPr>
            <a:r>
              <a:rPr lang="en-US" altLang="zh-CN" sz="1800" b="1">
                <a:latin typeface="Aptos" pitchFamily="34" charset="0"/>
                <a:ea typeface="Aptos" pitchFamily="34" charset="-122"/>
                <a:cs typeface="Aptos" pitchFamily="34" charset="-120"/>
              </a:rPr>
              <a:t>Goal: </a:t>
            </a:r>
            <a:r>
              <a:rPr lang="en-US" altLang="zh-CN" sz="1800">
                <a:latin typeface="Aptos" pitchFamily="34" charset="0"/>
                <a:ea typeface="Aptos" pitchFamily="34" charset="-122"/>
                <a:cs typeface="Aptos" pitchFamily="34" charset="-120"/>
              </a:rPr>
              <a:t>check whether </a:t>
            </a:r>
            <a:r>
              <a:rPr lang="en-US" altLang="zh-CN" sz="1800" b="1">
                <a:solidFill>
                  <a:schemeClr val="tx2">
                    <a:lumMod val="75000"/>
                    <a:lumOff val="25000"/>
                  </a:schemeClr>
                </a:solidFill>
                <a:latin typeface="Aptos" pitchFamily="34" charset="0"/>
                <a:ea typeface="Aptos" pitchFamily="34" charset="-122"/>
                <a:cs typeface="Aptos" pitchFamily="34" charset="-120"/>
              </a:rPr>
              <a:t>past approval outcomes differ by gender</a:t>
            </a:r>
            <a:r>
              <a:rPr lang="en-US" altLang="zh-CN" sz="1800">
                <a:latin typeface="Aptos" pitchFamily="34" charset="0"/>
                <a:ea typeface="Aptos" pitchFamily="34" charset="-122"/>
                <a:cs typeface="Aptos" pitchFamily="34" charset="-120"/>
              </a:rPr>
              <a:t> </a:t>
            </a:r>
          </a:p>
          <a:p>
            <a:pPr marL="0" indent="0">
              <a:buNone/>
            </a:pPr>
            <a:r>
              <a:rPr lang="en-US" altLang="zh-CN" sz="1800">
                <a:latin typeface="Aptos" pitchFamily="34" charset="0"/>
                <a:ea typeface="Aptos" pitchFamily="34" charset="-122"/>
                <a:cs typeface="Aptos" pitchFamily="34" charset="-120"/>
              </a:rPr>
              <a:t>                           whether </a:t>
            </a:r>
            <a:r>
              <a:rPr lang="en-US" altLang="zh-CN" sz="1800" b="1">
                <a:solidFill>
                  <a:schemeClr val="tx2">
                    <a:lumMod val="75000"/>
                    <a:lumOff val="25000"/>
                  </a:schemeClr>
                </a:solidFill>
                <a:latin typeface="Aptos" pitchFamily="34" charset="0"/>
                <a:ea typeface="Aptos" pitchFamily="34" charset="-122"/>
                <a:cs typeface="Aptos" pitchFamily="34" charset="-120"/>
              </a:rPr>
              <a:t>non-sensitive features may act as proxies  </a:t>
            </a:r>
            <a:endParaRPr lang="en-US" altLang="zh-CN" sz="1800" b="1">
              <a:solidFill>
                <a:schemeClr val="tx2">
                  <a:lumMod val="75000"/>
                  <a:lumOff val="25000"/>
                </a:schemeClr>
              </a:solidFill>
            </a:endParaRPr>
          </a:p>
        </p:txBody>
      </p:sp>
      <p:sp>
        <p:nvSpPr>
          <p:cNvPr id="9" name="Textplatzhalter 2">
            <a:extLst>
              <a:ext uri="{FF2B5EF4-FFF2-40B4-BE49-F238E27FC236}">
                <a16:creationId xmlns:a16="http://schemas.microsoft.com/office/drawing/2014/main" id="{D82B986C-D58B-AA7B-CA48-C4B15F63C4F6}"/>
              </a:ext>
            </a:extLst>
          </p:cNvPr>
          <p:cNvSpPr txBox="1">
            <a:spLocks/>
          </p:cNvSpPr>
          <p:nvPr/>
        </p:nvSpPr>
        <p:spPr>
          <a:xfrm>
            <a:off x="332604" y="748768"/>
            <a:ext cx="11016146" cy="540306"/>
          </a:xfrm>
          <a:prstGeom prst="rect">
            <a:avLst/>
          </a:prstGeom>
        </p:spPr>
        <p:txBody>
          <a:bodyPr vert="horz" lIns="0" tIns="45720" rIns="91440" bIns="45720" rtlCol="0" anchor="t">
            <a:noAutofit/>
          </a:bodyPr>
          <a:lstStyle>
            <a:lvl1pPr marL="0" marR="0" indent="0" algn="l" defTabSz="412750" rtl="0" eaLnBrk="1" fontAlgn="auto" latinLnBrk="0" hangingPunct="0">
              <a:lnSpc>
                <a:spcPct val="80000"/>
              </a:lnSpc>
              <a:spcBef>
                <a:spcPts val="0"/>
              </a:spcBef>
              <a:spcAft>
                <a:spcPts val="0"/>
              </a:spcAft>
              <a:buClrTx/>
              <a:buSzTx/>
              <a:buFontTx/>
              <a:buNone/>
              <a:tabLst/>
              <a:defRPr kumimoji="0" lang="en-US" sz="4550" b="0" i="0" u="none" strike="noStrike" kern="1200" cap="none" spc="0" normalizeH="0" baseline="0" dirty="0" smtClean="0">
                <a:ln>
                  <a:noFill/>
                </a:ln>
                <a:solidFill>
                  <a:srgbClr val="000000"/>
                </a:solidFill>
                <a:effectLst/>
                <a:uFillTx/>
                <a:latin typeface="Playfair Display"/>
                <a:ea typeface="Playfair Display"/>
                <a:cs typeface="Playfair Display"/>
                <a:sym typeface="Helvetica Neue"/>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800" b="1">
                <a:solidFill>
                  <a:schemeClr val="tx2">
                    <a:lumMod val="90000"/>
                    <a:lumOff val="10000"/>
                  </a:schemeClr>
                </a:solidFill>
              </a:rPr>
              <a:t>Bias &amp; Fairness Analysis</a:t>
            </a:r>
          </a:p>
        </p:txBody>
      </p:sp>
      <p:sp>
        <p:nvSpPr>
          <p:cNvPr id="6" name="Textplatzhalter 1">
            <a:extLst>
              <a:ext uri="{FF2B5EF4-FFF2-40B4-BE49-F238E27FC236}">
                <a16:creationId xmlns:a16="http://schemas.microsoft.com/office/drawing/2014/main" id="{E743F4B2-3FE3-33B2-3104-CF0CF5285F72}"/>
              </a:ext>
            </a:extLst>
          </p:cNvPr>
          <p:cNvSpPr>
            <a:spLocks noGrp="1"/>
          </p:cNvSpPr>
          <p:nvPr>
            <p:ph type="body" sz="quarter" idx="13"/>
          </p:nvPr>
        </p:nvSpPr>
        <p:spPr>
          <a:xfrm>
            <a:off x="339691" y="364775"/>
            <a:ext cx="6872065" cy="278339"/>
          </a:xfrm>
        </p:spPr>
        <p:txBody>
          <a:bodyPr vert="horz" lIns="0" tIns="45720" rIns="91440" bIns="45720" rtlCol="0" anchor="t">
            <a:normAutofit/>
          </a:bodyPr>
          <a:lstStyle/>
          <a:p>
            <a:r>
              <a:rPr lang="en-GB">
                <a:latin typeface="Open Sans"/>
                <a:ea typeface="Open Sans"/>
                <a:cs typeface="Open Sans"/>
              </a:rPr>
              <a:t>Group TXB_6 | DATA ECOSYSTEMS &amp; GOVERNANCE IN ORGANIZATIONS</a:t>
            </a:r>
          </a:p>
          <a:p>
            <a:endParaRPr lang="de-DE"/>
          </a:p>
        </p:txBody>
      </p:sp>
      <p:sp>
        <p:nvSpPr>
          <p:cNvPr id="8" name="Shape 3">
            <a:extLst>
              <a:ext uri="{FF2B5EF4-FFF2-40B4-BE49-F238E27FC236}">
                <a16:creationId xmlns:a16="http://schemas.microsoft.com/office/drawing/2014/main" id="{960DB536-F127-5568-80AA-9C5447157EC4}"/>
              </a:ext>
            </a:extLst>
          </p:cNvPr>
          <p:cNvSpPr/>
          <p:nvPr/>
        </p:nvSpPr>
        <p:spPr>
          <a:xfrm>
            <a:off x="685800" y="2127326"/>
            <a:ext cx="2468880" cy="1143000"/>
          </a:xfrm>
          <a:prstGeom prst="roundRect">
            <a:avLst>
              <a:gd name="adj" fmla="val 6400"/>
            </a:avLst>
          </a:prstGeom>
          <a:solidFill>
            <a:schemeClr val="tx2">
              <a:lumMod val="10000"/>
              <a:lumOff val="90000"/>
            </a:schemeClr>
          </a:solidFill>
          <a:ln w="12700">
            <a:solidFill>
              <a:srgbClr val="1E293B"/>
            </a:solidFill>
            <a:prstDash val="solid"/>
          </a:ln>
          <a:effectLst>
            <a:outerShdw blurRad="50800" dist="38100" dir="18900000" algn="bl" rotWithShape="0">
              <a:prstClr val="black">
                <a:alpha val="40000"/>
              </a:prstClr>
            </a:outerShdw>
          </a:effectLst>
        </p:spPr>
        <p:txBody>
          <a:bodyPr/>
          <a:lstStyle/>
          <a:p>
            <a:endParaRPr lang="zh-CN" altLang="en-US"/>
          </a:p>
        </p:txBody>
      </p:sp>
      <p:sp>
        <p:nvSpPr>
          <p:cNvPr id="10" name="Shape 4">
            <a:extLst>
              <a:ext uri="{FF2B5EF4-FFF2-40B4-BE49-F238E27FC236}">
                <a16:creationId xmlns:a16="http://schemas.microsoft.com/office/drawing/2014/main" id="{D162E2CF-97D5-5176-B455-201D6C31F459}"/>
              </a:ext>
            </a:extLst>
          </p:cNvPr>
          <p:cNvSpPr/>
          <p:nvPr/>
        </p:nvSpPr>
        <p:spPr>
          <a:xfrm>
            <a:off x="685800" y="2127326"/>
            <a:ext cx="73152" cy="1143000"/>
          </a:xfrm>
          <a:prstGeom prst="rect">
            <a:avLst/>
          </a:prstGeom>
          <a:solidFill>
            <a:srgbClr val="12B5CB"/>
          </a:solidFill>
          <a:ln w="12700">
            <a:solidFill>
              <a:srgbClr val="12B5CB"/>
            </a:solidFill>
            <a:prstDash val="solid"/>
          </a:ln>
        </p:spPr>
        <p:txBody>
          <a:bodyPr/>
          <a:lstStyle/>
          <a:p>
            <a:endParaRPr lang="zh-CN" altLang="en-US"/>
          </a:p>
        </p:txBody>
      </p:sp>
      <p:sp>
        <p:nvSpPr>
          <p:cNvPr id="11" name="Text 5">
            <a:extLst>
              <a:ext uri="{FF2B5EF4-FFF2-40B4-BE49-F238E27FC236}">
                <a16:creationId xmlns:a16="http://schemas.microsoft.com/office/drawing/2014/main" id="{6680FABD-71A6-0A77-9E21-AAF8AACC16CE}"/>
              </a:ext>
            </a:extLst>
          </p:cNvPr>
          <p:cNvSpPr/>
          <p:nvPr/>
        </p:nvSpPr>
        <p:spPr>
          <a:xfrm>
            <a:off x="886968" y="2291918"/>
            <a:ext cx="2194560" cy="457200"/>
          </a:xfrm>
          <a:prstGeom prst="rect">
            <a:avLst/>
          </a:prstGeom>
          <a:noFill/>
          <a:ln/>
        </p:spPr>
        <p:txBody>
          <a:bodyPr wrap="square" rtlCol="0" anchor="ctr"/>
          <a:lstStyle/>
          <a:p>
            <a:pPr marL="0" indent="0">
              <a:buNone/>
            </a:pPr>
            <a:r>
              <a:rPr lang="en-US" sz="2200" b="1">
                <a:latin typeface="Aptos Display" pitchFamily="34" charset="0"/>
                <a:ea typeface="Aptos Display" pitchFamily="34" charset="-122"/>
                <a:cs typeface="Aptos Display" pitchFamily="34" charset="-120"/>
              </a:rPr>
              <a:t>502</a:t>
            </a:r>
            <a:endParaRPr lang="en-US" sz="2200"/>
          </a:p>
        </p:txBody>
      </p:sp>
      <p:sp>
        <p:nvSpPr>
          <p:cNvPr id="12" name="Text 6">
            <a:extLst>
              <a:ext uri="{FF2B5EF4-FFF2-40B4-BE49-F238E27FC236}">
                <a16:creationId xmlns:a16="http://schemas.microsoft.com/office/drawing/2014/main" id="{9CA0CBFE-3E8E-4B76-5C9F-049BF2DCBBB4}"/>
              </a:ext>
            </a:extLst>
          </p:cNvPr>
          <p:cNvSpPr/>
          <p:nvPr/>
        </p:nvSpPr>
        <p:spPr>
          <a:xfrm>
            <a:off x="886968" y="2785694"/>
            <a:ext cx="2194560" cy="347472"/>
          </a:xfrm>
          <a:prstGeom prst="rect">
            <a:avLst/>
          </a:prstGeom>
          <a:noFill/>
          <a:ln/>
        </p:spPr>
        <p:txBody>
          <a:bodyPr wrap="square" rtlCol="0" anchor="ctr"/>
          <a:lstStyle/>
          <a:p>
            <a:pPr marL="0" indent="0">
              <a:buNone/>
            </a:pPr>
            <a:r>
              <a:rPr lang="en-US" sz="1150">
                <a:latin typeface="Aptos" pitchFamily="34" charset="0"/>
                <a:ea typeface="Aptos" pitchFamily="34" charset="-122"/>
                <a:cs typeface="Aptos" pitchFamily="34" charset="-120"/>
              </a:rPr>
              <a:t>applications in the analysis-ready dataset</a:t>
            </a:r>
            <a:endParaRPr lang="en-US" sz="1150"/>
          </a:p>
        </p:txBody>
      </p:sp>
      <p:sp>
        <p:nvSpPr>
          <p:cNvPr id="13" name="Shape 7">
            <a:extLst>
              <a:ext uri="{FF2B5EF4-FFF2-40B4-BE49-F238E27FC236}">
                <a16:creationId xmlns:a16="http://schemas.microsoft.com/office/drawing/2014/main" id="{A63253E6-B3BE-2B94-852F-ED840E3CB03E}"/>
              </a:ext>
            </a:extLst>
          </p:cNvPr>
          <p:cNvSpPr/>
          <p:nvPr/>
        </p:nvSpPr>
        <p:spPr>
          <a:xfrm>
            <a:off x="3337560" y="2127326"/>
            <a:ext cx="2468880" cy="1143000"/>
          </a:xfrm>
          <a:prstGeom prst="roundRect">
            <a:avLst>
              <a:gd name="adj" fmla="val 6400"/>
            </a:avLst>
          </a:prstGeom>
          <a:solidFill>
            <a:schemeClr val="tx2">
              <a:lumMod val="10000"/>
              <a:lumOff val="90000"/>
            </a:schemeClr>
          </a:solidFill>
          <a:ln w="12700">
            <a:solidFill>
              <a:srgbClr val="1E293B"/>
            </a:solidFill>
            <a:prstDash val="solid"/>
          </a:ln>
          <a:effectLst>
            <a:outerShdw blurRad="50800" dist="38100" dir="18900000" algn="bl" rotWithShape="0">
              <a:prstClr val="black">
                <a:alpha val="40000"/>
              </a:prstClr>
            </a:outerShdw>
          </a:effectLst>
        </p:spPr>
        <p:txBody>
          <a:bodyPr/>
          <a:lstStyle/>
          <a:p>
            <a:endParaRPr lang="zh-CN" altLang="en-US"/>
          </a:p>
        </p:txBody>
      </p:sp>
      <p:sp>
        <p:nvSpPr>
          <p:cNvPr id="14" name="Shape 8">
            <a:extLst>
              <a:ext uri="{FF2B5EF4-FFF2-40B4-BE49-F238E27FC236}">
                <a16:creationId xmlns:a16="http://schemas.microsoft.com/office/drawing/2014/main" id="{0762EAA0-1158-16FB-F019-CBAF414B9F36}"/>
              </a:ext>
            </a:extLst>
          </p:cNvPr>
          <p:cNvSpPr/>
          <p:nvPr/>
        </p:nvSpPr>
        <p:spPr>
          <a:xfrm>
            <a:off x="3337560" y="2127326"/>
            <a:ext cx="73152" cy="1143000"/>
          </a:xfrm>
          <a:prstGeom prst="rect">
            <a:avLst/>
          </a:prstGeom>
          <a:solidFill>
            <a:srgbClr val="F59E0B"/>
          </a:solidFill>
          <a:ln w="12700">
            <a:solidFill>
              <a:srgbClr val="F59E0B"/>
            </a:solidFill>
            <a:prstDash val="solid"/>
          </a:ln>
        </p:spPr>
        <p:txBody>
          <a:bodyPr/>
          <a:lstStyle/>
          <a:p>
            <a:endParaRPr lang="zh-CN" altLang="en-US"/>
          </a:p>
        </p:txBody>
      </p:sp>
      <p:sp>
        <p:nvSpPr>
          <p:cNvPr id="16" name="Text 9">
            <a:extLst>
              <a:ext uri="{FF2B5EF4-FFF2-40B4-BE49-F238E27FC236}">
                <a16:creationId xmlns:a16="http://schemas.microsoft.com/office/drawing/2014/main" id="{27A42C71-A27B-00E3-76BD-0543D3C5472E}"/>
              </a:ext>
            </a:extLst>
          </p:cNvPr>
          <p:cNvSpPr/>
          <p:nvPr/>
        </p:nvSpPr>
        <p:spPr>
          <a:xfrm>
            <a:off x="3538728" y="2291918"/>
            <a:ext cx="2194560" cy="457200"/>
          </a:xfrm>
          <a:prstGeom prst="rect">
            <a:avLst/>
          </a:prstGeom>
          <a:noFill/>
          <a:ln/>
        </p:spPr>
        <p:txBody>
          <a:bodyPr wrap="square" rtlCol="0" anchor="ctr"/>
          <a:lstStyle/>
          <a:p>
            <a:pPr marL="0" indent="0">
              <a:buNone/>
            </a:pPr>
            <a:r>
              <a:rPr lang="en-US" sz="2200" b="1">
                <a:latin typeface="Aptos Display" pitchFamily="34" charset="0"/>
                <a:ea typeface="Aptos Display" pitchFamily="34" charset="-122"/>
                <a:cs typeface="Aptos Display" pitchFamily="34" charset="-120"/>
              </a:rPr>
              <a:t>3</a:t>
            </a:r>
            <a:endParaRPr lang="en-US" sz="2200"/>
          </a:p>
        </p:txBody>
      </p:sp>
      <p:sp>
        <p:nvSpPr>
          <p:cNvPr id="17" name="Text 10">
            <a:extLst>
              <a:ext uri="{FF2B5EF4-FFF2-40B4-BE49-F238E27FC236}">
                <a16:creationId xmlns:a16="http://schemas.microsoft.com/office/drawing/2014/main" id="{68D9395D-E253-2D20-8DF9-074B16F3AC1E}"/>
              </a:ext>
            </a:extLst>
          </p:cNvPr>
          <p:cNvSpPr/>
          <p:nvPr/>
        </p:nvSpPr>
        <p:spPr>
          <a:xfrm>
            <a:off x="3538728" y="2785694"/>
            <a:ext cx="2194560" cy="347472"/>
          </a:xfrm>
          <a:prstGeom prst="rect">
            <a:avLst/>
          </a:prstGeom>
          <a:noFill/>
          <a:ln/>
        </p:spPr>
        <p:txBody>
          <a:bodyPr wrap="square" rtlCol="0" anchor="ctr"/>
          <a:lstStyle/>
          <a:p>
            <a:pPr marL="0" indent="0">
              <a:buNone/>
            </a:pPr>
            <a:r>
              <a:rPr lang="en-US" sz="1150">
                <a:latin typeface="Aptos" pitchFamily="34" charset="0"/>
                <a:ea typeface="Aptos" pitchFamily="34" charset="-122"/>
                <a:cs typeface="Aptos" pitchFamily="34" charset="-120"/>
              </a:rPr>
              <a:t>rows with missing gender (0.60%)</a:t>
            </a:r>
            <a:endParaRPr lang="en-US" sz="1150"/>
          </a:p>
        </p:txBody>
      </p:sp>
      <p:sp>
        <p:nvSpPr>
          <p:cNvPr id="18" name="Shape 11">
            <a:extLst>
              <a:ext uri="{FF2B5EF4-FFF2-40B4-BE49-F238E27FC236}">
                <a16:creationId xmlns:a16="http://schemas.microsoft.com/office/drawing/2014/main" id="{B11C2633-1F62-73E8-513F-6ACD87E6CA42}"/>
              </a:ext>
            </a:extLst>
          </p:cNvPr>
          <p:cNvSpPr/>
          <p:nvPr/>
        </p:nvSpPr>
        <p:spPr>
          <a:xfrm>
            <a:off x="5989320" y="2127326"/>
            <a:ext cx="2468880" cy="1143000"/>
          </a:xfrm>
          <a:prstGeom prst="roundRect">
            <a:avLst>
              <a:gd name="adj" fmla="val 6400"/>
            </a:avLst>
          </a:prstGeom>
          <a:solidFill>
            <a:schemeClr val="tx2">
              <a:lumMod val="10000"/>
              <a:lumOff val="90000"/>
            </a:schemeClr>
          </a:solidFill>
          <a:ln w="12700">
            <a:solidFill>
              <a:srgbClr val="1E293B"/>
            </a:solidFill>
            <a:prstDash val="solid"/>
          </a:ln>
          <a:effectLst>
            <a:outerShdw blurRad="50800" dist="38100" dir="18900000" algn="bl" rotWithShape="0">
              <a:prstClr val="black">
                <a:alpha val="40000"/>
              </a:prstClr>
            </a:outerShdw>
          </a:effectLst>
        </p:spPr>
        <p:txBody>
          <a:bodyPr/>
          <a:lstStyle/>
          <a:p>
            <a:endParaRPr lang="zh-CN" altLang="en-US"/>
          </a:p>
        </p:txBody>
      </p:sp>
      <p:sp>
        <p:nvSpPr>
          <p:cNvPr id="19" name="Shape 12">
            <a:extLst>
              <a:ext uri="{FF2B5EF4-FFF2-40B4-BE49-F238E27FC236}">
                <a16:creationId xmlns:a16="http://schemas.microsoft.com/office/drawing/2014/main" id="{630E0A1E-ECD6-D631-C9F2-0E4EE6B852A1}"/>
              </a:ext>
            </a:extLst>
          </p:cNvPr>
          <p:cNvSpPr/>
          <p:nvPr/>
        </p:nvSpPr>
        <p:spPr>
          <a:xfrm>
            <a:off x="5989320" y="2127326"/>
            <a:ext cx="73152" cy="1143000"/>
          </a:xfrm>
          <a:prstGeom prst="rect">
            <a:avLst/>
          </a:prstGeom>
          <a:solidFill>
            <a:srgbClr val="10B981"/>
          </a:solidFill>
          <a:ln w="12700">
            <a:solidFill>
              <a:srgbClr val="10B981"/>
            </a:solidFill>
            <a:prstDash val="solid"/>
          </a:ln>
        </p:spPr>
        <p:txBody>
          <a:bodyPr/>
          <a:lstStyle/>
          <a:p>
            <a:endParaRPr lang="zh-CN" altLang="en-US"/>
          </a:p>
        </p:txBody>
      </p:sp>
      <p:sp>
        <p:nvSpPr>
          <p:cNvPr id="20" name="Text 13">
            <a:extLst>
              <a:ext uri="{FF2B5EF4-FFF2-40B4-BE49-F238E27FC236}">
                <a16:creationId xmlns:a16="http://schemas.microsoft.com/office/drawing/2014/main" id="{8C12C8D2-8A23-C79E-D6B4-A6C9EED992C7}"/>
              </a:ext>
            </a:extLst>
          </p:cNvPr>
          <p:cNvSpPr/>
          <p:nvPr/>
        </p:nvSpPr>
        <p:spPr>
          <a:xfrm>
            <a:off x="6190488" y="2291918"/>
            <a:ext cx="2194560" cy="457200"/>
          </a:xfrm>
          <a:prstGeom prst="rect">
            <a:avLst/>
          </a:prstGeom>
          <a:noFill/>
          <a:ln/>
        </p:spPr>
        <p:txBody>
          <a:bodyPr wrap="square" rtlCol="0" anchor="ctr"/>
          <a:lstStyle/>
          <a:p>
            <a:pPr marL="0" indent="0">
              <a:buNone/>
            </a:pPr>
            <a:r>
              <a:rPr lang="en-US" sz="2200" b="1">
                <a:latin typeface="Aptos Display" pitchFamily="34" charset="0"/>
                <a:ea typeface="Aptos Display" pitchFamily="34" charset="-122"/>
                <a:cs typeface="Aptos Display" pitchFamily="34" charset="-120"/>
              </a:rPr>
              <a:t>499</a:t>
            </a:r>
            <a:endParaRPr lang="en-US" sz="2200"/>
          </a:p>
        </p:txBody>
      </p:sp>
      <p:sp>
        <p:nvSpPr>
          <p:cNvPr id="21" name="Text 14">
            <a:extLst>
              <a:ext uri="{FF2B5EF4-FFF2-40B4-BE49-F238E27FC236}">
                <a16:creationId xmlns:a16="http://schemas.microsoft.com/office/drawing/2014/main" id="{E3294CE3-6288-2EC0-725E-9674D96B6A97}"/>
              </a:ext>
            </a:extLst>
          </p:cNvPr>
          <p:cNvSpPr/>
          <p:nvPr/>
        </p:nvSpPr>
        <p:spPr>
          <a:xfrm>
            <a:off x="6190488" y="2785694"/>
            <a:ext cx="2194560" cy="347472"/>
          </a:xfrm>
          <a:prstGeom prst="rect">
            <a:avLst/>
          </a:prstGeom>
          <a:noFill/>
          <a:ln/>
        </p:spPr>
        <p:txBody>
          <a:bodyPr wrap="square" rtlCol="0" anchor="ctr"/>
          <a:lstStyle/>
          <a:p>
            <a:pPr marL="0" indent="0">
              <a:buNone/>
            </a:pPr>
            <a:r>
              <a:rPr lang="en-US" sz="1150">
                <a:latin typeface="Aptos" pitchFamily="34" charset="0"/>
                <a:ea typeface="Aptos" pitchFamily="34" charset="-122"/>
                <a:cs typeface="Aptos" pitchFamily="34" charset="-120"/>
              </a:rPr>
              <a:t>rows used for DI after dropping missing gender</a:t>
            </a:r>
            <a:endParaRPr lang="en-US" sz="1150"/>
          </a:p>
        </p:txBody>
      </p:sp>
      <p:sp>
        <p:nvSpPr>
          <p:cNvPr id="22" name="Shape 15">
            <a:extLst>
              <a:ext uri="{FF2B5EF4-FFF2-40B4-BE49-F238E27FC236}">
                <a16:creationId xmlns:a16="http://schemas.microsoft.com/office/drawing/2014/main" id="{1D4B4D56-1C64-C21C-EC4C-9C97535B0407}"/>
              </a:ext>
            </a:extLst>
          </p:cNvPr>
          <p:cNvSpPr/>
          <p:nvPr/>
        </p:nvSpPr>
        <p:spPr>
          <a:xfrm>
            <a:off x="8641080" y="2127326"/>
            <a:ext cx="2468880" cy="1143000"/>
          </a:xfrm>
          <a:prstGeom prst="roundRect">
            <a:avLst>
              <a:gd name="adj" fmla="val 6400"/>
            </a:avLst>
          </a:prstGeom>
          <a:solidFill>
            <a:schemeClr val="tx2">
              <a:lumMod val="10000"/>
              <a:lumOff val="90000"/>
            </a:schemeClr>
          </a:solidFill>
          <a:ln w="12700">
            <a:solidFill>
              <a:srgbClr val="1E293B"/>
            </a:solidFill>
            <a:prstDash val="solid"/>
          </a:ln>
          <a:effectLst>
            <a:outerShdw blurRad="50800" dist="38100" dir="18900000" algn="bl" rotWithShape="0">
              <a:prstClr val="black">
                <a:alpha val="40000"/>
              </a:prstClr>
            </a:outerShdw>
          </a:effectLst>
        </p:spPr>
        <p:txBody>
          <a:bodyPr/>
          <a:lstStyle/>
          <a:p>
            <a:endParaRPr lang="zh-CN" altLang="en-US"/>
          </a:p>
        </p:txBody>
      </p:sp>
      <p:sp>
        <p:nvSpPr>
          <p:cNvPr id="23" name="Shape 16">
            <a:extLst>
              <a:ext uri="{FF2B5EF4-FFF2-40B4-BE49-F238E27FC236}">
                <a16:creationId xmlns:a16="http://schemas.microsoft.com/office/drawing/2014/main" id="{40836453-C05B-698C-7751-D9B6B52A64F3}"/>
              </a:ext>
            </a:extLst>
          </p:cNvPr>
          <p:cNvSpPr/>
          <p:nvPr/>
        </p:nvSpPr>
        <p:spPr>
          <a:xfrm>
            <a:off x="8641080" y="2127326"/>
            <a:ext cx="73152" cy="1143000"/>
          </a:xfrm>
          <a:prstGeom prst="rect">
            <a:avLst/>
          </a:prstGeom>
          <a:solidFill>
            <a:srgbClr val="A855F7"/>
          </a:solidFill>
          <a:ln w="12700">
            <a:solidFill>
              <a:srgbClr val="A855F7"/>
            </a:solidFill>
            <a:prstDash val="solid"/>
          </a:ln>
        </p:spPr>
        <p:txBody>
          <a:bodyPr/>
          <a:lstStyle/>
          <a:p>
            <a:endParaRPr lang="zh-CN" altLang="en-US"/>
          </a:p>
        </p:txBody>
      </p:sp>
      <p:sp>
        <p:nvSpPr>
          <p:cNvPr id="24" name="Text 17">
            <a:extLst>
              <a:ext uri="{FF2B5EF4-FFF2-40B4-BE49-F238E27FC236}">
                <a16:creationId xmlns:a16="http://schemas.microsoft.com/office/drawing/2014/main" id="{12CBF406-F6AE-9B45-0A6A-EA5C2B902D80}"/>
              </a:ext>
            </a:extLst>
          </p:cNvPr>
          <p:cNvSpPr/>
          <p:nvPr/>
        </p:nvSpPr>
        <p:spPr>
          <a:xfrm>
            <a:off x="8842248" y="2291918"/>
            <a:ext cx="2194560" cy="457200"/>
          </a:xfrm>
          <a:prstGeom prst="rect">
            <a:avLst/>
          </a:prstGeom>
          <a:noFill/>
          <a:ln/>
        </p:spPr>
        <p:txBody>
          <a:bodyPr wrap="square" rtlCol="0" anchor="ctr"/>
          <a:lstStyle/>
          <a:p>
            <a:pPr marL="0" indent="0">
              <a:buNone/>
            </a:pPr>
            <a:r>
              <a:rPr lang="en-US" sz="2200" b="1">
                <a:latin typeface="Aptos Display" pitchFamily="34" charset="0"/>
                <a:ea typeface="Aptos Display" pitchFamily="34" charset="-122"/>
                <a:cs typeface="Aptos Display" pitchFamily="34" charset="-120"/>
              </a:rPr>
              <a:t>3 tests</a:t>
            </a:r>
            <a:endParaRPr lang="en-US" sz="2200"/>
          </a:p>
        </p:txBody>
      </p:sp>
      <p:sp>
        <p:nvSpPr>
          <p:cNvPr id="25" name="Text 18">
            <a:extLst>
              <a:ext uri="{FF2B5EF4-FFF2-40B4-BE49-F238E27FC236}">
                <a16:creationId xmlns:a16="http://schemas.microsoft.com/office/drawing/2014/main" id="{1E2E59AC-97F6-6BE2-5185-C153CFC31AB9}"/>
              </a:ext>
            </a:extLst>
          </p:cNvPr>
          <p:cNvSpPr/>
          <p:nvPr/>
        </p:nvSpPr>
        <p:spPr>
          <a:xfrm>
            <a:off x="8842248" y="2785694"/>
            <a:ext cx="2194560" cy="347472"/>
          </a:xfrm>
          <a:prstGeom prst="rect">
            <a:avLst/>
          </a:prstGeom>
          <a:noFill/>
          <a:ln/>
        </p:spPr>
        <p:txBody>
          <a:bodyPr wrap="square" rtlCol="0" anchor="ctr"/>
          <a:lstStyle/>
          <a:p>
            <a:pPr marL="0" indent="0">
              <a:buNone/>
            </a:pPr>
            <a:r>
              <a:rPr lang="en-US" sz="1150">
                <a:latin typeface="Aptos" pitchFamily="34" charset="0"/>
                <a:ea typeface="Aptos" pitchFamily="34" charset="-122"/>
                <a:cs typeface="Aptos" pitchFamily="34" charset="-120"/>
              </a:rPr>
              <a:t>DI, chi-square, and proxy checks</a:t>
            </a:r>
            <a:endParaRPr lang="en-US" sz="1150"/>
          </a:p>
        </p:txBody>
      </p:sp>
      <p:sp>
        <p:nvSpPr>
          <p:cNvPr id="26" name="Shape 19">
            <a:extLst>
              <a:ext uri="{FF2B5EF4-FFF2-40B4-BE49-F238E27FC236}">
                <a16:creationId xmlns:a16="http://schemas.microsoft.com/office/drawing/2014/main" id="{1EA42E62-1116-C9CE-BDF8-620475A0FEF8}"/>
              </a:ext>
            </a:extLst>
          </p:cNvPr>
          <p:cNvSpPr/>
          <p:nvPr/>
        </p:nvSpPr>
        <p:spPr>
          <a:xfrm>
            <a:off x="685800" y="3681806"/>
            <a:ext cx="10972800" cy="1828800"/>
          </a:xfrm>
          <a:prstGeom prst="roundRect">
            <a:avLst>
              <a:gd name="adj" fmla="val 4000"/>
            </a:avLst>
          </a:prstGeom>
          <a:solidFill>
            <a:schemeClr val="tx2">
              <a:lumMod val="10000"/>
              <a:lumOff val="90000"/>
            </a:schemeClr>
          </a:solidFill>
          <a:ln w="12700">
            <a:noFill/>
            <a:prstDash val="solid"/>
          </a:ln>
          <a:effectLst>
            <a:outerShdw blurRad="50800" dist="38100" dir="18900000" algn="bl" rotWithShape="0">
              <a:prstClr val="black">
                <a:alpha val="40000"/>
              </a:prstClr>
            </a:outerShdw>
          </a:effectLst>
        </p:spPr>
        <p:txBody>
          <a:bodyPr/>
          <a:lstStyle/>
          <a:p>
            <a:endParaRPr lang="zh-CN" altLang="en-US"/>
          </a:p>
        </p:txBody>
      </p:sp>
      <p:sp>
        <p:nvSpPr>
          <p:cNvPr id="27" name="Text 20">
            <a:extLst>
              <a:ext uri="{FF2B5EF4-FFF2-40B4-BE49-F238E27FC236}">
                <a16:creationId xmlns:a16="http://schemas.microsoft.com/office/drawing/2014/main" id="{71401459-15C5-163C-BE80-BF5A7714A706}"/>
              </a:ext>
            </a:extLst>
          </p:cNvPr>
          <p:cNvSpPr/>
          <p:nvPr/>
        </p:nvSpPr>
        <p:spPr>
          <a:xfrm>
            <a:off x="914400" y="3892118"/>
            <a:ext cx="3474720" cy="274320"/>
          </a:xfrm>
          <a:prstGeom prst="rect">
            <a:avLst/>
          </a:prstGeom>
          <a:noFill/>
          <a:ln/>
        </p:spPr>
        <p:txBody>
          <a:bodyPr wrap="square" rtlCol="0" anchor="ctr"/>
          <a:lstStyle/>
          <a:p>
            <a:pPr marL="0" indent="0">
              <a:buNone/>
            </a:pPr>
            <a:r>
              <a:rPr lang="en-US" sz="1700" b="1"/>
              <a:t>How this section is structured</a:t>
            </a:r>
            <a:endParaRPr lang="en-US" sz="1700"/>
          </a:p>
        </p:txBody>
      </p:sp>
      <p:sp>
        <p:nvSpPr>
          <p:cNvPr id="28" name="Text 21">
            <a:extLst>
              <a:ext uri="{FF2B5EF4-FFF2-40B4-BE49-F238E27FC236}">
                <a16:creationId xmlns:a16="http://schemas.microsoft.com/office/drawing/2014/main" id="{7D650AF9-D38E-B9D4-316B-BF87B148BDFC}"/>
              </a:ext>
            </a:extLst>
          </p:cNvPr>
          <p:cNvSpPr/>
          <p:nvPr/>
        </p:nvSpPr>
        <p:spPr>
          <a:xfrm>
            <a:off x="914400" y="4276166"/>
            <a:ext cx="5303520" cy="1005840"/>
          </a:xfrm>
          <a:prstGeom prst="rect">
            <a:avLst/>
          </a:prstGeom>
          <a:noFill/>
          <a:ln/>
        </p:spPr>
        <p:txBody>
          <a:bodyPr wrap="square" rtlCol="0" anchor="ctr"/>
          <a:lstStyle/>
          <a:p>
            <a:pPr marL="228600" indent="-228600">
              <a:buSzPct val="100000"/>
              <a:buChar char="•"/>
            </a:pPr>
            <a:r>
              <a:rPr lang="en-US" sz="1500"/>
              <a:t>1. Compare male vs female approval rates</a:t>
            </a:r>
          </a:p>
          <a:p>
            <a:pPr marL="228600" indent="-228600">
              <a:buSzPct val="100000"/>
              <a:buChar char="•"/>
            </a:pPr>
            <a:r>
              <a:rPr lang="en-US" sz="1500"/>
              <a:t>2. Test whether the gap is statistically supported</a:t>
            </a:r>
          </a:p>
          <a:p>
            <a:pPr marL="228600" indent="-228600">
              <a:buSzPct val="100000"/>
              <a:buChar char="•"/>
            </a:pPr>
            <a:r>
              <a:rPr lang="en-US" sz="1500"/>
              <a:t>3. Check whether ZIP, income, or DTI could act as proxies</a:t>
            </a:r>
          </a:p>
        </p:txBody>
      </p:sp>
      <p:sp>
        <p:nvSpPr>
          <p:cNvPr id="29" name="Text 22">
            <a:extLst>
              <a:ext uri="{FF2B5EF4-FFF2-40B4-BE49-F238E27FC236}">
                <a16:creationId xmlns:a16="http://schemas.microsoft.com/office/drawing/2014/main" id="{6BE51E79-B202-7838-1950-C1A3622F1249}"/>
              </a:ext>
            </a:extLst>
          </p:cNvPr>
          <p:cNvSpPr/>
          <p:nvPr/>
        </p:nvSpPr>
        <p:spPr>
          <a:xfrm>
            <a:off x="6720840" y="3892118"/>
            <a:ext cx="2286000" cy="274320"/>
          </a:xfrm>
          <a:prstGeom prst="rect">
            <a:avLst/>
          </a:prstGeom>
          <a:noFill/>
          <a:ln/>
        </p:spPr>
        <p:txBody>
          <a:bodyPr wrap="square" rtlCol="0" anchor="ctr"/>
          <a:lstStyle/>
          <a:p>
            <a:pPr marL="0" indent="0">
              <a:buNone/>
            </a:pPr>
            <a:r>
              <a:rPr lang="en-US" sz="1700" b="1"/>
              <a:t>Main takeaway</a:t>
            </a:r>
            <a:endParaRPr lang="en-US" sz="1700"/>
          </a:p>
        </p:txBody>
      </p:sp>
      <p:sp>
        <p:nvSpPr>
          <p:cNvPr id="30" name="Text 23">
            <a:extLst>
              <a:ext uri="{FF2B5EF4-FFF2-40B4-BE49-F238E27FC236}">
                <a16:creationId xmlns:a16="http://schemas.microsoft.com/office/drawing/2014/main" id="{7A9A7800-307C-4EB4-636A-291007B140A0}"/>
              </a:ext>
            </a:extLst>
          </p:cNvPr>
          <p:cNvSpPr/>
          <p:nvPr/>
        </p:nvSpPr>
        <p:spPr>
          <a:xfrm>
            <a:off x="6720840" y="4276166"/>
            <a:ext cx="4480560" cy="914400"/>
          </a:xfrm>
          <a:prstGeom prst="rect">
            <a:avLst/>
          </a:prstGeom>
          <a:noFill/>
          <a:ln/>
        </p:spPr>
        <p:txBody>
          <a:bodyPr wrap="square" rtlCol="0" anchor="ctr"/>
          <a:lstStyle/>
          <a:p>
            <a:pPr marL="0" indent="0">
              <a:buNone/>
            </a:pPr>
            <a:r>
              <a:rPr lang="en-US" sz="1500"/>
              <a:t>The notebook finds a clear gender gap in observed approvals. DI falls below the four-fifths threshold, so the result deserves monitoring and follow-up.</a:t>
            </a:r>
          </a:p>
        </p:txBody>
      </p:sp>
    </p:spTree>
    <p:extLst>
      <p:ext uri="{BB962C8B-B14F-4D97-AF65-F5344CB8AC3E}">
        <p14:creationId xmlns:p14="http://schemas.microsoft.com/office/powerpoint/2010/main" val="2077473747"/>
      </p:ext>
    </p:extLst>
  </p:cSld>
  <p:clrMapOvr>
    <a:masterClrMapping/>
  </p:clrMapOvr>
  <p:transition spd="med" advTm="14100"/>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D6B55-5CEA-9876-2B78-676BBB2AEC35}"/>
            </a:ext>
          </a:extLst>
        </p:cNvPr>
        <p:cNvGrpSpPr/>
        <p:nvPr/>
      </p:nvGrpSpPr>
      <p:grpSpPr>
        <a:xfrm>
          <a:off x="0" y="0"/>
          <a:ext cx="0" cy="0"/>
          <a:chOff x="0" y="0"/>
          <a:chExt cx="0" cy="0"/>
        </a:xfrm>
      </p:grpSpPr>
      <p:graphicFrame>
        <p:nvGraphicFramePr>
          <p:cNvPr id="15" name="think-cell data - do not delete" hidden="1">
            <a:extLst>
              <a:ext uri="{FF2B5EF4-FFF2-40B4-BE49-F238E27FC236}">
                <a16:creationId xmlns:a16="http://schemas.microsoft.com/office/drawing/2014/main" id="{8D71A513-E090-708F-DD38-A92FDF84A73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Folie" r:id="rId4" imgW="7772400" imgH="10058400" progId="TCLayout.ActiveDocument.1">
                  <p:embed/>
                </p:oleObj>
              </mc:Choice>
              <mc:Fallback>
                <p:oleObj name="think-cell Folie" r:id="rId4" imgW="7772400" imgH="10058400" progId="TCLayout.ActiveDocument.1">
                  <p:embed/>
                  <p:pic>
                    <p:nvPicPr>
                      <p:cNvPr id="15" name="think-cell data - do not delete" hidden="1">
                        <a:extLst>
                          <a:ext uri="{FF2B5EF4-FFF2-40B4-BE49-F238E27FC236}">
                            <a16:creationId xmlns:a16="http://schemas.microsoft.com/office/drawing/2014/main" id="{8D71A513-E090-708F-DD38-A92FDF84A73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Foliennummernplatzhalter 4">
            <a:extLst>
              <a:ext uri="{FF2B5EF4-FFF2-40B4-BE49-F238E27FC236}">
                <a16:creationId xmlns:a16="http://schemas.microsoft.com/office/drawing/2014/main" id="{ACCE227E-FB16-17EC-B6E7-6B979D0F6085}"/>
              </a:ext>
            </a:extLst>
          </p:cNvPr>
          <p:cNvSpPr>
            <a:spLocks noGrp="1"/>
          </p:cNvSpPr>
          <p:nvPr>
            <p:ph type="sldNum" sz="quarter" idx="21"/>
          </p:nvPr>
        </p:nvSpPr>
        <p:spPr/>
        <p:txBody>
          <a:bodyPr/>
          <a:lstStyle/>
          <a:p>
            <a:fld id="{96D0270E-ECD2-CA4B-BE22-56AEC998461C}" type="slidenum">
              <a:rPr lang="de-DE" smtClean="0">
                <a:solidFill>
                  <a:schemeClr val="tx1"/>
                </a:solidFill>
              </a:rPr>
              <a:t>7</a:t>
            </a:fld>
            <a:endParaRPr lang="de-DE">
              <a:solidFill>
                <a:schemeClr val="tx1"/>
              </a:solidFill>
            </a:endParaRPr>
          </a:p>
        </p:txBody>
      </p:sp>
      <p:sp>
        <p:nvSpPr>
          <p:cNvPr id="9" name="Textplatzhalter 2">
            <a:extLst>
              <a:ext uri="{FF2B5EF4-FFF2-40B4-BE49-F238E27FC236}">
                <a16:creationId xmlns:a16="http://schemas.microsoft.com/office/drawing/2014/main" id="{095DDBD0-87BB-10AF-4DEF-9C4E68A1C5EA}"/>
              </a:ext>
            </a:extLst>
          </p:cNvPr>
          <p:cNvSpPr txBox="1">
            <a:spLocks/>
          </p:cNvSpPr>
          <p:nvPr/>
        </p:nvSpPr>
        <p:spPr>
          <a:xfrm>
            <a:off x="332604" y="698823"/>
            <a:ext cx="11016146" cy="540306"/>
          </a:xfrm>
          <a:prstGeom prst="rect">
            <a:avLst/>
          </a:prstGeom>
        </p:spPr>
        <p:txBody>
          <a:bodyPr vert="horz" lIns="0" tIns="45720" rIns="91440" bIns="45720" rtlCol="0" anchor="t">
            <a:noAutofit/>
          </a:bodyPr>
          <a:lstStyle>
            <a:lvl1pPr marL="0" marR="0" indent="0" algn="l" defTabSz="412750" rtl="0" eaLnBrk="1" fontAlgn="auto" latinLnBrk="0" hangingPunct="0">
              <a:lnSpc>
                <a:spcPct val="80000"/>
              </a:lnSpc>
              <a:spcBef>
                <a:spcPts val="0"/>
              </a:spcBef>
              <a:spcAft>
                <a:spcPts val="0"/>
              </a:spcAft>
              <a:buClrTx/>
              <a:buSzTx/>
              <a:buFontTx/>
              <a:buNone/>
              <a:tabLst/>
              <a:defRPr kumimoji="0" lang="en-US" sz="4550" b="0" i="0" u="none" strike="noStrike" kern="1200" cap="none" spc="0" normalizeH="0" baseline="0" dirty="0" smtClean="0">
                <a:ln>
                  <a:noFill/>
                </a:ln>
                <a:solidFill>
                  <a:srgbClr val="000000"/>
                </a:solidFill>
                <a:effectLst/>
                <a:uFillTx/>
                <a:latin typeface="Playfair Display"/>
                <a:ea typeface="Playfair Display"/>
                <a:cs typeface="Playfair Display"/>
                <a:sym typeface="Helvetica Neue"/>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2800" b="1">
                <a:solidFill>
                  <a:schemeClr val="tx2">
                    <a:lumMod val="90000"/>
                    <a:lumOff val="10000"/>
                  </a:schemeClr>
                </a:solidFill>
                <a:latin typeface="Playfair Display"/>
                <a:sym typeface="Helvetica Neue"/>
              </a:rPr>
              <a:t>Gender </a:t>
            </a:r>
            <a:r>
              <a:rPr lang="en-US" altLang="zh-CN" sz="2800" b="1">
                <a:solidFill>
                  <a:schemeClr val="tx2">
                    <a:lumMod val="90000"/>
                    <a:lumOff val="10000"/>
                  </a:schemeClr>
                </a:solidFill>
              </a:rPr>
              <a:t>disparity</a:t>
            </a:r>
            <a:r>
              <a:rPr lang="en-US" altLang="zh-CN" sz="2800" b="1">
                <a:solidFill>
                  <a:schemeClr val="tx2">
                    <a:lumMod val="90000"/>
                    <a:lumOff val="10000"/>
                  </a:schemeClr>
                </a:solidFill>
                <a:latin typeface="Playfair Display"/>
                <a:sym typeface="Helvetica Neue"/>
              </a:rPr>
              <a:t> in observed </a:t>
            </a:r>
            <a:r>
              <a:rPr lang="en-US" altLang="zh-CN" sz="2800" b="1">
                <a:solidFill>
                  <a:schemeClr val="tx2">
                    <a:lumMod val="90000"/>
                    <a:lumOff val="10000"/>
                  </a:schemeClr>
                </a:solidFill>
              </a:rPr>
              <a:t>approvals</a:t>
            </a:r>
          </a:p>
        </p:txBody>
      </p:sp>
      <p:sp>
        <p:nvSpPr>
          <p:cNvPr id="6" name="Textplatzhalter 1">
            <a:extLst>
              <a:ext uri="{FF2B5EF4-FFF2-40B4-BE49-F238E27FC236}">
                <a16:creationId xmlns:a16="http://schemas.microsoft.com/office/drawing/2014/main" id="{75E9D35B-0A78-AB4A-0A68-FE9C4D70F746}"/>
              </a:ext>
            </a:extLst>
          </p:cNvPr>
          <p:cNvSpPr>
            <a:spLocks noGrp="1"/>
          </p:cNvSpPr>
          <p:nvPr>
            <p:ph type="body" sz="quarter" idx="13"/>
          </p:nvPr>
        </p:nvSpPr>
        <p:spPr>
          <a:xfrm>
            <a:off x="339691" y="364775"/>
            <a:ext cx="6872065" cy="278339"/>
          </a:xfrm>
        </p:spPr>
        <p:txBody>
          <a:bodyPr vert="horz" lIns="0" tIns="45720" rIns="91440" bIns="45720" rtlCol="0" anchor="t">
            <a:normAutofit/>
          </a:bodyPr>
          <a:lstStyle/>
          <a:p>
            <a:r>
              <a:rPr lang="en-GB">
                <a:latin typeface="Open Sans"/>
                <a:ea typeface="Open Sans"/>
                <a:cs typeface="Open Sans"/>
              </a:rPr>
              <a:t>Group TXB_6 | DATA ECOSYSTEMS &amp; GOVERNANCE IN ORGANIZATIONS</a:t>
            </a:r>
          </a:p>
          <a:p>
            <a:endParaRPr lang="de-DE"/>
          </a:p>
        </p:txBody>
      </p:sp>
      <p:sp>
        <p:nvSpPr>
          <p:cNvPr id="2" name="Text 0">
            <a:extLst>
              <a:ext uri="{FF2B5EF4-FFF2-40B4-BE49-F238E27FC236}">
                <a16:creationId xmlns:a16="http://schemas.microsoft.com/office/drawing/2014/main" id="{95A736EB-9EDD-E43C-50CC-A167A478BBBA}"/>
              </a:ext>
            </a:extLst>
          </p:cNvPr>
          <p:cNvSpPr/>
          <p:nvPr/>
        </p:nvSpPr>
        <p:spPr>
          <a:xfrm>
            <a:off x="594360" y="411480"/>
            <a:ext cx="8138160" cy="502920"/>
          </a:xfrm>
          <a:prstGeom prst="rect">
            <a:avLst/>
          </a:prstGeom>
          <a:noFill/>
          <a:ln/>
        </p:spPr>
        <p:txBody>
          <a:bodyPr wrap="square" rtlCol="0" anchor="ctr"/>
          <a:lstStyle/>
          <a:p>
            <a:pPr marL="0" indent="0">
              <a:buNone/>
            </a:pPr>
            <a:endParaRPr lang="en-US" sz="2800">
              <a:latin typeface="Playfair Display"/>
              <a:sym typeface="Helvetica Neue"/>
            </a:endParaRPr>
          </a:p>
        </p:txBody>
      </p:sp>
      <p:sp>
        <p:nvSpPr>
          <p:cNvPr id="4" name="Text 1">
            <a:extLst>
              <a:ext uri="{FF2B5EF4-FFF2-40B4-BE49-F238E27FC236}">
                <a16:creationId xmlns:a16="http://schemas.microsoft.com/office/drawing/2014/main" id="{E457F12B-E430-B74F-FBD5-3E35840B031A}"/>
              </a:ext>
            </a:extLst>
          </p:cNvPr>
          <p:cNvSpPr/>
          <p:nvPr/>
        </p:nvSpPr>
        <p:spPr>
          <a:xfrm>
            <a:off x="3198026" y="1033188"/>
            <a:ext cx="8412480" cy="320040"/>
          </a:xfrm>
          <a:prstGeom prst="rect">
            <a:avLst/>
          </a:prstGeom>
          <a:noFill/>
          <a:ln/>
        </p:spPr>
        <p:txBody>
          <a:bodyPr wrap="square" rtlCol="0" anchor="ctr"/>
          <a:lstStyle/>
          <a:p>
            <a:pPr marL="0" indent="0">
              <a:buNone/>
            </a:pPr>
            <a:r>
              <a:rPr lang="en-US" sz="1400">
                <a:latin typeface="Aptos" pitchFamily="34" charset="0"/>
                <a:ea typeface="Aptos" pitchFamily="34" charset="-122"/>
                <a:cs typeface="Aptos" pitchFamily="34" charset="-120"/>
              </a:rPr>
              <a:t>Approval rates, DI, and the four-fifths rule</a:t>
            </a:r>
            <a:endParaRPr lang="en-US" sz="1400"/>
          </a:p>
        </p:txBody>
      </p:sp>
      <p:graphicFrame>
        <p:nvGraphicFramePr>
          <p:cNvPr id="7" name="Chart 0">
            <a:extLst>
              <a:ext uri="{FF2B5EF4-FFF2-40B4-BE49-F238E27FC236}">
                <a16:creationId xmlns:a16="http://schemas.microsoft.com/office/drawing/2014/main" id="{E5A127FA-572A-4C4C-2549-CD96E2791D20}"/>
              </a:ext>
            </a:extLst>
          </p:cNvPr>
          <p:cNvGraphicFramePr/>
          <p:nvPr>
            <p:extLst>
              <p:ext uri="{D42A27DB-BD31-4B8C-83A1-F6EECF244321}">
                <p14:modId xmlns:p14="http://schemas.microsoft.com/office/powerpoint/2010/main" val="3191642635"/>
              </p:ext>
            </p:extLst>
          </p:nvPr>
        </p:nvGraphicFramePr>
        <p:xfrm>
          <a:off x="594360" y="1328017"/>
          <a:ext cx="5029200" cy="4297680"/>
        </p:xfrm>
        <a:graphic>
          <a:graphicData uri="http://schemas.openxmlformats.org/drawingml/2006/chart">
            <c:chart xmlns:c="http://schemas.openxmlformats.org/drawingml/2006/chart" xmlns:r="http://schemas.openxmlformats.org/officeDocument/2006/relationships" r:id="rId6"/>
          </a:graphicData>
        </a:graphic>
      </p:graphicFrame>
      <p:sp>
        <p:nvSpPr>
          <p:cNvPr id="8" name="Text 2">
            <a:extLst>
              <a:ext uri="{FF2B5EF4-FFF2-40B4-BE49-F238E27FC236}">
                <a16:creationId xmlns:a16="http://schemas.microsoft.com/office/drawing/2014/main" id="{6899B740-50B9-1A1A-0462-1AC0E6296B30}"/>
              </a:ext>
            </a:extLst>
          </p:cNvPr>
          <p:cNvSpPr/>
          <p:nvPr/>
        </p:nvSpPr>
        <p:spPr>
          <a:xfrm>
            <a:off x="594360" y="1152329"/>
            <a:ext cx="2286000" cy="228600"/>
          </a:xfrm>
          <a:prstGeom prst="rect">
            <a:avLst/>
          </a:prstGeom>
          <a:noFill/>
          <a:ln/>
        </p:spPr>
        <p:txBody>
          <a:bodyPr wrap="square" rtlCol="0" anchor="ctr"/>
          <a:lstStyle/>
          <a:p>
            <a:pPr marL="0" indent="0">
              <a:buNone/>
            </a:pPr>
            <a:r>
              <a:rPr lang="en-US" sz="1500" b="1"/>
              <a:t>Observed rates</a:t>
            </a:r>
            <a:endParaRPr lang="en-US" sz="1500"/>
          </a:p>
        </p:txBody>
      </p:sp>
      <p:sp>
        <p:nvSpPr>
          <p:cNvPr id="10" name="Text 3">
            <a:extLst>
              <a:ext uri="{FF2B5EF4-FFF2-40B4-BE49-F238E27FC236}">
                <a16:creationId xmlns:a16="http://schemas.microsoft.com/office/drawing/2014/main" id="{ABE76D61-B3D8-2187-6E30-F4336F3CF191}"/>
              </a:ext>
            </a:extLst>
          </p:cNvPr>
          <p:cNvSpPr/>
          <p:nvPr/>
        </p:nvSpPr>
        <p:spPr>
          <a:xfrm>
            <a:off x="868680" y="5529982"/>
            <a:ext cx="4641166" cy="343693"/>
          </a:xfrm>
          <a:prstGeom prst="rect">
            <a:avLst/>
          </a:prstGeom>
          <a:noFill/>
          <a:ln/>
        </p:spPr>
        <p:txBody>
          <a:bodyPr wrap="square" rtlCol="0" anchor="ctr"/>
          <a:lstStyle/>
          <a:p>
            <a:pPr marL="0" indent="0">
              <a:buNone/>
            </a:pPr>
            <a:r>
              <a:rPr lang="en-US" sz="1300"/>
              <a:t>             Male: 0.657 (n=248)                         Female: 0.506 (n=251)</a:t>
            </a:r>
          </a:p>
        </p:txBody>
      </p:sp>
      <p:sp>
        <p:nvSpPr>
          <p:cNvPr id="11" name="Shape 4">
            <a:extLst>
              <a:ext uri="{FF2B5EF4-FFF2-40B4-BE49-F238E27FC236}">
                <a16:creationId xmlns:a16="http://schemas.microsoft.com/office/drawing/2014/main" id="{1963797A-6472-92F9-B1C6-E14022F9ECEE}"/>
              </a:ext>
            </a:extLst>
          </p:cNvPr>
          <p:cNvSpPr/>
          <p:nvPr/>
        </p:nvSpPr>
        <p:spPr>
          <a:xfrm>
            <a:off x="6454588" y="1565238"/>
            <a:ext cx="2194560" cy="1280160"/>
          </a:xfrm>
          <a:prstGeom prst="roundRect">
            <a:avLst>
              <a:gd name="adj" fmla="val 5714"/>
            </a:avLst>
          </a:prstGeom>
          <a:solidFill>
            <a:schemeClr val="tx2">
              <a:lumMod val="10000"/>
              <a:lumOff val="90000"/>
            </a:schemeClr>
          </a:solidFill>
          <a:ln w="12700">
            <a:solidFill>
              <a:srgbClr val="1E293B"/>
            </a:solidFill>
            <a:prstDash val="solid"/>
          </a:ln>
          <a:effectLst>
            <a:outerShdw blurRad="50800" dist="38100" dir="18900000" algn="bl" rotWithShape="0">
              <a:prstClr val="black">
                <a:alpha val="40000"/>
              </a:prstClr>
            </a:outerShdw>
          </a:effectLst>
        </p:spPr>
        <p:txBody>
          <a:bodyPr/>
          <a:lstStyle/>
          <a:p>
            <a:endParaRPr lang="zh-CN" altLang="en-US"/>
          </a:p>
        </p:txBody>
      </p:sp>
      <p:sp>
        <p:nvSpPr>
          <p:cNvPr id="12" name="Shape 5">
            <a:extLst>
              <a:ext uri="{FF2B5EF4-FFF2-40B4-BE49-F238E27FC236}">
                <a16:creationId xmlns:a16="http://schemas.microsoft.com/office/drawing/2014/main" id="{7F558E6A-3AAC-328B-0370-D0BF3AB773C9}"/>
              </a:ext>
            </a:extLst>
          </p:cNvPr>
          <p:cNvSpPr/>
          <p:nvPr/>
        </p:nvSpPr>
        <p:spPr>
          <a:xfrm>
            <a:off x="6454588" y="1565238"/>
            <a:ext cx="73152" cy="1280160"/>
          </a:xfrm>
          <a:prstGeom prst="rect">
            <a:avLst/>
          </a:prstGeom>
          <a:solidFill>
            <a:srgbClr val="F59E0B"/>
          </a:solidFill>
          <a:ln w="12700">
            <a:solidFill>
              <a:srgbClr val="F59E0B"/>
            </a:solidFill>
            <a:prstDash val="solid"/>
          </a:ln>
        </p:spPr>
        <p:txBody>
          <a:bodyPr/>
          <a:lstStyle/>
          <a:p>
            <a:endParaRPr lang="zh-CN" altLang="en-US"/>
          </a:p>
        </p:txBody>
      </p:sp>
      <p:sp>
        <p:nvSpPr>
          <p:cNvPr id="13" name="Text 6">
            <a:extLst>
              <a:ext uri="{FF2B5EF4-FFF2-40B4-BE49-F238E27FC236}">
                <a16:creationId xmlns:a16="http://schemas.microsoft.com/office/drawing/2014/main" id="{7B230C7B-F39C-A00B-D85D-175653D8DC2D}"/>
              </a:ext>
            </a:extLst>
          </p:cNvPr>
          <p:cNvSpPr/>
          <p:nvPr/>
        </p:nvSpPr>
        <p:spPr>
          <a:xfrm>
            <a:off x="6655756" y="1729830"/>
            <a:ext cx="1920240" cy="457200"/>
          </a:xfrm>
          <a:prstGeom prst="rect">
            <a:avLst/>
          </a:prstGeom>
          <a:noFill/>
          <a:ln/>
        </p:spPr>
        <p:txBody>
          <a:bodyPr wrap="square" rtlCol="0" anchor="ctr"/>
          <a:lstStyle/>
          <a:p>
            <a:pPr marL="0" indent="0">
              <a:buNone/>
            </a:pPr>
            <a:r>
              <a:rPr lang="en-US" sz="2200" b="1">
                <a:latin typeface="Aptos Display" pitchFamily="34" charset="0"/>
                <a:ea typeface="Aptos Display" pitchFamily="34" charset="-122"/>
                <a:cs typeface="Aptos Display" pitchFamily="34" charset="-120"/>
              </a:rPr>
              <a:t>0.7698</a:t>
            </a:r>
            <a:endParaRPr lang="en-US" sz="2200"/>
          </a:p>
        </p:txBody>
      </p:sp>
      <p:sp>
        <p:nvSpPr>
          <p:cNvPr id="14" name="Text 7">
            <a:extLst>
              <a:ext uri="{FF2B5EF4-FFF2-40B4-BE49-F238E27FC236}">
                <a16:creationId xmlns:a16="http://schemas.microsoft.com/office/drawing/2014/main" id="{4EDD7A9E-F8B1-0F69-77FC-230E2112EE86}"/>
              </a:ext>
            </a:extLst>
          </p:cNvPr>
          <p:cNvSpPr/>
          <p:nvPr/>
        </p:nvSpPr>
        <p:spPr>
          <a:xfrm>
            <a:off x="6655756" y="2223606"/>
            <a:ext cx="1920240" cy="347472"/>
          </a:xfrm>
          <a:prstGeom prst="rect">
            <a:avLst/>
          </a:prstGeom>
          <a:noFill/>
          <a:ln/>
        </p:spPr>
        <p:txBody>
          <a:bodyPr wrap="square" rtlCol="0" anchor="ctr"/>
          <a:lstStyle/>
          <a:p>
            <a:pPr marL="0" indent="0">
              <a:buNone/>
            </a:pPr>
            <a:r>
              <a:rPr lang="en-US" sz="1150">
                <a:latin typeface="Aptos" pitchFamily="34" charset="0"/>
                <a:ea typeface="Aptos" pitchFamily="34" charset="-122"/>
                <a:cs typeface="Aptos" pitchFamily="34" charset="-120"/>
              </a:rPr>
              <a:t>DI = female approval / male approval</a:t>
            </a:r>
            <a:endParaRPr lang="en-US" sz="1150"/>
          </a:p>
        </p:txBody>
      </p:sp>
      <p:sp>
        <p:nvSpPr>
          <p:cNvPr id="16" name="Shape 8">
            <a:extLst>
              <a:ext uri="{FF2B5EF4-FFF2-40B4-BE49-F238E27FC236}">
                <a16:creationId xmlns:a16="http://schemas.microsoft.com/office/drawing/2014/main" id="{8998DA7E-6DA9-F5A5-A350-2FB73AD9771B}"/>
              </a:ext>
            </a:extLst>
          </p:cNvPr>
          <p:cNvSpPr/>
          <p:nvPr/>
        </p:nvSpPr>
        <p:spPr>
          <a:xfrm>
            <a:off x="8923468" y="1565238"/>
            <a:ext cx="2377440" cy="1280160"/>
          </a:xfrm>
          <a:prstGeom prst="roundRect">
            <a:avLst>
              <a:gd name="adj" fmla="val 5714"/>
            </a:avLst>
          </a:prstGeom>
          <a:solidFill>
            <a:schemeClr val="tx2">
              <a:lumMod val="10000"/>
              <a:lumOff val="90000"/>
            </a:schemeClr>
          </a:solidFill>
          <a:ln w="12700">
            <a:solidFill>
              <a:srgbClr val="1E293B"/>
            </a:solidFill>
            <a:prstDash val="solid"/>
          </a:ln>
          <a:effectLst>
            <a:outerShdw blurRad="50800" dist="38100" dir="18900000" algn="bl" rotWithShape="0">
              <a:prstClr val="black">
                <a:alpha val="40000"/>
              </a:prstClr>
            </a:outerShdw>
          </a:effectLst>
        </p:spPr>
        <p:txBody>
          <a:bodyPr/>
          <a:lstStyle/>
          <a:p>
            <a:endParaRPr lang="zh-CN" altLang="en-US"/>
          </a:p>
        </p:txBody>
      </p:sp>
      <p:sp>
        <p:nvSpPr>
          <p:cNvPr id="17" name="Shape 9">
            <a:extLst>
              <a:ext uri="{FF2B5EF4-FFF2-40B4-BE49-F238E27FC236}">
                <a16:creationId xmlns:a16="http://schemas.microsoft.com/office/drawing/2014/main" id="{9F0E66D2-2C5E-4C9E-6CC3-9A1F423AB411}"/>
              </a:ext>
            </a:extLst>
          </p:cNvPr>
          <p:cNvSpPr/>
          <p:nvPr/>
        </p:nvSpPr>
        <p:spPr>
          <a:xfrm>
            <a:off x="8923468" y="1565238"/>
            <a:ext cx="73152" cy="1280160"/>
          </a:xfrm>
          <a:prstGeom prst="rect">
            <a:avLst/>
          </a:prstGeom>
          <a:solidFill>
            <a:srgbClr val="F97316"/>
          </a:solidFill>
          <a:ln w="12700">
            <a:solidFill>
              <a:srgbClr val="F97316"/>
            </a:solidFill>
            <a:prstDash val="solid"/>
          </a:ln>
        </p:spPr>
        <p:txBody>
          <a:bodyPr/>
          <a:lstStyle/>
          <a:p>
            <a:endParaRPr lang="zh-CN" altLang="en-US"/>
          </a:p>
        </p:txBody>
      </p:sp>
      <p:sp>
        <p:nvSpPr>
          <p:cNvPr id="18" name="Text 10">
            <a:extLst>
              <a:ext uri="{FF2B5EF4-FFF2-40B4-BE49-F238E27FC236}">
                <a16:creationId xmlns:a16="http://schemas.microsoft.com/office/drawing/2014/main" id="{3937C2AB-06FC-BF1B-A366-2B716F4FF261}"/>
              </a:ext>
            </a:extLst>
          </p:cNvPr>
          <p:cNvSpPr/>
          <p:nvPr/>
        </p:nvSpPr>
        <p:spPr>
          <a:xfrm>
            <a:off x="9124636" y="1729830"/>
            <a:ext cx="2103120" cy="457200"/>
          </a:xfrm>
          <a:prstGeom prst="rect">
            <a:avLst/>
          </a:prstGeom>
          <a:noFill/>
          <a:ln/>
        </p:spPr>
        <p:txBody>
          <a:bodyPr wrap="square" rtlCol="0" anchor="ctr"/>
          <a:lstStyle/>
          <a:p>
            <a:pPr marL="0" indent="0">
              <a:buNone/>
            </a:pPr>
            <a:r>
              <a:rPr lang="en-US" sz="2200" b="1">
                <a:latin typeface="Aptos Display" pitchFamily="34" charset="0"/>
                <a:ea typeface="Aptos Display" pitchFamily="34" charset="-122"/>
                <a:cs typeface="Aptos Display" pitchFamily="34" charset="-120"/>
              </a:rPr>
              <a:t>&lt; 0.80</a:t>
            </a:r>
            <a:endParaRPr lang="en-US" sz="2200"/>
          </a:p>
        </p:txBody>
      </p:sp>
      <p:sp>
        <p:nvSpPr>
          <p:cNvPr id="19" name="Text 11">
            <a:extLst>
              <a:ext uri="{FF2B5EF4-FFF2-40B4-BE49-F238E27FC236}">
                <a16:creationId xmlns:a16="http://schemas.microsoft.com/office/drawing/2014/main" id="{863927FC-E0BA-EEA7-2969-FACB6E9329BC}"/>
              </a:ext>
            </a:extLst>
          </p:cNvPr>
          <p:cNvSpPr/>
          <p:nvPr/>
        </p:nvSpPr>
        <p:spPr>
          <a:xfrm>
            <a:off x="9124636" y="2223606"/>
            <a:ext cx="2103120" cy="347472"/>
          </a:xfrm>
          <a:prstGeom prst="rect">
            <a:avLst/>
          </a:prstGeom>
          <a:noFill/>
          <a:ln/>
        </p:spPr>
        <p:txBody>
          <a:bodyPr wrap="square" rtlCol="0" anchor="ctr"/>
          <a:lstStyle/>
          <a:p>
            <a:pPr marL="0" indent="0">
              <a:buNone/>
            </a:pPr>
            <a:r>
              <a:rPr lang="en-US" sz="1150">
                <a:latin typeface="Aptos" pitchFamily="34" charset="0"/>
                <a:ea typeface="Aptos" pitchFamily="34" charset="-122"/>
                <a:cs typeface="Aptos" pitchFamily="34" charset="-120"/>
              </a:rPr>
              <a:t>Four-fifths rule threshold breached</a:t>
            </a:r>
            <a:endParaRPr lang="en-US" sz="1150"/>
          </a:p>
        </p:txBody>
      </p:sp>
      <p:sp>
        <p:nvSpPr>
          <p:cNvPr id="20" name="Shape 12">
            <a:extLst>
              <a:ext uri="{FF2B5EF4-FFF2-40B4-BE49-F238E27FC236}">
                <a16:creationId xmlns:a16="http://schemas.microsoft.com/office/drawing/2014/main" id="{3407851B-B6F6-9C4E-E40D-05C0CA43AB62}"/>
              </a:ext>
            </a:extLst>
          </p:cNvPr>
          <p:cNvSpPr/>
          <p:nvPr/>
        </p:nvSpPr>
        <p:spPr>
          <a:xfrm>
            <a:off x="6454588" y="3165438"/>
            <a:ext cx="4846320" cy="2240280"/>
          </a:xfrm>
          <a:prstGeom prst="roundRect">
            <a:avLst>
              <a:gd name="adj" fmla="val 3265"/>
            </a:avLst>
          </a:prstGeom>
          <a:solidFill>
            <a:schemeClr val="tx2">
              <a:lumMod val="10000"/>
              <a:lumOff val="90000"/>
            </a:schemeClr>
          </a:solidFill>
          <a:ln w="12700">
            <a:solidFill>
              <a:srgbClr val="1E293B"/>
            </a:solidFill>
            <a:prstDash val="solid"/>
          </a:ln>
          <a:effectLst>
            <a:outerShdw blurRad="50800" dist="38100" dir="18900000" algn="bl" rotWithShape="0">
              <a:prstClr val="black">
                <a:alpha val="40000"/>
              </a:prstClr>
            </a:outerShdw>
          </a:effectLst>
        </p:spPr>
        <p:txBody>
          <a:bodyPr/>
          <a:lstStyle/>
          <a:p>
            <a:endParaRPr lang="zh-CN" altLang="en-US"/>
          </a:p>
        </p:txBody>
      </p:sp>
      <p:sp>
        <p:nvSpPr>
          <p:cNvPr id="21" name="Text 13">
            <a:extLst>
              <a:ext uri="{FF2B5EF4-FFF2-40B4-BE49-F238E27FC236}">
                <a16:creationId xmlns:a16="http://schemas.microsoft.com/office/drawing/2014/main" id="{69783302-164C-E4B6-B7DD-AFCCDB5067F4}"/>
              </a:ext>
            </a:extLst>
          </p:cNvPr>
          <p:cNvSpPr/>
          <p:nvPr/>
        </p:nvSpPr>
        <p:spPr>
          <a:xfrm>
            <a:off x="6728908" y="3291303"/>
            <a:ext cx="1828800" cy="228600"/>
          </a:xfrm>
          <a:prstGeom prst="rect">
            <a:avLst/>
          </a:prstGeom>
          <a:noFill/>
          <a:ln/>
        </p:spPr>
        <p:txBody>
          <a:bodyPr wrap="square" rtlCol="0" anchor="ctr"/>
          <a:lstStyle/>
          <a:p>
            <a:pPr marL="0" indent="0">
              <a:buNone/>
            </a:pPr>
            <a:r>
              <a:rPr lang="en-US" sz="1600" b="1"/>
              <a:t>Interpretation</a:t>
            </a:r>
            <a:endParaRPr lang="en-US" sz="1600"/>
          </a:p>
        </p:txBody>
      </p:sp>
      <p:sp>
        <p:nvSpPr>
          <p:cNvPr id="22" name="Text 14">
            <a:extLst>
              <a:ext uri="{FF2B5EF4-FFF2-40B4-BE49-F238E27FC236}">
                <a16:creationId xmlns:a16="http://schemas.microsoft.com/office/drawing/2014/main" id="{71826421-C6F6-BC92-ECF0-3CA46A7B59E7}"/>
              </a:ext>
            </a:extLst>
          </p:cNvPr>
          <p:cNvSpPr/>
          <p:nvPr/>
        </p:nvSpPr>
        <p:spPr>
          <a:xfrm>
            <a:off x="6728908" y="3638775"/>
            <a:ext cx="4114800" cy="914400"/>
          </a:xfrm>
          <a:prstGeom prst="rect">
            <a:avLst/>
          </a:prstGeom>
          <a:noFill/>
          <a:ln/>
        </p:spPr>
        <p:txBody>
          <a:bodyPr wrap="square" rtlCol="0" anchor="ctr"/>
          <a:lstStyle/>
          <a:p>
            <a:pPr marL="0" indent="0">
              <a:buNone/>
            </a:pPr>
            <a:r>
              <a:rPr lang="en-US" sz="1500"/>
              <a:t>DI below 0.80 is a screening flag, not proof of discrimination. It tells us the female group receives approvals at a lower rate in the observed data.</a:t>
            </a:r>
          </a:p>
        </p:txBody>
      </p:sp>
      <p:sp>
        <p:nvSpPr>
          <p:cNvPr id="23" name="Text 15">
            <a:extLst>
              <a:ext uri="{FF2B5EF4-FFF2-40B4-BE49-F238E27FC236}">
                <a16:creationId xmlns:a16="http://schemas.microsoft.com/office/drawing/2014/main" id="{773C05F3-37B5-75FA-C0E9-43EA3465D0B5}"/>
              </a:ext>
            </a:extLst>
          </p:cNvPr>
          <p:cNvSpPr/>
          <p:nvPr/>
        </p:nvSpPr>
        <p:spPr>
          <a:xfrm>
            <a:off x="6728908" y="4644615"/>
            <a:ext cx="2468880" cy="228600"/>
          </a:xfrm>
          <a:prstGeom prst="rect">
            <a:avLst/>
          </a:prstGeom>
          <a:noFill/>
          <a:ln/>
        </p:spPr>
        <p:txBody>
          <a:bodyPr wrap="square" rtlCol="0" anchor="ctr"/>
          <a:lstStyle/>
          <a:p>
            <a:pPr marL="0" indent="0">
              <a:buNone/>
            </a:pPr>
            <a:r>
              <a:rPr lang="en-US" sz="1500" b="1"/>
              <a:t>What to say aloud</a:t>
            </a:r>
            <a:endParaRPr lang="en-US" sz="1500"/>
          </a:p>
        </p:txBody>
      </p:sp>
      <p:sp>
        <p:nvSpPr>
          <p:cNvPr id="24" name="Text 16">
            <a:extLst>
              <a:ext uri="{FF2B5EF4-FFF2-40B4-BE49-F238E27FC236}">
                <a16:creationId xmlns:a16="http://schemas.microsoft.com/office/drawing/2014/main" id="{2F9E66F2-BB0B-60F0-71FC-B1FA66A2A360}"/>
              </a:ext>
            </a:extLst>
          </p:cNvPr>
          <p:cNvSpPr/>
          <p:nvPr/>
        </p:nvSpPr>
        <p:spPr>
          <a:xfrm>
            <a:off x="6728908" y="4918935"/>
            <a:ext cx="4023360" cy="365760"/>
          </a:xfrm>
          <a:prstGeom prst="rect">
            <a:avLst/>
          </a:prstGeom>
          <a:noFill/>
          <a:ln/>
        </p:spPr>
        <p:txBody>
          <a:bodyPr wrap="square" rtlCol="0" anchor="ctr"/>
          <a:lstStyle/>
          <a:p>
            <a:pPr marL="0" indent="0">
              <a:buNone/>
            </a:pPr>
            <a:r>
              <a:rPr lang="en-US" sz="1360" i="1"/>
              <a:t>“The female approval rate is about 15 points lower, and DI falls below the 0.80 threshold.”</a:t>
            </a:r>
            <a:endParaRPr lang="en-US" sz="1360"/>
          </a:p>
        </p:txBody>
      </p:sp>
      <p:sp>
        <p:nvSpPr>
          <p:cNvPr id="27" name="文本框 26">
            <a:extLst>
              <a:ext uri="{FF2B5EF4-FFF2-40B4-BE49-F238E27FC236}">
                <a16:creationId xmlns:a16="http://schemas.microsoft.com/office/drawing/2014/main" id="{F34AF6CF-DA27-9BAB-1606-F9ABC53C40BD}"/>
              </a:ext>
            </a:extLst>
          </p:cNvPr>
          <p:cNvSpPr txBox="1"/>
          <p:nvPr/>
        </p:nvSpPr>
        <p:spPr>
          <a:xfrm>
            <a:off x="1855070" y="1965960"/>
            <a:ext cx="906418" cy="276999"/>
          </a:xfrm>
          <a:prstGeom prst="rect">
            <a:avLst/>
          </a:prstGeom>
          <a:noFill/>
        </p:spPr>
        <p:txBody>
          <a:bodyPr wrap="square" rtlCol="0">
            <a:spAutoFit/>
          </a:bodyPr>
          <a:lstStyle/>
          <a:p>
            <a:r>
              <a:rPr lang="en-US" altLang="zh-CN" sz="1200" b="1">
                <a:solidFill>
                  <a:schemeClr val="accent3">
                    <a:lumMod val="50000"/>
                  </a:schemeClr>
                </a:solidFill>
              </a:rPr>
              <a:t>0.657</a:t>
            </a:r>
            <a:endParaRPr kumimoji="1" lang="zh-CN" altLang="en-US" sz="1200" b="1">
              <a:solidFill>
                <a:schemeClr val="accent3">
                  <a:lumMod val="50000"/>
                </a:schemeClr>
              </a:solidFill>
            </a:endParaRPr>
          </a:p>
        </p:txBody>
      </p:sp>
    </p:spTree>
    <p:extLst>
      <p:ext uri="{BB962C8B-B14F-4D97-AF65-F5344CB8AC3E}">
        <p14:creationId xmlns:p14="http://schemas.microsoft.com/office/powerpoint/2010/main" val="4265377986"/>
      </p:ext>
    </p:extLst>
  </p:cSld>
  <p:clrMapOvr>
    <a:masterClrMapping/>
  </p:clrMapOvr>
  <p:transition spd="med" advTm="22400"/>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AEC9E-B505-F61F-16ED-8119BFA56024}"/>
            </a:ext>
          </a:extLst>
        </p:cNvPr>
        <p:cNvGrpSpPr/>
        <p:nvPr/>
      </p:nvGrpSpPr>
      <p:grpSpPr>
        <a:xfrm>
          <a:off x="0" y="0"/>
          <a:ext cx="0" cy="0"/>
          <a:chOff x="0" y="0"/>
          <a:chExt cx="0" cy="0"/>
        </a:xfrm>
      </p:grpSpPr>
      <p:graphicFrame>
        <p:nvGraphicFramePr>
          <p:cNvPr id="15" name="think-cell data - do not delete" hidden="1">
            <a:extLst>
              <a:ext uri="{FF2B5EF4-FFF2-40B4-BE49-F238E27FC236}">
                <a16:creationId xmlns:a16="http://schemas.microsoft.com/office/drawing/2014/main" id="{4B50EF38-E866-5612-D2E3-5090A504DD3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Folie" r:id="rId4" imgW="7772400" imgH="10058400" progId="TCLayout.ActiveDocument.1">
                  <p:embed/>
                </p:oleObj>
              </mc:Choice>
              <mc:Fallback>
                <p:oleObj name="think-cell Folie" r:id="rId4" imgW="7772400" imgH="10058400" progId="TCLayout.ActiveDocument.1">
                  <p:embed/>
                  <p:pic>
                    <p:nvPicPr>
                      <p:cNvPr id="15" name="think-cell data - do not delete" hidden="1">
                        <a:extLst>
                          <a:ext uri="{FF2B5EF4-FFF2-40B4-BE49-F238E27FC236}">
                            <a16:creationId xmlns:a16="http://schemas.microsoft.com/office/drawing/2014/main" id="{4B50EF38-E866-5612-D2E3-5090A504DD3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Foliennummernplatzhalter 4">
            <a:extLst>
              <a:ext uri="{FF2B5EF4-FFF2-40B4-BE49-F238E27FC236}">
                <a16:creationId xmlns:a16="http://schemas.microsoft.com/office/drawing/2014/main" id="{9609BF5E-A195-B585-7341-BFDD4AD90AD3}"/>
              </a:ext>
            </a:extLst>
          </p:cNvPr>
          <p:cNvSpPr>
            <a:spLocks noGrp="1"/>
          </p:cNvSpPr>
          <p:nvPr>
            <p:ph type="sldNum" sz="quarter" idx="21"/>
          </p:nvPr>
        </p:nvSpPr>
        <p:spPr/>
        <p:txBody>
          <a:bodyPr/>
          <a:lstStyle/>
          <a:p>
            <a:fld id="{96D0270E-ECD2-CA4B-BE22-56AEC998461C}" type="slidenum">
              <a:rPr lang="de-DE" smtClean="0">
                <a:solidFill>
                  <a:schemeClr val="tx1"/>
                </a:solidFill>
              </a:rPr>
              <a:t>8</a:t>
            </a:fld>
            <a:endParaRPr lang="de-DE">
              <a:solidFill>
                <a:schemeClr val="tx1"/>
              </a:solidFill>
            </a:endParaRPr>
          </a:p>
        </p:txBody>
      </p:sp>
      <p:sp>
        <p:nvSpPr>
          <p:cNvPr id="9" name="Textplatzhalter 2">
            <a:extLst>
              <a:ext uri="{FF2B5EF4-FFF2-40B4-BE49-F238E27FC236}">
                <a16:creationId xmlns:a16="http://schemas.microsoft.com/office/drawing/2014/main" id="{5B1DFD76-FD0E-589B-AB1C-B87AA4E8CF8C}"/>
              </a:ext>
            </a:extLst>
          </p:cNvPr>
          <p:cNvSpPr txBox="1">
            <a:spLocks/>
          </p:cNvSpPr>
          <p:nvPr/>
        </p:nvSpPr>
        <p:spPr>
          <a:xfrm>
            <a:off x="332604" y="756880"/>
            <a:ext cx="11016146" cy="540306"/>
          </a:xfrm>
          <a:prstGeom prst="rect">
            <a:avLst/>
          </a:prstGeom>
        </p:spPr>
        <p:txBody>
          <a:bodyPr vert="horz" lIns="0" tIns="45720" rIns="91440" bIns="45720" rtlCol="0" anchor="t">
            <a:noAutofit/>
          </a:bodyPr>
          <a:lstStyle>
            <a:lvl1pPr marL="0" marR="0" indent="0" algn="l" defTabSz="412750" rtl="0" eaLnBrk="1" fontAlgn="auto" latinLnBrk="0" hangingPunct="0">
              <a:lnSpc>
                <a:spcPct val="80000"/>
              </a:lnSpc>
              <a:spcBef>
                <a:spcPts val="0"/>
              </a:spcBef>
              <a:spcAft>
                <a:spcPts val="0"/>
              </a:spcAft>
              <a:buClrTx/>
              <a:buSzTx/>
              <a:buFontTx/>
              <a:buNone/>
              <a:tabLst/>
              <a:defRPr kumimoji="0" lang="en-US" sz="4550" b="0" i="0" u="none" strike="noStrike" kern="1200" cap="none" spc="0" normalizeH="0" baseline="0" dirty="0" smtClean="0">
                <a:ln>
                  <a:noFill/>
                </a:ln>
                <a:solidFill>
                  <a:srgbClr val="000000"/>
                </a:solidFill>
                <a:effectLst/>
                <a:uFillTx/>
                <a:latin typeface="Playfair Display"/>
                <a:ea typeface="Playfair Display"/>
                <a:cs typeface="Playfair Display"/>
                <a:sym typeface="Helvetica Neue"/>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2800" b="1">
                <a:solidFill>
                  <a:schemeClr val="tx2">
                    <a:lumMod val="90000"/>
                    <a:lumOff val="10000"/>
                  </a:schemeClr>
                </a:solidFill>
              </a:rPr>
              <a:t>Is</a:t>
            </a:r>
            <a:r>
              <a:rPr lang="en-US" altLang="zh-CN" sz="2800">
                <a:solidFill>
                  <a:schemeClr val="tx1"/>
                </a:solidFill>
                <a:latin typeface="Playfair Display"/>
                <a:sym typeface="Helvetica Neue"/>
              </a:rPr>
              <a:t> </a:t>
            </a:r>
            <a:r>
              <a:rPr lang="en-US" altLang="zh-CN" sz="2800" b="1">
                <a:solidFill>
                  <a:schemeClr val="tx2">
                    <a:lumMod val="90000"/>
                    <a:lumOff val="10000"/>
                  </a:schemeClr>
                </a:solidFill>
              </a:rPr>
              <a:t>the</a:t>
            </a:r>
            <a:r>
              <a:rPr lang="en-US" altLang="zh-CN" sz="2800">
                <a:solidFill>
                  <a:schemeClr val="tx1"/>
                </a:solidFill>
                <a:latin typeface="Playfair Display"/>
                <a:sym typeface="Helvetica Neue"/>
              </a:rPr>
              <a:t> </a:t>
            </a:r>
            <a:r>
              <a:rPr lang="en-US" altLang="zh-CN" sz="2800" b="1">
                <a:solidFill>
                  <a:schemeClr val="tx2">
                    <a:lumMod val="90000"/>
                    <a:lumOff val="10000"/>
                  </a:schemeClr>
                </a:solidFill>
              </a:rPr>
              <a:t>gap</a:t>
            </a:r>
            <a:r>
              <a:rPr lang="en-US" altLang="zh-CN" sz="2800">
                <a:solidFill>
                  <a:schemeClr val="tx1"/>
                </a:solidFill>
                <a:latin typeface="Playfair Display"/>
                <a:sym typeface="Helvetica Neue"/>
              </a:rPr>
              <a:t> </a:t>
            </a:r>
            <a:r>
              <a:rPr lang="en-US" altLang="zh-CN" sz="2800" b="1">
                <a:solidFill>
                  <a:schemeClr val="tx2">
                    <a:lumMod val="90000"/>
                    <a:lumOff val="10000"/>
                  </a:schemeClr>
                </a:solidFill>
              </a:rPr>
              <a:t>statistically</a:t>
            </a:r>
            <a:r>
              <a:rPr lang="en-US" altLang="zh-CN" sz="2800">
                <a:solidFill>
                  <a:schemeClr val="tx1"/>
                </a:solidFill>
                <a:latin typeface="Playfair Display"/>
                <a:sym typeface="Helvetica Neue"/>
              </a:rPr>
              <a:t> </a:t>
            </a:r>
            <a:r>
              <a:rPr lang="en-US" altLang="zh-CN" sz="2800" b="1">
                <a:solidFill>
                  <a:schemeClr val="tx2">
                    <a:lumMod val="90000"/>
                    <a:lumOff val="10000"/>
                  </a:schemeClr>
                </a:solidFill>
              </a:rPr>
              <a:t>supported</a:t>
            </a:r>
            <a:r>
              <a:rPr lang="en-US" altLang="zh-CN" sz="2800">
                <a:solidFill>
                  <a:schemeClr val="tx1"/>
                </a:solidFill>
                <a:latin typeface="Playfair Display"/>
                <a:sym typeface="Helvetica Neue"/>
              </a:rPr>
              <a:t>?</a:t>
            </a:r>
          </a:p>
        </p:txBody>
      </p:sp>
      <p:sp>
        <p:nvSpPr>
          <p:cNvPr id="6" name="Textplatzhalter 1">
            <a:extLst>
              <a:ext uri="{FF2B5EF4-FFF2-40B4-BE49-F238E27FC236}">
                <a16:creationId xmlns:a16="http://schemas.microsoft.com/office/drawing/2014/main" id="{2E8F7B7A-B956-A975-60FC-1B2FA828B8CC}"/>
              </a:ext>
            </a:extLst>
          </p:cNvPr>
          <p:cNvSpPr>
            <a:spLocks noGrp="1"/>
          </p:cNvSpPr>
          <p:nvPr>
            <p:ph type="body" sz="quarter" idx="13"/>
          </p:nvPr>
        </p:nvSpPr>
        <p:spPr>
          <a:xfrm>
            <a:off x="339691" y="364775"/>
            <a:ext cx="6872065" cy="278339"/>
          </a:xfrm>
        </p:spPr>
        <p:txBody>
          <a:bodyPr vert="horz" lIns="0" tIns="45720" rIns="91440" bIns="45720" rtlCol="0" anchor="t">
            <a:normAutofit/>
          </a:bodyPr>
          <a:lstStyle/>
          <a:p>
            <a:r>
              <a:rPr lang="en-GB">
                <a:latin typeface="Open Sans"/>
                <a:ea typeface="Open Sans"/>
                <a:cs typeface="Open Sans"/>
              </a:rPr>
              <a:t>Group TXB_6 | DATA ECOSYSTEMS &amp; GOVERNANCE IN ORGANIZATIONS</a:t>
            </a:r>
          </a:p>
          <a:p>
            <a:endParaRPr lang="de-DE"/>
          </a:p>
        </p:txBody>
      </p:sp>
      <p:sp>
        <p:nvSpPr>
          <p:cNvPr id="2" name="Text 0">
            <a:extLst>
              <a:ext uri="{FF2B5EF4-FFF2-40B4-BE49-F238E27FC236}">
                <a16:creationId xmlns:a16="http://schemas.microsoft.com/office/drawing/2014/main" id="{22C10F91-E8F6-FC52-CA73-9AA553E76642}"/>
              </a:ext>
            </a:extLst>
          </p:cNvPr>
          <p:cNvSpPr/>
          <p:nvPr/>
        </p:nvSpPr>
        <p:spPr>
          <a:xfrm>
            <a:off x="594360" y="411480"/>
            <a:ext cx="8138160" cy="502920"/>
          </a:xfrm>
          <a:prstGeom prst="rect">
            <a:avLst/>
          </a:prstGeom>
          <a:noFill/>
          <a:ln/>
        </p:spPr>
        <p:txBody>
          <a:bodyPr wrap="square" rtlCol="0" anchor="ctr"/>
          <a:lstStyle/>
          <a:p>
            <a:pPr marL="0" indent="0">
              <a:buNone/>
            </a:pPr>
            <a:endParaRPr lang="en-US" sz="2800">
              <a:latin typeface="Playfair Display"/>
              <a:sym typeface="Helvetica Neue"/>
            </a:endParaRPr>
          </a:p>
        </p:txBody>
      </p:sp>
      <p:sp>
        <p:nvSpPr>
          <p:cNvPr id="4" name="Text 1">
            <a:extLst>
              <a:ext uri="{FF2B5EF4-FFF2-40B4-BE49-F238E27FC236}">
                <a16:creationId xmlns:a16="http://schemas.microsoft.com/office/drawing/2014/main" id="{C5ABFAD7-DB77-20B4-78E9-F523D7E17EDF}"/>
              </a:ext>
            </a:extLst>
          </p:cNvPr>
          <p:cNvSpPr/>
          <p:nvPr/>
        </p:nvSpPr>
        <p:spPr>
          <a:xfrm>
            <a:off x="198120" y="1147379"/>
            <a:ext cx="8412480" cy="320040"/>
          </a:xfrm>
          <a:prstGeom prst="rect">
            <a:avLst/>
          </a:prstGeom>
          <a:noFill/>
          <a:ln/>
        </p:spPr>
        <p:txBody>
          <a:bodyPr wrap="square" rtlCol="0" anchor="ctr"/>
          <a:lstStyle/>
          <a:p>
            <a:pPr marL="0" indent="0">
              <a:buNone/>
            </a:pPr>
            <a:r>
              <a:rPr lang="en-US" sz="1400">
                <a:latin typeface="Aptos" pitchFamily="34" charset="0"/>
                <a:ea typeface="Aptos" pitchFamily="34" charset="-122"/>
                <a:cs typeface="Aptos" pitchFamily="34" charset="-120"/>
              </a:rPr>
              <a:t>Chi-square and effect size tell us whether the pattern is more than random noise</a:t>
            </a:r>
            <a:endParaRPr lang="en-US" sz="1400"/>
          </a:p>
        </p:txBody>
      </p:sp>
      <p:graphicFrame>
        <p:nvGraphicFramePr>
          <p:cNvPr id="7" name="Chart 0">
            <a:extLst>
              <a:ext uri="{FF2B5EF4-FFF2-40B4-BE49-F238E27FC236}">
                <a16:creationId xmlns:a16="http://schemas.microsoft.com/office/drawing/2014/main" id="{9E435C29-A6A4-77B8-7309-224F8A733720}"/>
              </a:ext>
            </a:extLst>
          </p:cNvPr>
          <p:cNvGraphicFramePr/>
          <p:nvPr>
            <p:extLst>
              <p:ext uri="{D42A27DB-BD31-4B8C-83A1-F6EECF244321}">
                <p14:modId xmlns:p14="http://schemas.microsoft.com/office/powerpoint/2010/main" val="1732305857"/>
              </p:ext>
            </p:extLst>
          </p:nvPr>
        </p:nvGraphicFramePr>
        <p:xfrm>
          <a:off x="731520" y="1508760"/>
          <a:ext cx="5212080" cy="4389120"/>
        </p:xfrm>
        <a:graphic>
          <a:graphicData uri="http://schemas.openxmlformats.org/drawingml/2006/chart">
            <c:chart xmlns:c="http://schemas.openxmlformats.org/drawingml/2006/chart" xmlns:r="http://schemas.openxmlformats.org/officeDocument/2006/relationships" r:id="rId6"/>
          </a:graphicData>
        </a:graphic>
      </p:graphicFrame>
      <p:sp>
        <p:nvSpPr>
          <p:cNvPr id="8" name="Shape 2">
            <a:extLst>
              <a:ext uri="{FF2B5EF4-FFF2-40B4-BE49-F238E27FC236}">
                <a16:creationId xmlns:a16="http://schemas.microsoft.com/office/drawing/2014/main" id="{73E1E707-9213-A2FE-3B8D-9DFFB2017078}"/>
              </a:ext>
            </a:extLst>
          </p:cNvPr>
          <p:cNvSpPr/>
          <p:nvPr/>
        </p:nvSpPr>
        <p:spPr>
          <a:xfrm>
            <a:off x="6763869" y="1339328"/>
            <a:ext cx="2011680" cy="1143000"/>
          </a:xfrm>
          <a:prstGeom prst="roundRect">
            <a:avLst>
              <a:gd name="adj" fmla="val 6400"/>
            </a:avLst>
          </a:prstGeom>
          <a:solidFill>
            <a:schemeClr val="tx2">
              <a:lumMod val="10000"/>
              <a:lumOff val="90000"/>
            </a:schemeClr>
          </a:solidFill>
          <a:ln w="12700">
            <a:solidFill>
              <a:srgbClr val="1E293B"/>
            </a:solidFill>
            <a:prstDash val="solid"/>
          </a:ln>
          <a:effectLst>
            <a:outerShdw blurRad="50800" dist="38100" dir="18900000" algn="bl" rotWithShape="0">
              <a:prstClr val="black">
                <a:alpha val="40000"/>
              </a:prstClr>
            </a:outerShdw>
          </a:effectLst>
        </p:spPr>
        <p:txBody>
          <a:bodyPr/>
          <a:lstStyle/>
          <a:p>
            <a:endParaRPr lang="zh-CN" altLang="en-US"/>
          </a:p>
        </p:txBody>
      </p:sp>
      <p:sp>
        <p:nvSpPr>
          <p:cNvPr id="10" name="Shape 3">
            <a:extLst>
              <a:ext uri="{FF2B5EF4-FFF2-40B4-BE49-F238E27FC236}">
                <a16:creationId xmlns:a16="http://schemas.microsoft.com/office/drawing/2014/main" id="{1F4616C8-4FFC-B02A-CAF7-8F7E4BFF638F}"/>
              </a:ext>
            </a:extLst>
          </p:cNvPr>
          <p:cNvSpPr/>
          <p:nvPr/>
        </p:nvSpPr>
        <p:spPr>
          <a:xfrm>
            <a:off x="6763869" y="1339328"/>
            <a:ext cx="73152" cy="1143000"/>
          </a:xfrm>
          <a:prstGeom prst="rect">
            <a:avLst/>
          </a:prstGeom>
          <a:solidFill>
            <a:srgbClr val="12B5CB"/>
          </a:solidFill>
          <a:ln w="12700">
            <a:solidFill>
              <a:srgbClr val="12B5CB"/>
            </a:solidFill>
            <a:prstDash val="solid"/>
          </a:ln>
        </p:spPr>
        <p:txBody>
          <a:bodyPr/>
          <a:lstStyle/>
          <a:p>
            <a:endParaRPr lang="zh-CN" altLang="en-US"/>
          </a:p>
        </p:txBody>
      </p:sp>
      <p:sp>
        <p:nvSpPr>
          <p:cNvPr id="11" name="Text 4">
            <a:extLst>
              <a:ext uri="{FF2B5EF4-FFF2-40B4-BE49-F238E27FC236}">
                <a16:creationId xmlns:a16="http://schemas.microsoft.com/office/drawing/2014/main" id="{48476052-09D0-8A26-94C6-99B027870331}"/>
              </a:ext>
            </a:extLst>
          </p:cNvPr>
          <p:cNvSpPr/>
          <p:nvPr/>
        </p:nvSpPr>
        <p:spPr>
          <a:xfrm>
            <a:off x="6965037" y="1503920"/>
            <a:ext cx="1737360" cy="457200"/>
          </a:xfrm>
          <a:prstGeom prst="rect">
            <a:avLst/>
          </a:prstGeom>
          <a:noFill/>
          <a:ln/>
        </p:spPr>
        <p:txBody>
          <a:bodyPr wrap="square" rtlCol="0" anchor="ctr"/>
          <a:lstStyle/>
          <a:p>
            <a:pPr marL="0" indent="0">
              <a:buNone/>
            </a:pPr>
            <a:r>
              <a:rPr lang="en-US" sz="2200" b="1">
                <a:latin typeface="Aptos Display" pitchFamily="34" charset="0"/>
                <a:ea typeface="Aptos Display" pitchFamily="34" charset="-122"/>
                <a:cs typeface="Aptos Display" pitchFamily="34" charset="-120"/>
              </a:rPr>
              <a:t>0.000856</a:t>
            </a:r>
            <a:endParaRPr lang="en-US" sz="2200"/>
          </a:p>
        </p:txBody>
      </p:sp>
      <p:sp>
        <p:nvSpPr>
          <p:cNvPr id="12" name="Text 5">
            <a:extLst>
              <a:ext uri="{FF2B5EF4-FFF2-40B4-BE49-F238E27FC236}">
                <a16:creationId xmlns:a16="http://schemas.microsoft.com/office/drawing/2014/main" id="{980583A7-164B-30E4-A182-7A21BDA3C93B}"/>
              </a:ext>
            </a:extLst>
          </p:cNvPr>
          <p:cNvSpPr/>
          <p:nvPr/>
        </p:nvSpPr>
        <p:spPr>
          <a:xfrm>
            <a:off x="6965037" y="1997696"/>
            <a:ext cx="1737360" cy="347472"/>
          </a:xfrm>
          <a:prstGeom prst="rect">
            <a:avLst/>
          </a:prstGeom>
          <a:noFill/>
          <a:ln/>
        </p:spPr>
        <p:txBody>
          <a:bodyPr wrap="square" rtlCol="0" anchor="ctr"/>
          <a:lstStyle/>
          <a:p>
            <a:pPr marL="0" indent="0">
              <a:buNone/>
            </a:pPr>
            <a:r>
              <a:rPr lang="en-US" sz="1150">
                <a:latin typeface="Aptos" pitchFamily="34" charset="0"/>
                <a:ea typeface="Aptos" pitchFamily="34" charset="-122"/>
                <a:cs typeface="Aptos" pitchFamily="34" charset="-120"/>
              </a:rPr>
              <a:t>p-value from χ² test</a:t>
            </a:r>
            <a:endParaRPr lang="en-US" sz="1150"/>
          </a:p>
        </p:txBody>
      </p:sp>
      <p:sp>
        <p:nvSpPr>
          <p:cNvPr id="13" name="Shape 6">
            <a:extLst>
              <a:ext uri="{FF2B5EF4-FFF2-40B4-BE49-F238E27FC236}">
                <a16:creationId xmlns:a16="http://schemas.microsoft.com/office/drawing/2014/main" id="{BB6CAE03-125E-751E-B743-8BC29FB839E0}"/>
              </a:ext>
            </a:extLst>
          </p:cNvPr>
          <p:cNvSpPr/>
          <p:nvPr/>
        </p:nvSpPr>
        <p:spPr>
          <a:xfrm>
            <a:off x="9004149" y="1339328"/>
            <a:ext cx="2011680" cy="1143000"/>
          </a:xfrm>
          <a:prstGeom prst="roundRect">
            <a:avLst>
              <a:gd name="adj" fmla="val 6400"/>
            </a:avLst>
          </a:prstGeom>
          <a:solidFill>
            <a:schemeClr val="tx2">
              <a:lumMod val="10000"/>
              <a:lumOff val="90000"/>
            </a:schemeClr>
          </a:solidFill>
          <a:ln w="12700">
            <a:solidFill>
              <a:srgbClr val="1E293B"/>
            </a:solidFill>
            <a:prstDash val="solid"/>
          </a:ln>
          <a:effectLst>
            <a:outerShdw blurRad="50800" dist="38100" dir="18900000" algn="bl" rotWithShape="0">
              <a:prstClr val="black">
                <a:alpha val="40000"/>
              </a:prstClr>
            </a:outerShdw>
          </a:effectLst>
        </p:spPr>
        <p:txBody>
          <a:bodyPr/>
          <a:lstStyle/>
          <a:p>
            <a:endParaRPr lang="zh-CN" altLang="en-US"/>
          </a:p>
        </p:txBody>
      </p:sp>
      <p:sp>
        <p:nvSpPr>
          <p:cNvPr id="14" name="Shape 7">
            <a:extLst>
              <a:ext uri="{FF2B5EF4-FFF2-40B4-BE49-F238E27FC236}">
                <a16:creationId xmlns:a16="http://schemas.microsoft.com/office/drawing/2014/main" id="{83ADF3C5-7D65-1671-27B8-2FC53D67FF2D}"/>
              </a:ext>
            </a:extLst>
          </p:cNvPr>
          <p:cNvSpPr/>
          <p:nvPr/>
        </p:nvSpPr>
        <p:spPr>
          <a:xfrm>
            <a:off x="9004149" y="1339328"/>
            <a:ext cx="73152" cy="1143000"/>
          </a:xfrm>
          <a:prstGeom prst="rect">
            <a:avLst/>
          </a:prstGeom>
          <a:solidFill>
            <a:srgbClr val="F59E0B"/>
          </a:solidFill>
          <a:ln w="12700">
            <a:solidFill>
              <a:srgbClr val="F59E0B"/>
            </a:solidFill>
            <a:prstDash val="solid"/>
          </a:ln>
        </p:spPr>
        <p:txBody>
          <a:bodyPr/>
          <a:lstStyle/>
          <a:p>
            <a:endParaRPr lang="zh-CN" altLang="en-US"/>
          </a:p>
        </p:txBody>
      </p:sp>
      <p:sp>
        <p:nvSpPr>
          <p:cNvPr id="16" name="Text 8">
            <a:extLst>
              <a:ext uri="{FF2B5EF4-FFF2-40B4-BE49-F238E27FC236}">
                <a16:creationId xmlns:a16="http://schemas.microsoft.com/office/drawing/2014/main" id="{86DA46C0-6BFA-5408-80A1-B2871455A303}"/>
              </a:ext>
            </a:extLst>
          </p:cNvPr>
          <p:cNvSpPr/>
          <p:nvPr/>
        </p:nvSpPr>
        <p:spPr>
          <a:xfrm>
            <a:off x="9205317" y="1503920"/>
            <a:ext cx="1737360" cy="457200"/>
          </a:xfrm>
          <a:prstGeom prst="rect">
            <a:avLst/>
          </a:prstGeom>
          <a:noFill/>
          <a:ln/>
        </p:spPr>
        <p:txBody>
          <a:bodyPr wrap="square" rtlCol="0" anchor="ctr"/>
          <a:lstStyle/>
          <a:p>
            <a:pPr marL="0" indent="0">
              <a:buNone/>
            </a:pPr>
            <a:r>
              <a:rPr lang="en-US" sz="2200" b="1">
                <a:latin typeface="Aptos Display" pitchFamily="34" charset="0"/>
                <a:ea typeface="Aptos Display" pitchFamily="34" charset="-122"/>
                <a:cs typeface="Aptos Display" pitchFamily="34" charset="-120"/>
              </a:rPr>
              <a:t>11.12</a:t>
            </a:r>
            <a:endParaRPr lang="en-US" sz="2200"/>
          </a:p>
        </p:txBody>
      </p:sp>
      <p:sp>
        <p:nvSpPr>
          <p:cNvPr id="17" name="Text 9">
            <a:extLst>
              <a:ext uri="{FF2B5EF4-FFF2-40B4-BE49-F238E27FC236}">
                <a16:creationId xmlns:a16="http://schemas.microsoft.com/office/drawing/2014/main" id="{5AD86BBD-2830-351A-4725-FEF82F5CC459}"/>
              </a:ext>
            </a:extLst>
          </p:cNvPr>
          <p:cNvSpPr/>
          <p:nvPr/>
        </p:nvSpPr>
        <p:spPr>
          <a:xfrm>
            <a:off x="9205317" y="1997696"/>
            <a:ext cx="1737360" cy="347472"/>
          </a:xfrm>
          <a:prstGeom prst="rect">
            <a:avLst/>
          </a:prstGeom>
          <a:noFill/>
          <a:ln/>
        </p:spPr>
        <p:txBody>
          <a:bodyPr wrap="square" rtlCol="0" anchor="ctr"/>
          <a:lstStyle/>
          <a:p>
            <a:pPr marL="0" indent="0">
              <a:buNone/>
            </a:pPr>
            <a:r>
              <a:rPr lang="en-US" sz="1150">
                <a:latin typeface="Aptos" pitchFamily="34" charset="0"/>
                <a:ea typeface="Aptos" pitchFamily="34" charset="-122"/>
                <a:cs typeface="Aptos" pitchFamily="34" charset="-120"/>
              </a:rPr>
              <a:t>χ² statistic</a:t>
            </a:r>
            <a:endParaRPr lang="en-US" sz="1150"/>
          </a:p>
        </p:txBody>
      </p:sp>
      <p:sp>
        <p:nvSpPr>
          <p:cNvPr id="18" name="Shape 10">
            <a:extLst>
              <a:ext uri="{FF2B5EF4-FFF2-40B4-BE49-F238E27FC236}">
                <a16:creationId xmlns:a16="http://schemas.microsoft.com/office/drawing/2014/main" id="{CEE24780-884D-AE03-D318-2981AC44F394}"/>
              </a:ext>
            </a:extLst>
          </p:cNvPr>
          <p:cNvSpPr/>
          <p:nvPr/>
        </p:nvSpPr>
        <p:spPr>
          <a:xfrm>
            <a:off x="6763869" y="2756648"/>
            <a:ext cx="2011680" cy="1143000"/>
          </a:xfrm>
          <a:prstGeom prst="roundRect">
            <a:avLst>
              <a:gd name="adj" fmla="val 6400"/>
            </a:avLst>
          </a:prstGeom>
          <a:solidFill>
            <a:schemeClr val="tx2">
              <a:lumMod val="10000"/>
              <a:lumOff val="90000"/>
            </a:schemeClr>
          </a:solidFill>
          <a:ln w="12700">
            <a:solidFill>
              <a:srgbClr val="1E293B"/>
            </a:solidFill>
            <a:prstDash val="solid"/>
          </a:ln>
          <a:effectLst>
            <a:outerShdw blurRad="50800" dist="38100" dir="18900000" algn="bl" rotWithShape="0">
              <a:prstClr val="black">
                <a:alpha val="40000"/>
              </a:prstClr>
            </a:outerShdw>
          </a:effectLst>
        </p:spPr>
        <p:txBody>
          <a:bodyPr/>
          <a:lstStyle/>
          <a:p>
            <a:endParaRPr lang="zh-CN" altLang="en-US"/>
          </a:p>
        </p:txBody>
      </p:sp>
      <p:sp>
        <p:nvSpPr>
          <p:cNvPr id="19" name="Shape 11">
            <a:extLst>
              <a:ext uri="{FF2B5EF4-FFF2-40B4-BE49-F238E27FC236}">
                <a16:creationId xmlns:a16="http://schemas.microsoft.com/office/drawing/2014/main" id="{B7F00416-68E0-0191-EA52-B2D1F7E0EDC8}"/>
              </a:ext>
            </a:extLst>
          </p:cNvPr>
          <p:cNvSpPr/>
          <p:nvPr/>
        </p:nvSpPr>
        <p:spPr>
          <a:xfrm>
            <a:off x="6763869" y="2756648"/>
            <a:ext cx="73152" cy="1143000"/>
          </a:xfrm>
          <a:prstGeom prst="rect">
            <a:avLst/>
          </a:prstGeom>
          <a:solidFill>
            <a:srgbClr val="10B981"/>
          </a:solidFill>
          <a:ln w="12700">
            <a:solidFill>
              <a:srgbClr val="10B981"/>
            </a:solidFill>
            <a:prstDash val="solid"/>
          </a:ln>
        </p:spPr>
        <p:txBody>
          <a:bodyPr/>
          <a:lstStyle/>
          <a:p>
            <a:endParaRPr lang="zh-CN" altLang="en-US"/>
          </a:p>
        </p:txBody>
      </p:sp>
      <p:sp>
        <p:nvSpPr>
          <p:cNvPr id="20" name="Text 12">
            <a:extLst>
              <a:ext uri="{FF2B5EF4-FFF2-40B4-BE49-F238E27FC236}">
                <a16:creationId xmlns:a16="http://schemas.microsoft.com/office/drawing/2014/main" id="{912F967A-C414-A011-B9D5-6C85F6A05E3F}"/>
              </a:ext>
            </a:extLst>
          </p:cNvPr>
          <p:cNvSpPr/>
          <p:nvPr/>
        </p:nvSpPr>
        <p:spPr>
          <a:xfrm>
            <a:off x="6965037" y="2921240"/>
            <a:ext cx="1737360" cy="457200"/>
          </a:xfrm>
          <a:prstGeom prst="rect">
            <a:avLst/>
          </a:prstGeom>
          <a:noFill/>
          <a:ln/>
        </p:spPr>
        <p:txBody>
          <a:bodyPr wrap="square" rtlCol="0" anchor="ctr"/>
          <a:lstStyle/>
          <a:p>
            <a:pPr marL="0" indent="0">
              <a:buNone/>
            </a:pPr>
            <a:r>
              <a:rPr lang="en-US" sz="2200" b="1">
                <a:latin typeface="Aptos Display" pitchFamily="34" charset="0"/>
                <a:ea typeface="Aptos Display" pitchFamily="34" charset="-122"/>
                <a:cs typeface="Aptos Display" pitchFamily="34" charset="-120"/>
              </a:rPr>
              <a:t>0.149</a:t>
            </a:r>
            <a:endParaRPr lang="en-US" sz="2200"/>
          </a:p>
        </p:txBody>
      </p:sp>
      <p:sp>
        <p:nvSpPr>
          <p:cNvPr id="21" name="Text 13">
            <a:extLst>
              <a:ext uri="{FF2B5EF4-FFF2-40B4-BE49-F238E27FC236}">
                <a16:creationId xmlns:a16="http://schemas.microsoft.com/office/drawing/2014/main" id="{C1322C07-E126-9A84-D4EE-5F804407BAEB}"/>
              </a:ext>
            </a:extLst>
          </p:cNvPr>
          <p:cNvSpPr/>
          <p:nvPr/>
        </p:nvSpPr>
        <p:spPr>
          <a:xfrm>
            <a:off x="6965037" y="3415016"/>
            <a:ext cx="1737360" cy="347472"/>
          </a:xfrm>
          <a:prstGeom prst="rect">
            <a:avLst/>
          </a:prstGeom>
          <a:noFill/>
          <a:ln/>
        </p:spPr>
        <p:txBody>
          <a:bodyPr wrap="square" rtlCol="0" anchor="ctr"/>
          <a:lstStyle/>
          <a:p>
            <a:pPr marL="0" indent="0">
              <a:buNone/>
            </a:pPr>
            <a:r>
              <a:rPr lang="en-US" sz="1150">
                <a:latin typeface="Aptos" pitchFamily="34" charset="0"/>
                <a:ea typeface="Aptos" pitchFamily="34" charset="-122"/>
                <a:cs typeface="Aptos" pitchFamily="34" charset="-120"/>
              </a:rPr>
              <a:t>Cramér's V</a:t>
            </a:r>
            <a:endParaRPr lang="en-US" sz="1150"/>
          </a:p>
        </p:txBody>
      </p:sp>
      <p:sp>
        <p:nvSpPr>
          <p:cNvPr id="22" name="Shape 14">
            <a:extLst>
              <a:ext uri="{FF2B5EF4-FFF2-40B4-BE49-F238E27FC236}">
                <a16:creationId xmlns:a16="http://schemas.microsoft.com/office/drawing/2014/main" id="{F0412628-4D03-664F-647F-3C3E2A264EAD}"/>
              </a:ext>
            </a:extLst>
          </p:cNvPr>
          <p:cNvSpPr/>
          <p:nvPr/>
        </p:nvSpPr>
        <p:spPr>
          <a:xfrm>
            <a:off x="9004149" y="2756648"/>
            <a:ext cx="2011680" cy="1143000"/>
          </a:xfrm>
          <a:prstGeom prst="roundRect">
            <a:avLst>
              <a:gd name="adj" fmla="val 6400"/>
            </a:avLst>
          </a:prstGeom>
          <a:solidFill>
            <a:schemeClr val="tx2">
              <a:lumMod val="10000"/>
              <a:lumOff val="90000"/>
            </a:schemeClr>
          </a:solidFill>
          <a:ln w="12700">
            <a:solidFill>
              <a:srgbClr val="1E293B"/>
            </a:solidFill>
            <a:prstDash val="solid"/>
          </a:ln>
          <a:effectLst>
            <a:outerShdw blurRad="50800" dist="38100" dir="18900000" algn="bl" rotWithShape="0">
              <a:prstClr val="black">
                <a:alpha val="40000"/>
              </a:prstClr>
            </a:outerShdw>
          </a:effectLst>
        </p:spPr>
        <p:txBody>
          <a:bodyPr/>
          <a:lstStyle/>
          <a:p>
            <a:endParaRPr lang="zh-CN" altLang="en-US"/>
          </a:p>
        </p:txBody>
      </p:sp>
      <p:sp>
        <p:nvSpPr>
          <p:cNvPr id="23" name="Shape 15">
            <a:extLst>
              <a:ext uri="{FF2B5EF4-FFF2-40B4-BE49-F238E27FC236}">
                <a16:creationId xmlns:a16="http://schemas.microsoft.com/office/drawing/2014/main" id="{CAB07DF2-54D2-0B82-0C7F-3F127D66B269}"/>
              </a:ext>
            </a:extLst>
          </p:cNvPr>
          <p:cNvSpPr/>
          <p:nvPr/>
        </p:nvSpPr>
        <p:spPr>
          <a:xfrm>
            <a:off x="9004149" y="2756648"/>
            <a:ext cx="73152" cy="1143000"/>
          </a:xfrm>
          <a:prstGeom prst="rect">
            <a:avLst/>
          </a:prstGeom>
          <a:solidFill>
            <a:srgbClr val="A855F7"/>
          </a:solidFill>
          <a:ln w="12700">
            <a:solidFill>
              <a:srgbClr val="A855F7"/>
            </a:solidFill>
            <a:prstDash val="solid"/>
          </a:ln>
        </p:spPr>
        <p:txBody>
          <a:bodyPr/>
          <a:lstStyle/>
          <a:p>
            <a:endParaRPr lang="zh-CN" altLang="en-US"/>
          </a:p>
        </p:txBody>
      </p:sp>
      <p:sp>
        <p:nvSpPr>
          <p:cNvPr id="24" name="Text 16">
            <a:extLst>
              <a:ext uri="{FF2B5EF4-FFF2-40B4-BE49-F238E27FC236}">
                <a16:creationId xmlns:a16="http://schemas.microsoft.com/office/drawing/2014/main" id="{B2C70019-C972-91C8-B6A8-7263322631EB}"/>
              </a:ext>
            </a:extLst>
          </p:cNvPr>
          <p:cNvSpPr/>
          <p:nvPr/>
        </p:nvSpPr>
        <p:spPr>
          <a:xfrm>
            <a:off x="9205317" y="2921240"/>
            <a:ext cx="1737360" cy="457200"/>
          </a:xfrm>
          <a:prstGeom prst="rect">
            <a:avLst/>
          </a:prstGeom>
          <a:noFill/>
          <a:ln/>
        </p:spPr>
        <p:txBody>
          <a:bodyPr wrap="square" rtlCol="0" anchor="ctr"/>
          <a:lstStyle/>
          <a:p>
            <a:pPr marL="0" indent="0">
              <a:buNone/>
            </a:pPr>
            <a:r>
              <a:rPr lang="en-US" sz="2200" b="1">
                <a:latin typeface="Aptos Display" pitchFamily="34" charset="0"/>
                <a:ea typeface="Aptos Display" pitchFamily="34" charset="-122"/>
                <a:cs typeface="Aptos Display" pitchFamily="34" charset="-120"/>
              </a:rPr>
              <a:t>small–moderate</a:t>
            </a:r>
            <a:endParaRPr lang="en-US" sz="2200"/>
          </a:p>
        </p:txBody>
      </p:sp>
      <p:sp>
        <p:nvSpPr>
          <p:cNvPr id="25" name="Text 17">
            <a:extLst>
              <a:ext uri="{FF2B5EF4-FFF2-40B4-BE49-F238E27FC236}">
                <a16:creationId xmlns:a16="http://schemas.microsoft.com/office/drawing/2014/main" id="{FBFC1201-5FD3-44B7-1E41-FD48D63BF377}"/>
              </a:ext>
            </a:extLst>
          </p:cNvPr>
          <p:cNvSpPr/>
          <p:nvPr/>
        </p:nvSpPr>
        <p:spPr>
          <a:xfrm>
            <a:off x="9205317" y="3415016"/>
            <a:ext cx="1737360" cy="347472"/>
          </a:xfrm>
          <a:prstGeom prst="rect">
            <a:avLst/>
          </a:prstGeom>
          <a:noFill/>
          <a:ln/>
        </p:spPr>
        <p:txBody>
          <a:bodyPr wrap="square" rtlCol="0" anchor="ctr"/>
          <a:lstStyle/>
          <a:p>
            <a:pPr marL="0" indent="0">
              <a:buNone/>
            </a:pPr>
            <a:r>
              <a:rPr lang="en-US" sz="1150">
                <a:latin typeface="Aptos" pitchFamily="34" charset="0"/>
                <a:ea typeface="Aptos" pitchFamily="34" charset="-122"/>
                <a:cs typeface="Aptos" pitchFamily="34" charset="-120"/>
              </a:rPr>
              <a:t>association strength</a:t>
            </a:r>
            <a:endParaRPr lang="en-US" sz="1150"/>
          </a:p>
        </p:txBody>
      </p:sp>
      <p:sp>
        <p:nvSpPr>
          <p:cNvPr id="26" name="Shape 18">
            <a:extLst>
              <a:ext uri="{FF2B5EF4-FFF2-40B4-BE49-F238E27FC236}">
                <a16:creationId xmlns:a16="http://schemas.microsoft.com/office/drawing/2014/main" id="{AAAC2F0E-0712-109D-3341-DF2D8EDCD047}"/>
              </a:ext>
            </a:extLst>
          </p:cNvPr>
          <p:cNvSpPr/>
          <p:nvPr/>
        </p:nvSpPr>
        <p:spPr>
          <a:xfrm>
            <a:off x="6763869" y="4265408"/>
            <a:ext cx="4251960" cy="1188720"/>
          </a:xfrm>
          <a:prstGeom prst="roundRect">
            <a:avLst>
              <a:gd name="adj" fmla="val 6154"/>
            </a:avLst>
          </a:prstGeom>
          <a:solidFill>
            <a:schemeClr val="tx2">
              <a:lumMod val="10000"/>
              <a:lumOff val="90000"/>
            </a:schemeClr>
          </a:solidFill>
          <a:ln w="12700">
            <a:solidFill>
              <a:srgbClr val="1E293B"/>
            </a:solidFill>
            <a:prstDash val="solid"/>
          </a:ln>
          <a:effectLst>
            <a:outerShdw blurRad="50800" dist="38100" dir="18900000" algn="bl" rotWithShape="0">
              <a:prstClr val="black">
                <a:alpha val="40000"/>
              </a:prstClr>
            </a:outerShdw>
          </a:effectLst>
        </p:spPr>
        <p:txBody>
          <a:bodyPr/>
          <a:lstStyle/>
          <a:p>
            <a:endParaRPr lang="zh-CN" altLang="en-US"/>
          </a:p>
        </p:txBody>
      </p:sp>
      <p:sp>
        <p:nvSpPr>
          <p:cNvPr id="27" name="Text 19">
            <a:extLst>
              <a:ext uri="{FF2B5EF4-FFF2-40B4-BE49-F238E27FC236}">
                <a16:creationId xmlns:a16="http://schemas.microsoft.com/office/drawing/2014/main" id="{E2C4597E-F781-871D-D8EF-7CDAAAFF22E4}"/>
              </a:ext>
            </a:extLst>
          </p:cNvPr>
          <p:cNvSpPr/>
          <p:nvPr/>
        </p:nvSpPr>
        <p:spPr>
          <a:xfrm>
            <a:off x="6965037" y="4466576"/>
            <a:ext cx="2286000" cy="228600"/>
          </a:xfrm>
          <a:prstGeom prst="rect">
            <a:avLst/>
          </a:prstGeom>
          <a:noFill/>
          <a:ln/>
        </p:spPr>
        <p:txBody>
          <a:bodyPr wrap="square" rtlCol="0" anchor="ctr"/>
          <a:lstStyle/>
          <a:p>
            <a:pPr marL="0" indent="0">
              <a:buNone/>
            </a:pPr>
            <a:r>
              <a:rPr lang="en-US" sz="1550" b="1"/>
              <a:t>Plain-English reading</a:t>
            </a:r>
            <a:endParaRPr lang="en-US" sz="1550"/>
          </a:p>
        </p:txBody>
      </p:sp>
      <p:sp>
        <p:nvSpPr>
          <p:cNvPr id="28" name="Text 20">
            <a:extLst>
              <a:ext uri="{FF2B5EF4-FFF2-40B4-BE49-F238E27FC236}">
                <a16:creationId xmlns:a16="http://schemas.microsoft.com/office/drawing/2014/main" id="{92A6F06C-FFA7-D6BF-F7E1-D86331ED42A0}"/>
              </a:ext>
            </a:extLst>
          </p:cNvPr>
          <p:cNvSpPr/>
          <p:nvPr/>
        </p:nvSpPr>
        <p:spPr>
          <a:xfrm>
            <a:off x="6965037" y="4768328"/>
            <a:ext cx="3794760" cy="502920"/>
          </a:xfrm>
          <a:prstGeom prst="rect">
            <a:avLst/>
          </a:prstGeom>
          <a:noFill/>
          <a:ln/>
        </p:spPr>
        <p:txBody>
          <a:bodyPr wrap="square" rtlCol="0" anchor="ctr"/>
          <a:lstStyle/>
          <a:p>
            <a:pPr marL="0" indent="0">
              <a:buNone/>
            </a:pPr>
            <a:r>
              <a:rPr lang="en-US" sz="1380"/>
              <a:t>The approval gap is statistically supported, but the effect size is not huge. It is real enough to watch, even if it is not massive.</a:t>
            </a:r>
          </a:p>
        </p:txBody>
      </p:sp>
    </p:spTree>
    <p:extLst>
      <p:ext uri="{BB962C8B-B14F-4D97-AF65-F5344CB8AC3E}">
        <p14:creationId xmlns:p14="http://schemas.microsoft.com/office/powerpoint/2010/main" val="447145439"/>
      </p:ext>
    </p:extLst>
  </p:cSld>
  <p:clrMapOvr>
    <a:masterClrMapping/>
  </p:clrMapOvr>
  <p:transition spd="med" advTm="21866"/>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54776-72E5-1507-205F-6B9F0C4B1B47}"/>
            </a:ext>
          </a:extLst>
        </p:cNvPr>
        <p:cNvGrpSpPr/>
        <p:nvPr/>
      </p:nvGrpSpPr>
      <p:grpSpPr>
        <a:xfrm>
          <a:off x="0" y="0"/>
          <a:ext cx="0" cy="0"/>
          <a:chOff x="0" y="0"/>
          <a:chExt cx="0" cy="0"/>
        </a:xfrm>
      </p:grpSpPr>
      <p:graphicFrame>
        <p:nvGraphicFramePr>
          <p:cNvPr id="15" name="think-cell data - do not delete" hidden="1">
            <a:extLst>
              <a:ext uri="{FF2B5EF4-FFF2-40B4-BE49-F238E27FC236}">
                <a16:creationId xmlns:a16="http://schemas.microsoft.com/office/drawing/2014/main" id="{46BB744E-2FF2-9B64-8114-754DDCF0B11A}"/>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Folie" r:id="rId4" imgW="7772400" imgH="10058400" progId="TCLayout.ActiveDocument.1">
                  <p:embed/>
                </p:oleObj>
              </mc:Choice>
              <mc:Fallback>
                <p:oleObj name="think-cell Folie" r:id="rId4" imgW="7772400" imgH="10058400" progId="TCLayout.ActiveDocument.1">
                  <p:embed/>
                  <p:pic>
                    <p:nvPicPr>
                      <p:cNvPr id="15" name="think-cell data - do not delete" hidden="1">
                        <a:extLst>
                          <a:ext uri="{FF2B5EF4-FFF2-40B4-BE49-F238E27FC236}">
                            <a16:creationId xmlns:a16="http://schemas.microsoft.com/office/drawing/2014/main" id="{46BB744E-2FF2-9B64-8114-754DDCF0B11A}"/>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platzhalter 2">
            <a:extLst>
              <a:ext uri="{FF2B5EF4-FFF2-40B4-BE49-F238E27FC236}">
                <a16:creationId xmlns:a16="http://schemas.microsoft.com/office/drawing/2014/main" id="{A6E7F5F0-B5D7-391B-50BC-72FCB2DD9FDD}"/>
              </a:ext>
            </a:extLst>
          </p:cNvPr>
          <p:cNvSpPr txBox="1">
            <a:spLocks/>
          </p:cNvSpPr>
          <p:nvPr/>
        </p:nvSpPr>
        <p:spPr>
          <a:xfrm>
            <a:off x="339691" y="695435"/>
            <a:ext cx="11016146" cy="540306"/>
          </a:xfrm>
          <a:prstGeom prst="rect">
            <a:avLst/>
          </a:prstGeom>
        </p:spPr>
        <p:txBody>
          <a:bodyPr vert="horz" lIns="0" tIns="45720" rIns="91440" bIns="45720" rtlCol="0" anchor="t">
            <a:noAutofit/>
          </a:bodyPr>
          <a:lstStyle>
            <a:lvl1pPr marL="0" marR="0" indent="0" algn="l" defTabSz="412750" rtl="0" eaLnBrk="1" fontAlgn="auto" latinLnBrk="0" hangingPunct="0">
              <a:lnSpc>
                <a:spcPct val="80000"/>
              </a:lnSpc>
              <a:spcBef>
                <a:spcPts val="0"/>
              </a:spcBef>
              <a:spcAft>
                <a:spcPts val="0"/>
              </a:spcAft>
              <a:buClrTx/>
              <a:buSzTx/>
              <a:buFontTx/>
              <a:buNone/>
              <a:tabLst/>
              <a:defRPr kumimoji="0" lang="en-US" sz="4550" b="0" i="0" u="none" strike="noStrike" kern="1200" cap="none" spc="0" normalizeH="0" baseline="0" dirty="0" smtClean="0">
                <a:ln>
                  <a:noFill/>
                </a:ln>
                <a:solidFill>
                  <a:srgbClr val="000000"/>
                </a:solidFill>
                <a:effectLst/>
                <a:uFillTx/>
                <a:latin typeface="Playfair Display"/>
                <a:ea typeface="Playfair Display"/>
                <a:cs typeface="Playfair Display"/>
                <a:sym typeface="Helvetica Neue"/>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412750" hangingPunct="0">
              <a:lnSpc>
                <a:spcPct val="80000"/>
              </a:lnSpc>
              <a:tabLst>
                <a:tab pos="6175375" algn="l"/>
              </a:tabLst>
            </a:pPr>
            <a:r>
              <a:rPr lang="en-US" altLang="zh-CN" sz="2800" b="1">
                <a:solidFill>
                  <a:schemeClr val="tx2">
                    <a:lumMod val="90000"/>
                    <a:lumOff val="10000"/>
                  </a:schemeClr>
                </a:solidFill>
              </a:rPr>
              <a:t>Proxy</a:t>
            </a:r>
            <a:r>
              <a:rPr lang="en-US" altLang="zh-CN" sz="2800">
                <a:solidFill>
                  <a:schemeClr val="tx1"/>
                </a:solidFill>
                <a:latin typeface="Playfair Display"/>
                <a:sym typeface="Helvetica Neue"/>
              </a:rPr>
              <a:t> </a:t>
            </a:r>
            <a:r>
              <a:rPr lang="en-US" altLang="zh-CN" sz="2800" b="1">
                <a:solidFill>
                  <a:schemeClr val="tx2">
                    <a:lumMod val="90000"/>
                    <a:lumOff val="10000"/>
                  </a:schemeClr>
                </a:solidFill>
              </a:rPr>
              <a:t>checks</a:t>
            </a:r>
          </a:p>
        </p:txBody>
      </p:sp>
      <p:sp>
        <p:nvSpPr>
          <p:cNvPr id="6" name="Textplatzhalter 1">
            <a:extLst>
              <a:ext uri="{FF2B5EF4-FFF2-40B4-BE49-F238E27FC236}">
                <a16:creationId xmlns:a16="http://schemas.microsoft.com/office/drawing/2014/main" id="{320E57A9-BAB7-5D50-82AE-D35C5883FF8E}"/>
              </a:ext>
            </a:extLst>
          </p:cNvPr>
          <p:cNvSpPr>
            <a:spLocks noGrp="1"/>
          </p:cNvSpPr>
          <p:nvPr>
            <p:ph type="body" sz="quarter" idx="13"/>
          </p:nvPr>
        </p:nvSpPr>
        <p:spPr>
          <a:xfrm>
            <a:off x="339691" y="364775"/>
            <a:ext cx="6872065" cy="278339"/>
          </a:xfrm>
        </p:spPr>
        <p:txBody>
          <a:bodyPr vert="horz" lIns="0" tIns="45720" rIns="91440" bIns="45720" rtlCol="0" anchor="t">
            <a:normAutofit/>
          </a:bodyPr>
          <a:lstStyle/>
          <a:p>
            <a:r>
              <a:rPr lang="en-GB">
                <a:latin typeface="Open Sans"/>
                <a:ea typeface="Open Sans"/>
                <a:cs typeface="Open Sans"/>
              </a:rPr>
              <a:t>Group TXB_6 | DATA ECOSYSTEMS &amp; GOVERNANCE IN ORGANIZATIONS</a:t>
            </a:r>
          </a:p>
          <a:p>
            <a:endParaRPr lang="de-DE"/>
          </a:p>
        </p:txBody>
      </p:sp>
      <p:sp>
        <p:nvSpPr>
          <p:cNvPr id="2" name="Text 0">
            <a:extLst>
              <a:ext uri="{FF2B5EF4-FFF2-40B4-BE49-F238E27FC236}">
                <a16:creationId xmlns:a16="http://schemas.microsoft.com/office/drawing/2014/main" id="{F217D3D0-2FD3-298B-DC1E-6D7EB4AAEDC8}"/>
              </a:ext>
            </a:extLst>
          </p:cNvPr>
          <p:cNvSpPr/>
          <p:nvPr/>
        </p:nvSpPr>
        <p:spPr>
          <a:xfrm>
            <a:off x="594360" y="411480"/>
            <a:ext cx="8138160" cy="502920"/>
          </a:xfrm>
          <a:prstGeom prst="rect">
            <a:avLst/>
          </a:prstGeom>
          <a:noFill/>
          <a:ln/>
        </p:spPr>
        <p:txBody>
          <a:bodyPr wrap="square" rtlCol="0" anchor="ctr"/>
          <a:lstStyle/>
          <a:p>
            <a:pPr defTabSz="412750" hangingPunct="0">
              <a:lnSpc>
                <a:spcPct val="80000"/>
              </a:lnSpc>
            </a:pPr>
            <a:endParaRPr lang="en-US" sz="2800">
              <a:latin typeface="Playfair Display"/>
              <a:sym typeface="Helvetica Neue"/>
            </a:endParaRPr>
          </a:p>
        </p:txBody>
      </p:sp>
      <p:sp>
        <p:nvSpPr>
          <p:cNvPr id="4" name="Text 1">
            <a:extLst>
              <a:ext uri="{FF2B5EF4-FFF2-40B4-BE49-F238E27FC236}">
                <a16:creationId xmlns:a16="http://schemas.microsoft.com/office/drawing/2014/main" id="{1686E1B8-C26C-3128-CB52-BB9EE917AC40}"/>
              </a:ext>
            </a:extLst>
          </p:cNvPr>
          <p:cNvSpPr/>
          <p:nvPr/>
        </p:nvSpPr>
        <p:spPr>
          <a:xfrm>
            <a:off x="299350" y="985616"/>
            <a:ext cx="8412480" cy="320040"/>
          </a:xfrm>
          <a:prstGeom prst="rect">
            <a:avLst/>
          </a:prstGeom>
          <a:noFill/>
          <a:ln/>
        </p:spPr>
        <p:txBody>
          <a:bodyPr wrap="square" rtlCol="0" anchor="ctr"/>
          <a:lstStyle/>
          <a:p>
            <a:pPr marL="0" indent="0">
              <a:buNone/>
            </a:pPr>
            <a:r>
              <a:rPr lang="en-US" sz="1400">
                <a:latin typeface="Aptos" pitchFamily="34" charset="0"/>
                <a:ea typeface="Aptos" pitchFamily="34" charset="-122"/>
                <a:cs typeface="Aptos" pitchFamily="34" charset="-120"/>
              </a:rPr>
              <a:t>A feature is more concerning when it relates to gender and to approval outcomes</a:t>
            </a:r>
            <a:endParaRPr lang="en-US" sz="1400"/>
          </a:p>
        </p:txBody>
      </p:sp>
      <p:sp>
        <p:nvSpPr>
          <p:cNvPr id="7" name="Text 2">
            <a:extLst>
              <a:ext uri="{FF2B5EF4-FFF2-40B4-BE49-F238E27FC236}">
                <a16:creationId xmlns:a16="http://schemas.microsoft.com/office/drawing/2014/main" id="{245986E1-9885-4682-E80C-8E96AEE80233}"/>
              </a:ext>
            </a:extLst>
          </p:cNvPr>
          <p:cNvSpPr/>
          <p:nvPr/>
        </p:nvSpPr>
        <p:spPr>
          <a:xfrm>
            <a:off x="868638" y="1301682"/>
            <a:ext cx="1353488" cy="287912"/>
          </a:xfrm>
          <a:prstGeom prst="rect">
            <a:avLst/>
          </a:prstGeom>
          <a:noFill/>
          <a:ln/>
        </p:spPr>
        <p:txBody>
          <a:bodyPr wrap="square" rtlCol="0" anchor="ctr"/>
          <a:lstStyle/>
          <a:p>
            <a:pPr marL="0" indent="0">
              <a:buNone/>
            </a:pPr>
            <a:r>
              <a:rPr lang="en-US" sz="1400" b="1">
                <a:solidFill>
                  <a:schemeClr val="accent1">
                    <a:lumMod val="75000"/>
                  </a:schemeClr>
                </a:solidFill>
              </a:rPr>
              <a:t>Candidate</a:t>
            </a:r>
            <a:endParaRPr lang="en-US" sz="1400">
              <a:solidFill>
                <a:schemeClr val="accent1">
                  <a:lumMod val="75000"/>
                </a:schemeClr>
              </a:solidFill>
            </a:endParaRPr>
          </a:p>
        </p:txBody>
      </p:sp>
      <p:sp>
        <p:nvSpPr>
          <p:cNvPr id="8" name="Text 3">
            <a:extLst>
              <a:ext uri="{FF2B5EF4-FFF2-40B4-BE49-F238E27FC236}">
                <a16:creationId xmlns:a16="http://schemas.microsoft.com/office/drawing/2014/main" id="{BD79D51C-C504-4C43-CFCE-9BAFDF76EEF0}"/>
              </a:ext>
            </a:extLst>
          </p:cNvPr>
          <p:cNvSpPr/>
          <p:nvPr/>
        </p:nvSpPr>
        <p:spPr>
          <a:xfrm>
            <a:off x="2762313" y="1301682"/>
            <a:ext cx="2126910" cy="287912"/>
          </a:xfrm>
          <a:prstGeom prst="rect">
            <a:avLst/>
          </a:prstGeom>
          <a:noFill/>
          <a:ln/>
        </p:spPr>
        <p:txBody>
          <a:bodyPr wrap="square" rtlCol="0" anchor="ctr"/>
          <a:lstStyle/>
          <a:p>
            <a:pPr marL="0" indent="0">
              <a:buNone/>
            </a:pPr>
            <a:r>
              <a:rPr lang="en-US" sz="1400" b="1">
                <a:solidFill>
                  <a:schemeClr val="accent1">
                    <a:lumMod val="75000"/>
                  </a:schemeClr>
                </a:solidFill>
              </a:rPr>
              <a:t>Link to gender</a:t>
            </a:r>
            <a:endParaRPr lang="en-US" sz="1400">
              <a:solidFill>
                <a:schemeClr val="accent1">
                  <a:lumMod val="75000"/>
                </a:schemeClr>
              </a:solidFill>
            </a:endParaRPr>
          </a:p>
        </p:txBody>
      </p:sp>
      <p:sp>
        <p:nvSpPr>
          <p:cNvPr id="10" name="Text 4">
            <a:extLst>
              <a:ext uri="{FF2B5EF4-FFF2-40B4-BE49-F238E27FC236}">
                <a16:creationId xmlns:a16="http://schemas.microsoft.com/office/drawing/2014/main" id="{4C78150A-2341-8F5B-1414-C0631658502C}"/>
              </a:ext>
            </a:extLst>
          </p:cNvPr>
          <p:cNvSpPr/>
          <p:nvPr/>
        </p:nvSpPr>
        <p:spPr>
          <a:xfrm>
            <a:off x="5783153" y="1301682"/>
            <a:ext cx="2030233" cy="287912"/>
          </a:xfrm>
          <a:prstGeom prst="rect">
            <a:avLst/>
          </a:prstGeom>
          <a:noFill/>
          <a:ln/>
        </p:spPr>
        <p:txBody>
          <a:bodyPr wrap="square" rtlCol="0" anchor="ctr"/>
          <a:lstStyle/>
          <a:p>
            <a:pPr marL="0" indent="0">
              <a:buNone/>
            </a:pPr>
            <a:r>
              <a:rPr lang="en-US" sz="1400" b="1">
                <a:solidFill>
                  <a:schemeClr val="accent1">
                    <a:lumMod val="75000"/>
                  </a:schemeClr>
                </a:solidFill>
              </a:rPr>
              <a:t>Link to approval</a:t>
            </a:r>
            <a:endParaRPr lang="en-US" sz="1400">
              <a:solidFill>
                <a:schemeClr val="accent1">
                  <a:lumMod val="75000"/>
                </a:schemeClr>
              </a:solidFill>
            </a:endParaRPr>
          </a:p>
        </p:txBody>
      </p:sp>
      <p:sp>
        <p:nvSpPr>
          <p:cNvPr id="11" name="Text 5">
            <a:extLst>
              <a:ext uri="{FF2B5EF4-FFF2-40B4-BE49-F238E27FC236}">
                <a16:creationId xmlns:a16="http://schemas.microsoft.com/office/drawing/2014/main" id="{80EFC57F-08F2-5A6D-B1D3-5827518653CB}"/>
              </a:ext>
            </a:extLst>
          </p:cNvPr>
          <p:cNvSpPr/>
          <p:nvPr/>
        </p:nvSpPr>
        <p:spPr>
          <a:xfrm>
            <a:off x="8340153" y="1301682"/>
            <a:ext cx="2126910" cy="287912"/>
          </a:xfrm>
          <a:prstGeom prst="rect">
            <a:avLst/>
          </a:prstGeom>
          <a:noFill/>
          <a:ln/>
        </p:spPr>
        <p:txBody>
          <a:bodyPr wrap="square" rtlCol="0" anchor="ctr"/>
          <a:lstStyle/>
          <a:p>
            <a:pPr marL="0" indent="0">
              <a:buNone/>
            </a:pPr>
            <a:r>
              <a:rPr lang="en-US" sz="1400" b="1">
                <a:solidFill>
                  <a:schemeClr val="accent1">
                    <a:lumMod val="75000"/>
                  </a:schemeClr>
                </a:solidFill>
              </a:rPr>
              <a:t>What we say</a:t>
            </a:r>
            <a:endParaRPr lang="en-US" sz="1400">
              <a:solidFill>
                <a:schemeClr val="accent1">
                  <a:lumMod val="75000"/>
                </a:schemeClr>
              </a:solidFill>
            </a:endParaRPr>
          </a:p>
        </p:txBody>
      </p:sp>
      <p:sp>
        <p:nvSpPr>
          <p:cNvPr id="12" name="Shape 6">
            <a:extLst>
              <a:ext uri="{FF2B5EF4-FFF2-40B4-BE49-F238E27FC236}">
                <a16:creationId xmlns:a16="http://schemas.microsoft.com/office/drawing/2014/main" id="{11AEFB8F-0FD8-61B5-F4B8-6FB09C086377}"/>
              </a:ext>
            </a:extLst>
          </p:cNvPr>
          <p:cNvSpPr/>
          <p:nvPr/>
        </p:nvSpPr>
        <p:spPr>
          <a:xfrm>
            <a:off x="333051" y="1605137"/>
            <a:ext cx="11407974" cy="987756"/>
          </a:xfrm>
          <a:prstGeom prst="roundRect">
            <a:avLst>
              <a:gd name="adj" fmla="val 4762"/>
            </a:avLst>
          </a:prstGeom>
          <a:solidFill>
            <a:schemeClr val="tx2">
              <a:lumMod val="10000"/>
              <a:lumOff val="90000"/>
            </a:schemeClr>
          </a:solidFill>
          <a:ln w="12700">
            <a:solidFill>
              <a:srgbClr val="1E293B"/>
            </a:solidFill>
            <a:prstDash val="solid"/>
          </a:ln>
          <a:effectLst>
            <a:innerShdw blurRad="63500" dist="50800" dir="8100000">
              <a:prstClr val="black">
                <a:alpha val="50000"/>
              </a:prstClr>
            </a:innerShdw>
          </a:effectLst>
        </p:spPr>
        <p:txBody>
          <a:bodyPr/>
          <a:lstStyle/>
          <a:p>
            <a:endParaRPr lang="zh-CN" altLang="en-US"/>
          </a:p>
        </p:txBody>
      </p:sp>
      <p:sp>
        <p:nvSpPr>
          <p:cNvPr id="13" name="Text 7">
            <a:extLst>
              <a:ext uri="{FF2B5EF4-FFF2-40B4-BE49-F238E27FC236}">
                <a16:creationId xmlns:a16="http://schemas.microsoft.com/office/drawing/2014/main" id="{7954F246-BE43-207E-548E-D709DAFFF4E3}"/>
              </a:ext>
            </a:extLst>
          </p:cNvPr>
          <p:cNvSpPr/>
          <p:nvPr/>
        </p:nvSpPr>
        <p:spPr>
          <a:xfrm>
            <a:off x="874552" y="1911448"/>
            <a:ext cx="1160133" cy="279315"/>
          </a:xfrm>
          <a:prstGeom prst="rect">
            <a:avLst/>
          </a:prstGeom>
          <a:noFill/>
          <a:ln/>
        </p:spPr>
        <p:txBody>
          <a:bodyPr wrap="square" rtlCol="0" anchor="ctr"/>
          <a:lstStyle/>
          <a:p>
            <a:pPr marL="0" indent="0">
              <a:buNone/>
            </a:pPr>
            <a:r>
              <a:rPr lang="en-US" sz="1900" b="1"/>
              <a:t>ZIP</a:t>
            </a:r>
            <a:endParaRPr lang="en-US" sz="1900"/>
          </a:p>
        </p:txBody>
      </p:sp>
      <p:sp>
        <p:nvSpPr>
          <p:cNvPr id="14" name="Text 8">
            <a:extLst>
              <a:ext uri="{FF2B5EF4-FFF2-40B4-BE49-F238E27FC236}">
                <a16:creationId xmlns:a16="http://schemas.microsoft.com/office/drawing/2014/main" id="{08103820-6DAF-54D4-6C69-CF2399B25006}"/>
              </a:ext>
            </a:extLst>
          </p:cNvPr>
          <p:cNvSpPr/>
          <p:nvPr/>
        </p:nvSpPr>
        <p:spPr>
          <a:xfrm>
            <a:off x="2604503" y="1791818"/>
            <a:ext cx="2706977" cy="690991"/>
          </a:xfrm>
          <a:prstGeom prst="rect">
            <a:avLst/>
          </a:prstGeom>
          <a:noFill/>
          <a:ln/>
        </p:spPr>
        <p:txBody>
          <a:bodyPr wrap="square" rtlCol="0" anchor="ctr"/>
          <a:lstStyle/>
          <a:p>
            <a:pPr marL="0" indent="0">
              <a:buNone/>
            </a:pPr>
            <a:r>
              <a:rPr lang="en-US" sz="1400"/>
              <a:t>Looks related, but </a:t>
            </a:r>
            <a:r>
              <a:rPr lang="en-US" sz="1400" err="1"/>
              <a:t>ZIP×gender</a:t>
            </a:r>
            <a:r>
              <a:rPr lang="en-US" sz="1400"/>
              <a:t> is extremely sparse</a:t>
            </a:r>
          </a:p>
          <a:p>
            <a:pPr marL="0" indent="0">
              <a:buNone/>
            </a:pPr>
            <a:r>
              <a:rPr lang="en-US" sz="1400"/>
              <a:t>(</a:t>
            </a:r>
            <a:r>
              <a:rPr lang="en-US" sz="1400" b="1">
                <a:solidFill>
                  <a:schemeClr val="tx2">
                    <a:lumMod val="75000"/>
                    <a:lumOff val="25000"/>
                  </a:schemeClr>
                </a:solidFill>
              </a:rPr>
              <a:t>p=0.00856</a:t>
            </a:r>
            <a:r>
              <a:rPr lang="en-US" sz="1400"/>
              <a:t>, V=0.148)</a:t>
            </a:r>
          </a:p>
        </p:txBody>
      </p:sp>
      <p:sp>
        <p:nvSpPr>
          <p:cNvPr id="16" name="Text 9">
            <a:extLst>
              <a:ext uri="{FF2B5EF4-FFF2-40B4-BE49-F238E27FC236}">
                <a16:creationId xmlns:a16="http://schemas.microsoft.com/office/drawing/2014/main" id="{207C20A9-562D-9491-5563-150AB3C501F7}"/>
              </a:ext>
            </a:extLst>
          </p:cNvPr>
          <p:cNvSpPr/>
          <p:nvPr/>
        </p:nvSpPr>
        <p:spPr>
          <a:xfrm>
            <a:off x="5636965" y="1791818"/>
            <a:ext cx="2271928" cy="690991"/>
          </a:xfrm>
          <a:prstGeom prst="rect">
            <a:avLst/>
          </a:prstGeom>
          <a:noFill/>
          <a:ln/>
        </p:spPr>
        <p:txBody>
          <a:bodyPr wrap="square" rtlCol="0" anchor="ctr"/>
          <a:lstStyle/>
          <a:p>
            <a:pPr marL="0" indent="0">
              <a:buNone/>
            </a:pPr>
            <a:r>
              <a:rPr lang="en-US" sz="1400"/>
              <a:t>Grouped test not significant</a:t>
            </a:r>
          </a:p>
          <a:p>
            <a:pPr marL="0" indent="0">
              <a:buNone/>
            </a:pPr>
            <a:r>
              <a:rPr lang="en-US" sz="1400"/>
              <a:t>(p = 0.166, V = 0.228)</a:t>
            </a:r>
          </a:p>
        </p:txBody>
      </p:sp>
      <p:sp>
        <p:nvSpPr>
          <p:cNvPr id="17" name="Text 10">
            <a:extLst>
              <a:ext uri="{FF2B5EF4-FFF2-40B4-BE49-F238E27FC236}">
                <a16:creationId xmlns:a16="http://schemas.microsoft.com/office/drawing/2014/main" id="{EABFA479-4A5F-4FDB-A0DF-A49AC2589200}"/>
              </a:ext>
            </a:extLst>
          </p:cNvPr>
          <p:cNvSpPr/>
          <p:nvPr/>
        </p:nvSpPr>
        <p:spPr>
          <a:xfrm>
            <a:off x="8169061" y="1791818"/>
            <a:ext cx="3093687" cy="690991"/>
          </a:xfrm>
          <a:prstGeom prst="rect">
            <a:avLst/>
          </a:prstGeom>
          <a:noFill/>
          <a:ln/>
        </p:spPr>
        <p:txBody>
          <a:bodyPr wrap="square" rtlCol="0" anchor="ctr"/>
          <a:lstStyle/>
          <a:p>
            <a:pPr marL="0" indent="0">
              <a:buNone/>
            </a:pPr>
            <a:r>
              <a:rPr lang="en-US" sz="1400"/>
              <a:t>Keep as a </a:t>
            </a:r>
            <a:r>
              <a:rPr lang="en-US" sz="1400" b="1"/>
              <a:t>watchlist feature</a:t>
            </a:r>
            <a:r>
              <a:rPr lang="en-US" sz="1400"/>
              <a:t>; proxy path not confirmed</a:t>
            </a:r>
          </a:p>
        </p:txBody>
      </p:sp>
      <p:sp>
        <p:nvSpPr>
          <p:cNvPr id="18" name="Shape 11">
            <a:extLst>
              <a:ext uri="{FF2B5EF4-FFF2-40B4-BE49-F238E27FC236}">
                <a16:creationId xmlns:a16="http://schemas.microsoft.com/office/drawing/2014/main" id="{C21D374B-ED51-8B58-6B0F-B9E84616CE1D}"/>
              </a:ext>
            </a:extLst>
          </p:cNvPr>
          <p:cNvSpPr/>
          <p:nvPr/>
        </p:nvSpPr>
        <p:spPr>
          <a:xfrm>
            <a:off x="339691" y="2675110"/>
            <a:ext cx="11407974" cy="987757"/>
          </a:xfrm>
          <a:prstGeom prst="roundRect">
            <a:avLst>
              <a:gd name="adj" fmla="val 4762"/>
            </a:avLst>
          </a:prstGeom>
          <a:solidFill>
            <a:schemeClr val="tx2">
              <a:lumMod val="10000"/>
              <a:lumOff val="90000"/>
            </a:schemeClr>
          </a:solidFill>
          <a:ln w="12700">
            <a:solidFill>
              <a:srgbClr val="1E293B"/>
            </a:solidFill>
            <a:prstDash val="solid"/>
          </a:ln>
          <a:effectLst>
            <a:innerShdw blurRad="63500" dist="50800" dir="8100000">
              <a:prstClr val="black">
                <a:alpha val="50000"/>
              </a:prstClr>
            </a:innerShdw>
          </a:effectLst>
        </p:spPr>
        <p:txBody>
          <a:bodyPr/>
          <a:lstStyle/>
          <a:p>
            <a:endParaRPr lang="zh-CN" altLang="en-US"/>
          </a:p>
        </p:txBody>
      </p:sp>
      <p:sp>
        <p:nvSpPr>
          <p:cNvPr id="19" name="Text 12">
            <a:extLst>
              <a:ext uri="{FF2B5EF4-FFF2-40B4-BE49-F238E27FC236}">
                <a16:creationId xmlns:a16="http://schemas.microsoft.com/office/drawing/2014/main" id="{C7BFCC90-A191-1154-9ED6-94B5CFB4B505}"/>
              </a:ext>
            </a:extLst>
          </p:cNvPr>
          <p:cNvSpPr/>
          <p:nvPr/>
        </p:nvSpPr>
        <p:spPr>
          <a:xfrm>
            <a:off x="874552" y="2962481"/>
            <a:ext cx="1160133" cy="287912"/>
          </a:xfrm>
          <a:prstGeom prst="rect">
            <a:avLst/>
          </a:prstGeom>
          <a:noFill/>
          <a:ln/>
        </p:spPr>
        <p:txBody>
          <a:bodyPr wrap="square" rtlCol="0" anchor="ctr"/>
          <a:lstStyle/>
          <a:p>
            <a:pPr marL="0" indent="0">
              <a:buNone/>
            </a:pPr>
            <a:r>
              <a:rPr lang="en-US" sz="1900" b="1"/>
              <a:t>Income</a:t>
            </a:r>
            <a:endParaRPr lang="en-US" sz="1900"/>
          </a:p>
        </p:txBody>
      </p:sp>
      <p:sp>
        <p:nvSpPr>
          <p:cNvPr id="20" name="Text 13">
            <a:extLst>
              <a:ext uri="{FF2B5EF4-FFF2-40B4-BE49-F238E27FC236}">
                <a16:creationId xmlns:a16="http://schemas.microsoft.com/office/drawing/2014/main" id="{CFBF5681-A33C-DAAB-8102-1596E2F0163F}"/>
              </a:ext>
            </a:extLst>
          </p:cNvPr>
          <p:cNvSpPr/>
          <p:nvPr/>
        </p:nvSpPr>
        <p:spPr>
          <a:xfrm>
            <a:off x="2604503" y="2824554"/>
            <a:ext cx="2706977" cy="622894"/>
          </a:xfrm>
          <a:prstGeom prst="rect">
            <a:avLst/>
          </a:prstGeom>
          <a:noFill/>
          <a:ln/>
        </p:spPr>
        <p:txBody>
          <a:bodyPr wrap="square" rtlCol="0" anchor="ctr"/>
          <a:lstStyle/>
          <a:p>
            <a:pPr marL="0" indent="0">
              <a:buNone/>
            </a:pPr>
            <a:r>
              <a:rPr lang="en-US" sz="1400" b="1">
                <a:solidFill>
                  <a:schemeClr val="tx2">
                    <a:lumMod val="75000"/>
                    <a:lumOff val="25000"/>
                  </a:schemeClr>
                </a:solidFill>
              </a:rPr>
              <a:t>Small</a:t>
            </a:r>
            <a:r>
              <a:rPr lang="en-US" sz="1400"/>
              <a:t> gender gap</a:t>
            </a:r>
          </a:p>
          <a:p>
            <a:pPr marL="0" indent="0">
              <a:buNone/>
            </a:pPr>
            <a:r>
              <a:rPr lang="en-US" sz="1400"/>
              <a:t>(SMD = 0.103)</a:t>
            </a:r>
          </a:p>
        </p:txBody>
      </p:sp>
      <p:sp>
        <p:nvSpPr>
          <p:cNvPr id="21" name="Text 14">
            <a:extLst>
              <a:ext uri="{FF2B5EF4-FFF2-40B4-BE49-F238E27FC236}">
                <a16:creationId xmlns:a16="http://schemas.microsoft.com/office/drawing/2014/main" id="{E50AC756-3426-5ADA-7719-230603D42DA8}"/>
              </a:ext>
            </a:extLst>
          </p:cNvPr>
          <p:cNvSpPr/>
          <p:nvPr/>
        </p:nvSpPr>
        <p:spPr>
          <a:xfrm>
            <a:off x="5636965" y="2824554"/>
            <a:ext cx="2271928" cy="622894"/>
          </a:xfrm>
          <a:prstGeom prst="rect">
            <a:avLst/>
          </a:prstGeom>
          <a:noFill/>
          <a:ln/>
        </p:spPr>
        <p:txBody>
          <a:bodyPr wrap="square" rtlCol="0" anchor="ctr"/>
          <a:lstStyle/>
          <a:p>
            <a:pPr marL="0" indent="0">
              <a:buNone/>
            </a:pPr>
            <a:r>
              <a:rPr lang="en-US" sz="1400"/>
              <a:t>Clear outcome link</a:t>
            </a:r>
          </a:p>
          <a:p>
            <a:pPr marL="0" indent="0">
              <a:buNone/>
            </a:pPr>
            <a:r>
              <a:rPr lang="en-US" sz="1400" b="1">
                <a:solidFill>
                  <a:schemeClr val="tx2">
                    <a:lumMod val="75000"/>
                    <a:lumOff val="25000"/>
                  </a:schemeClr>
                </a:solidFill>
              </a:rPr>
              <a:t>(</a:t>
            </a:r>
            <a:r>
              <a:rPr lang="en-US" sz="1400" b="1" err="1">
                <a:solidFill>
                  <a:schemeClr val="tx2">
                    <a:lumMod val="75000"/>
                    <a:lumOff val="25000"/>
                  </a:schemeClr>
                </a:solidFill>
              </a:rPr>
              <a:t>corr</a:t>
            </a:r>
            <a:r>
              <a:rPr lang="en-US" sz="1400" b="1">
                <a:solidFill>
                  <a:schemeClr val="tx2">
                    <a:lumMod val="75000"/>
                    <a:lumOff val="25000"/>
                  </a:schemeClr>
                </a:solidFill>
              </a:rPr>
              <a:t> = 0.178)</a:t>
            </a:r>
          </a:p>
        </p:txBody>
      </p:sp>
      <p:sp>
        <p:nvSpPr>
          <p:cNvPr id="22" name="Text 15">
            <a:extLst>
              <a:ext uri="{FF2B5EF4-FFF2-40B4-BE49-F238E27FC236}">
                <a16:creationId xmlns:a16="http://schemas.microsoft.com/office/drawing/2014/main" id="{F5AB9BDC-F84B-722F-987F-B6A16852986F}"/>
              </a:ext>
            </a:extLst>
          </p:cNvPr>
          <p:cNvSpPr/>
          <p:nvPr/>
        </p:nvSpPr>
        <p:spPr>
          <a:xfrm>
            <a:off x="8169061" y="2824554"/>
            <a:ext cx="3093687" cy="622894"/>
          </a:xfrm>
          <a:prstGeom prst="rect">
            <a:avLst/>
          </a:prstGeom>
          <a:noFill/>
          <a:ln/>
        </p:spPr>
        <p:txBody>
          <a:bodyPr wrap="square" rtlCol="0" anchor="ctr"/>
          <a:lstStyle/>
          <a:p>
            <a:pPr marL="0" indent="0">
              <a:buNone/>
            </a:pPr>
            <a:r>
              <a:rPr lang="en-US" sz="1400" b="1"/>
              <a:t>More like a risk-related driver </a:t>
            </a:r>
            <a:r>
              <a:rPr lang="en-US" sz="1400"/>
              <a:t>than a gender proxy</a:t>
            </a:r>
          </a:p>
        </p:txBody>
      </p:sp>
      <p:sp>
        <p:nvSpPr>
          <p:cNvPr id="23" name="Shape 16">
            <a:extLst>
              <a:ext uri="{FF2B5EF4-FFF2-40B4-BE49-F238E27FC236}">
                <a16:creationId xmlns:a16="http://schemas.microsoft.com/office/drawing/2014/main" id="{1C88250F-3C65-DD98-96E4-6FF52B280825}"/>
              </a:ext>
            </a:extLst>
          </p:cNvPr>
          <p:cNvSpPr/>
          <p:nvPr/>
        </p:nvSpPr>
        <p:spPr>
          <a:xfrm>
            <a:off x="332943" y="3744578"/>
            <a:ext cx="11407974" cy="987235"/>
          </a:xfrm>
          <a:prstGeom prst="roundRect">
            <a:avLst>
              <a:gd name="adj" fmla="val 4762"/>
            </a:avLst>
          </a:prstGeom>
          <a:solidFill>
            <a:schemeClr val="tx2">
              <a:lumMod val="10000"/>
              <a:lumOff val="90000"/>
            </a:schemeClr>
          </a:solidFill>
          <a:ln w="12700">
            <a:solidFill>
              <a:srgbClr val="1E293B"/>
            </a:solidFill>
            <a:prstDash val="solid"/>
          </a:ln>
          <a:effectLst>
            <a:innerShdw blurRad="63500" dist="50800" dir="8100000">
              <a:prstClr val="black">
                <a:alpha val="50000"/>
              </a:prstClr>
            </a:innerShdw>
          </a:effectLst>
        </p:spPr>
        <p:txBody>
          <a:bodyPr/>
          <a:lstStyle/>
          <a:p>
            <a:endParaRPr lang="zh-CN" altLang="en-US"/>
          </a:p>
        </p:txBody>
      </p:sp>
      <p:sp>
        <p:nvSpPr>
          <p:cNvPr id="24" name="Text 17">
            <a:extLst>
              <a:ext uri="{FF2B5EF4-FFF2-40B4-BE49-F238E27FC236}">
                <a16:creationId xmlns:a16="http://schemas.microsoft.com/office/drawing/2014/main" id="{2738F7B6-60BB-18E5-8A9A-F3819135A28B}"/>
              </a:ext>
            </a:extLst>
          </p:cNvPr>
          <p:cNvSpPr/>
          <p:nvPr/>
        </p:nvSpPr>
        <p:spPr>
          <a:xfrm>
            <a:off x="874552" y="4035557"/>
            <a:ext cx="1160133" cy="287912"/>
          </a:xfrm>
          <a:prstGeom prst="rect">
            <a:avLst/>
          </a:prstGeom>
          <a:noFill/>
          <a:ln/>
        </p:spPr>
        <p:txBody>
          <a:bodyPr wrap="square" rtlCol="0" anchor="ctr"/>
          <a:lstStyle/>
          <a:p>
            <a:pPr marL="0" indent="0">
              <a:buNone/>
            </a:pPr>
            <a:r>
              <a:rPr lang="en-US" sz="1900" b="1"/>
              <a:t>DTI</a:t>
            </a:r>
            <a:endParaRPr lang="en-US" sz="1900"/>
          </a:p>
        </p:txBody>
      </p:sp>
      <p:sp>
        <p:nvSpPr>
          <p:cNvPr id="25" name="Text 18">
            <a:extLst>
              <a:ext uri="{FF2B5EF4-FFF2-40B4-BE49-F238E27FC236}">
                <a16:creationId xmlns:a16="http://schemas.microsoft.com/office/drawing/2014/main" id="{E8955CE2-18F3-F887-DA19-9DFD3E957316}"/>
              </a:ext>
            </a:extLst>
          </p:cNvPr>
          <p:cNvSpPr/>
          <p:nvPr/>
        </p:nvSpPr>
        <p:spPr>
          <a:xfrm>
            <a:off x="2604503" y="3924523"/>
            <a:ext cx="2706977" cy="690991"/>
          </a:xfrm>
          <a:prstGeom prst="rect">
            <a:avLst/>
          </a:prstGeom>
          <a:noFill/>
          <a:ln/>
        </p:spPr>
        <p:txBody>
          <a:bodyPr wrap="square" rtlCol="0" anchor="ctr"/>
          <a:lstStyle/>
          <a:p>
            <a:pPr marL="0" indent="0">
              <a:buNone/>
            </a:pPr>
            <a:r>
              <a:rPr lang="en-US" sz="1400"/>
              <a:t>Negligible gender gap</a:t>
            </a:r>
          </a:p>
          <a:p>
            <a:pPr marL="0" indent="0">
              <a:buNone/>
            </a:pPr>
            <a:r>
              <a:rPr lang="en-US" sz="1400"/>
              <a:t>(SMD = -0.037)</a:t>
            </a:r>
          </a:p>
        </p:txBody>
      </p:sp>
      <p:sp>
        <p:nvSpPr>
          <p:cNvPr id="26" name="Text 19">
            <a:extLst>
              <a:ext uri="{FF2B5EF4-FFF2-40B4-BE49-F238E27FC236}">
                <a16:creationId xmlns:a16="http://schemas.microsoft.com/office/drawing/2014/main" id="{734B1308-4215-9B0C-9A21-FD04AE765766}"/>
              </a:ext>
            </a:extLst>
          </p:cNvPr>
          <p:cNvSpPr/>
          <p:nvPr/>
        </p:nvSpPr>
        <p:spPr>
          <a:xfrm>
            <a:off x="5636965" y="3924523"/>
            <a:ext cx="2271928" cy="690991"/>
          </a:xfrm>
          <a:prstGeom prst="rect">
            <a:avLst/>
          </a:prstGeom>
          <a:noFill/>
          <a:ln/>
        </p:spPr>
        <p:txBody>
          <a:bodyPr wrap="square" rtlCol="0" anchor="ctr"/>
          <a:lstStyle/>
          <a:p>
            <a:pPr marL="0" indent="0">
              <a:buNone/>
            </a:pPr>
            <a:r>
              <a:rPr lang="en-US" sz="1400"/>
              <a:t>Near-zero outcome link</a:t>
            </a:r>
          </a:p>
          <a:p>
            <a:pPr marL="0" indent="0">
              <a:buNone/>
            </a:pPr>
            <a:r>
              <a:rPr lang="en-US" sz="1400"/>
              <a:t>(</a:t>
            </a:r>
            <a:r>
              <a:rPr lang="en-US" sz="1400" err="1"/>
              <a:t>corr</a:t>
            </a:r>
            <a:r>
              <a:rPr lang="en-US" sz="1400"/>
              <a:t> = 0.007)</a:t>
            </a:r>
          </a:p>
        </p:txBody>
      </p:sp>
      <p:sp>
        <p:nvSpPr>
          <p:cNvPr id="27" name="Text 20">
            <a:extLst>
              <a:ext uri="{FF2B5EF4-FFF2-40B4-BE49-F238E27FC236}">
                <a16:creationId xmlns:a16="http://schemas.microsoft.com/office/drawing/2014/main" id="{EEB74332-02AD-4D5B-F753-2FA5A283ECB2}"/>
              </a:ext>
            </a:extLst>
          </p:cNvPr>
          <p:cNvSpPr/>
          <p:nvPr/>
        </p:nvSpPr>
        <p:spPr>
          <a:xfrm>
            <a:off x="8169061" y="3924523"/>
            <a:ext cx="3093687" cy="690991"/>
          </a:xfrm>
          <a:prstGeom prst="rect">
            <a:avLst/>
          </a:prstGeom>
          <a:noFill/>
          <a:ln/>
        </p:spPr>
        <p:txBody>
          <a:bodyPr wrap="square" rtlCol="0" anchor="ctr"/>
          <a:lstStyle/>
          <a:p>
            <a:pPr marL="0" indent="0">
              <a:buNone/>
            </a:pPr>
            <a:r>
              <a:rPr lang="en-US" sz="1400" b="1">
                <a:solidFill>
                  <a:schemeClr val="tx2">
                    <a:lumMod val="75000"/>
                    <a:lumOff val="25000"/>
                  </a:schemeClr>
                </a:solidFill>
              </a:rPr>
              <a:t>Weak on both links</a:t>
            </a:r>
          </a:p>
        </p:txBody>
      </p:sp>
      <p:sp>
        <p:nvSpPr>
          <p:cNvPr id="28" name="Shape 21">
            <a:extLst>
              <a:ext uri="{FF2B5EF4-FFF2-40B4-BE49-F238E27FC236}">
                <a16:creationId xmlns:a16="http://schemas.microsoft.com/office/drawing/2014/main" id="{52AE22C2-4352-4B8C-B8CE-61FBA3C94A0E}"/>
              </a:ext>
            </a:extLst>
          </p:cNvPr>
          <p:cNvSpPr/>
          <p:nvPr/>
        </p:nvSpPr>
        <p:spPr>
          <a:xfrm>
            <a:off x="339691" y="4813525"/>
            <a:ext cx="11407974" cy="981670"/>
          </a:xfrm>
          <a:prstGeom prst="roundRect">
            <a:avLst>
              <a:gd name="adj" fmla="val 5556"/>
            </a:avLst>
          </a:prstGeom>
          <a:solidFill>
            <a:schemeClr val="tx2">
              <a:lumMod val="10000"/>
              <a:lumOff val="90000"/>
            </a:schemeClr>
          </a:solidFill>
          <a:ln w="12700">
            <a:solidFill>
              <a:srgbClr val="1E293B"/>
            </a:solidFill>
            <a:prstDash val="solid"/>
          </a:ln>
          <a:effectLst>
            <a:innerShdw blurRad="63500" dist="50800" dir="8100000">
              <a:prstClr val="black">
                <a:alpha val="50000"/>
              </a:prstClr>
            </a:innerShdw>
          </a:effectLst>
        </p:spPr>
        <p:txBody>
          <a:bodyPr/>
          <a:lstStyle/>
          <a:p>
            <a:endParaRPr lang="zh-CN" altLang="en-US"/>
          </a:p>
        </p:txBody>
      </p:sp>
      <p:sp>
        <p:nvSpPr>
          <p:cNvPr id="29" name="Text 22">
            <a:extLst>
              <a:ext uri="{FF2B5EF4-FFF2-40B4-BE49-F238E27FC236}">
                <a16:creationId xmlns:a16="http://schemas.microsoft.com/office/drawing/2014/main" id="{8A2407FD-8B73-2DD2-BAA5-6D5012E20E30}"/>
              </a:ext>
            </a:extLst>
          </p:cNvPr>
          <p:cNvSpPr/>
          <p:nvPr/>
        </p:nvSpPr>
        <p:spPr>
          <a:xfrm>
            <a:off x="729534" y="5171188"/>
            <a:ext cx="1450167" cy="230330"/>
          </a:xfrm>
          <a:prstGeom prst="rect">
            <a:avLst/>
          </a:prstGeom>
          <a:noFill/>
          <a:ln/>
        </p:spPr>
        <p:txBody>
          <a:bodyPr wrap="square" rtlCol="0" anchor="ctr"/>
          <a:lstStyle/>
          <a:p>
            <a:pPr marL="0" indent="0">
              <a:buNone/>
            </a:pPr>
            <a:r>
              <a:rPr lang="en-US" sz="1600" b="1"/>
              <a:t>Bottom line:</a:t>
            </a:r>
            <a:endParaRPr lang="en-US" sz="1600"/>
          </a:p>
        </p:txBody>
      </p:sp>
      <p:sp>
        <p:nvSpPr>
          <p:cNvPr id="30" name="Text 23">
            <a:extLst>
              <a:ext uri="{FF2B5EF4-FFF2-40B4-BE49-F238E27FC236}">
                <a16:creationId xmlns:a16="http://schemas.microsoft.com/office/drawing/2014/main" id="{5293A061-9211-491A-2D83-1F4E25F2951D}"/>
              </a:ext>
            </a:extLst>
          </p:cNvPr>
          <p:cNvSpPr/>
          <p:nvPr/>
        </p:nvSpPr>
        <p:spPr>
          <a:xfrm>
            <a:off x="2395332" y="5113605"/>
            <a:ext cx="9667775" cy="345496"/>
          </a:xfrm>
          <a:prstGeom prst="rect">
            <a:avLst/>
          </a:prstGeom>
          <a:noFill/>
          <a:ln/>
        </p:spPr>
        <p:txBody>
          <a:bodyPr wrap="square" rtlCol="0" anchor="ctr"/>
          <a:lstStyle/>
          <a:p>
            <a:pPr marL="0" indent="0">
              <a:buNone/>
            </a:pPr>
            <a:r>
              <a:rPr lang="en-US" sz="1400"/>
              <a:t>Income is the clearest outcome-relevant feature. ZIP may encode demographics, but the proxy-to-outcome path is not confirmed under the current tests.</a:t>
            </a:r>
          </a:p>
        </p:txBody>
      </p:sp>
      <p:sp>
        <p:nvSpPr>
          <p:cNvPr id="31" name="Slide Number Placeholder 0">
            <a:extLst>
              <a:ext uri="{FF2B5EF4-FFF2-40B4-BE49-F238E27FC236}">
                <a16:creationId xmlns:a16="http://schemas.microsoft.com/office/drawing/2014/main" id="{52370040-9B70-5BF6-C5C8-EA449DFC23DD}"/>
              </a:ext>
            </a:extLst>
          </p:cNvPr>
          <p:cNvSpPr txBox="1">
            <a:spLocks/>
          </p:cNvSpPr>
          <p:nvPr/>
        </p:nvSpPr>
        <p:spPr>
          <a:xfrm>
            <a:off x="11750040" y="6455664"/>
            <a:ext cx="800000" cy="300000"/>
          </a:xfrm>
          <a:prstGeom prst="rect">
            <a:avLst/>
          </a:prstGeom>
          <a:extLst>
            <a:ext uri="{C572A759-6A51-4108-AA02-DFA0A04FC94B}">
              <ma14:wrappingTextBoxFlag xmlns="" xmlns:ma14="http://schemas.microsoft.com/office/mac/drawingml/2011/main" val="0"/>
            </a:ext>
          </a:extLst>
        </p:spPr>
        <p:txBody>
          <a:bodyPr vert="horz" lIns="91440" tIns="45720" rIns="91440" bIns="45720" rtlCol="0" anchor="ctr"/>
          <a:lstStyle>
            <a:defPPr>
              <a:defRPr lang="en-PT"/>
            </a:defPPr>
            <a:lvl1pPr marL="0" algn="r" defTabSz="914400" rtl="0" eaLnBrk="1" latinLnBrk="0" hangingPunct="1">
              <a:defRPr sz="1000" kern="1200">
                <a:solidFill>
                  <a:srgbClr val="64748B"/>
                </a:solidFill>
                <a:latin typeface="Aptos"/>
                <a:ea typeface="Aptos"/>
                <a:cs typeface="Apto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solidFill>
                  <a:schemeClr val="tx1"/>
                </a:solidFill>
              </a:rPr>
              <a:pPr algn="l"/>
              <a:t>9</a:t>
            </a:fld>
            <a:endParaRPr lang="en-US">
              <a:solidFill>
                <a:schemeClr val="tx1"/>
              </a:solidFill>
            </a:endParaRPr>
          </a:p>
        </p:txBody>
      </p:sp>
      <p:sp>
        <p:nvSpPr>
          <p:cNvPr id="5" name="矩形 4">
            <a:extLst>
              <a:ext uri="{FF2B5EF4-FFF2-40B4-BE49-F238E27FC236}">
                <a16:creationId xmlns:a16="http://schemas.microsoft.com/office/drawing/2014/main" id="{0486A030-AC2A-2574-E9D0-E925FDA1F959}"/>
              </a:ext>
            </a:extLst>
          </p:cNvPr>
          <p:cNvSpPr/>
          <p:nvPr/>
        </p:nvSpPr>
        <p:spPr>
          <a:xfrm>
            <a:off x="299350" y="1535820"/>
            <a:ext cx="11441567" cy="1139289"/>
          </a:xfrm>
          <a:prstGeom prst="rect">
            <a:avLst/>
          </a:prstGeom>
          <a:noFill/>
          <a:ln w="38100">
            <a:solidFill>
              <a:srgbClr val="C0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2775158248"/>
      </p:ext>
    </p:extLst>
  </p:cSld>
  <p:clrMapOvr>
    <a:masterClrMapping/>
  </p:clrMapOvr>
  <p:transition spd="med" advTm="35367"/>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22E43-D991-6129-4FA3-CFAAE87FAEB2}"/>
            </a:ext>
          </a:extLst>
        </p:cNvPr>
        <p:cNvGrpSpPr/>
        <p:nvPr/>
      </p:nvGrpSpPr>
      <p:grpSpPr>
        <a:xfrm>
          <a:off x="0" y="0"/>
          <a:ext cx="0" cy="0"/>
          <a:chOff x="0" y="0"/>
          <a:chExt cx="0" cy="0"/>
        </a:xfrm>
      </p:grpSpPr>
      <p:graphicFrame>
        <p:nvGraphicFramePr>
          <p:cNvPr id="15" name="think-cell data - do not delete" hidden="1">
            <a:extLst>
              <a:ext uri="{FF2B5EF4-FFF2-40B4-BE49-F238E27FC236}">
                <a16:creationId xmlns:a16="http://schemas.microsoft.com/office/drawing/2014/main" id="{4F5AA157-FEBE-2024-A9D5-67ABB694FEB8}"/>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Folie" r:id="rId4" imgW="7772400" imgH="10058400" progId="TCLayout.ActiveDocument.1">
                  <p:embed/>
                </p:oleObj>
              </mc:Choice>
              <mc:Fallback>
                <p:oleObj name="think-cell Folie" r:id="rId4" imgW="7772400" imgH="10058400" progId="TCLayout.ActiveDocument.1">
                  <p:embed/>
                  <p:pic>
                    <p:nvPicPr>
                      <p:cNvPr id="15" name="think-cell data - do not delete" hidden="1">
                        <a:extLst>
                          <a:ext uri="{FF2B5EF4-FFF2-40B4-BE49-F238E27FC236}">
                            <a16:creationId xmlns:a16="http://schemas.microsoft.com/office/drawing/2014/main" id="{4F5AA157-FEBE-2024-A9D5-67ABB694FEB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Foliennummernplatzhalter 4">
            <a:extLst>
              <a:ext uri="{FF2B5EF4-FFF2-40B4-BE49-F238E27FC236}">
                <a16:creationId xmlns:a16="http://schemas.microsoft.com/office/drawing/2014/main" id="{08927715-FB06-483F-6768-C848B6F95308}"/>
              </a:ext>
            </a:extLst>
          </p:cNvPr>
          <p:cNvSpPr>
            <a:spLocks noGrp="1"/>
          </p:cNvSpPr>
          <p:nvPr>
            <p:ph type="sldNum" sz="quarter" idx="21"/>
          </p:nvPr>
        </p:nvSpPr>
        <p:spPr/>
        <p:txBody>
          <a:bodyPr/>
          <a:lstStyle/>
          <a:p>
            <a:fld id="{96D0270E-ECD2-CA4B-BE22-56AEC998461C}" type="slidenum">
              <a:rPr lang="de-DE" smtClean="0"/>
              <a:t>10</a:t>
            </a:fld>
            <a:endParaRPr lang="de-DE"/>
          </a:p>
        </p:txBody>
      </p:sp>
      <p:sp>
        <p:nvSpPr>
          <p:cNvPr id="9" name="Textplatzhalter 2">
            <a:extLst>
              <a:ext uri="{FF2B5EF4-FFF2-40B4-BE49-F238E27FC236}">
                <a16:creationId xmlns:a16="http://schemas.microsoft.com/office/drawing/2014/main" id="{A4FC8FEC-FAC5-E49B-2558-89EF972B192C}"/>
              </a:ext>
            </a:extLst>
          </p:cNvPr>
          <p:cNvSpPr txBox="1">
            <a:spLocks/>
          </p:cNvSpPr>
          <p:nvPr/>
        </p:nvSpPr>
        <p:spPr>
          <a:xfrm>
            <a:off x="332604" y="829450"/>
            <a:ext cx="11016146" cy="540306"/>
          </a:xfrm>
          <a:prstGeom prst="rect">
            <a:avLst/>
          </a:prstGeom>
        </p:spPr>
        <p:txBody>
          <a:bodyPr vert="horz" lIns="0" tIns="45720" rIns="91440" bIns="45720" rtlCol="0" anchor="t">
            <a:noAutofit/>
          </a:bodyPr>
          <a:lstStyle>
            <a:lvl1pPr marL="0" marR="0" indent="0" algn="l" defTabSz="412750" rtl="0" eaLnBrk="1" fontAlgn="auto" latinLnBrk="0" hangingPunct="0">
              <a:lnSpc>
                <a:spcPct val="80000"/>
              </a:lnSpc>
              <a:spcBef>
                <a:spcPts val="0"/>
              </a:spcBef>
              <a:spcAft>
                <a:spcPts val="0"/>
              </a:spcAft>
              <a:buClrTx/>
              <a:buSzTx/>
              <a:buFontTx/>
              <a:buNone/>
              <a:tabLst/>
              <a:defRPr kumimoji="0" lang="en-US" sz="4550" b="0" i="0" u="none" strike="noStrike" kern="1200" cap="none" spc="0" normalizeH="0" baseline="0" dirty="0" smtClean="0">
                <a:ln>
                  <a:noFill/>
                </a:ln>
                <a:solidFill>
                  <a:srgbClr val="000000"/>
                </a:solidFill>
                <a:effectLst/>
                <a:uFillTx/>
                <a:latin typeface="Playfair Display"/>
                <a:ea typeface="Playfair Display"/>
                <a:cs typeface="Playfair Display"/>
                <a:sym typeface="Helvetica Neue"/>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800" b="1">
                <a:solidFill>
                  <a:schemeClr val="tx2">
                    <a:lumMod val="90000"/>
                    <a:lumOff val="10000"/>
                  </a:schemeClr>
                </a:solidFill>
              </a:rPr>
              <a:t>Privacy</a:t>
            </a:r>
            <a:r>
              <a:rPr lang="en-AU" sz="2800"/>
              <a:t> &amp; </a:t>
            </a:r>
            <a:r>
              <a:rPr lang="en-AU" sz="2800" b="1">
                <a:solidFill>
                  <a:schemeClr val="tx2">
                    <a:lumMod val="90000"/>
                    <a:lumOff val="10000"/>
                  </a:schemeClr>
                </a:solidFill>
              </a:rPr>
              <a:t>Governance</a:t>
            </a:r>
            <a:r>
              <a:rPr lang="en-AU" sz="2800"/>
              <a:t> </a:t>
            </a:r>
            <a:r>
              <a:rPr lang="en-AU" sz="2800" b="1">
                <a:solidFill>
                  <a:schemeClr val="tx2">
                    <a:lumMod val="90000"/>
                    <a:lumOff val="10000"/>
                  </a:schemeClr>
                </a:solidFill>
              </a:rPr>
              <a:t>Risks</a:t>
            </a:r>
          </a:p>
        </p:txBody>
      </p:sp>
      <p:sp>
        <p:nvSpPr>
          <p:cNvPr id="6" name="Textplatzhalter 1">
            <a:extLst>
              <a:ext uri="{FF2B5EF4-FFF2-40B4-BE49-F238E27FC236}">
                <a16:creationId xmlns:a16="http://schemas.microsoft.com/office/drawing/2014/main" id="{52C28DFB-5C70-D47A-A76E-43E2EDF0085E}"/>
              </a:ext>
            </a:extLst>
          </p:cNvPr>
          <p:cNvSpPr>
            <a:spLocks noGrp="1"/>
          </p:cNvSpPr>
          <p:nvPr>
            <p:ph type="body" sz="quarter" idx="13"/>
          </p:nvPr>
        </p:nvSpPr>
        <p:spPr>
          <a:xfrm>
            <a:off x="339691" y="364775"/>
            <a:ext cx="6872065" cy="278339"/>
          </a:xfrm>
        </p:spPr>
        <p:txBody>
          <a:bodyPr vert="horz" lIns="0" tIns="45720" rIns="91440" bIns="45720" rtlCol="0" anchor="t">
            <a:normAutofit/>
          </a:bodyPr>
          <a:lstStyle/>
          <a:p>
            <a:r>
              <a:rPr lang="en-GB">
                <a:latin typeface="Open Sans"/>
                <a:ea typeface="Open Sans"/>
                <a:cs typeface="Open Sans"/>
              </a:rPr>
              <a:t>Group TXB_6 | DATA ECOSYSTEMS &amp; GOVERNANCE IN ORGANIZATIONS</a:t>
            </a:r>
          </a:p>
          <a:p>
            <a:endParaRPr lang="de-DE"/>
          </a:p>
        </p:txBody>
      </p:sp>
      <p:sp>
        <p:nvSpPr>
          <p:cNvPr id="2" name="Shape 6">
            <a:extLst>
              <a:ext uri="{FF2B5EF4-FFF2-40B4-BE49-F238E27FC236}">
                <a16:creationId xmlns:a16="http://schemas.microsoft.com/office/drawing/2014/main" id="{E462C412-E60A-87A2-884B-1CDF737D8637}"/>
              </a:ext>
            </a:extLst>
          </p:cNvPr>
          <p:cNvSpPr/>
          <p:nvPr/>
        </p:nvSpPr>
        <p:spPr>
          <a:xfrm>
            <a:off x="233672" y="1369754"/>
            <a:ext cx="9731963" cy="1331845"/>
          </a:xfrm>
          <a:prstGeom prst="roundRect">
            <a:avLst>
              <a:gd name="adj" fmla="val 11747"/>
            </a:avLst>
          </a:prstGeom>
          <a:solidFill>
            <a:schemeClr val="tx2">
              <a:lumMod val="10000"/>
              <a:lumOff val="90000"/>
            </a:schemeClr>
          </a:solidFill>
          <a:ln w="12700">
            <a:noFill/>
            <a:prstDash val="solid"/>
          </a:ln>
          <a:effectLst>
            <a:innerShdw blurRad="63500" dist="50800" dir="8100000">
              <a:prstClr val="black">
                <a:alpha val="50000"/>
              </a:prstClr>
            </a:innerShdw>
          </a:effectLst>
        </p:spPr>
        <p:txBody>
          <a:bodyPr/>
          <a:lstStyle/>
          <a:p>
            <a:r>
              <a:rPr lang="en-GB" sz="1900" b="1"/>
              <a:t>Dataset audit</a:t>
            </a:r>
          </a:p>
          <a:p>
            <a:pPr marL="285750" indent="-285750">
              <a:buFontTx/>
              <a:buChar char="-"/>
            </a:pPr>
            <a:r>
              <a:rPr lang="en-GB" sz="1600"/>
              <a:t>502 credit applications </a:t>
            </a:r>
            <a:r>
              <a:rPr lang="en-GB" sz="1600" err="1"/>
              <a:t>analyzed</a:t>
            </a:r>
            <a:endParaRPr lang="en-GB" sz="1600"/>
          </a:p>
          <a:p>
            <a:pPr marL="285750" indent="-285750">
              <a:buFontTx/>
              <a:buChar char="-"/>
            </a:pPr>
            <a:r>
              <a:rPr lang="en-GB" sz="1600"/>
              <a:t>21 attributes including personal and financial data</a:t>
            </a:r>
          </a:p>
          <a:p>
            <a:pPr marL="285750" indent="-285750">
              <a:buFontTx/>
              <a:buChar char="-"/>
            </a:pPr>
            <a:r>
              <a:rPr lang="en-GB" sz="1600"/>
              <a:t>Multiple Personally Identifiable Information (PII) fields detected</a:t>
            </a:r>
          </a:p>
          <a:p>
            <a:endParaRPr lang="zh-CN" altLang="en-US"/>
          </a:p>
        </p:txBody>
      </p:sp>
      <p:sp>
        <p:nvSpPr>
          <p:cNvPr id="11" name="Shape 19">
            <a:extLst>
              <a:ext uri="{FF2B5EF4-FFF2-40B4-BE49-F238E27FC236}">
                <a16:creationId xmlns:a16="http://schemas.microsoft.com/office/drawing/2014/main" id="{A802DBD9-75FD-4E20-F06C-8E4424B6ADCD}"/>
              </a:ext>
            </a:extLst>
          </p:cNvPr>
          <p:cNvSpPr/>
          <p:nvPr/>
        </p:nvSpPr>
        <p:spPr>
          <a:xfrm>
            <a:off x="233672" y="2941983"/>
            <a:ext cx="11414987" cy="2546262"/>
          </a:xfrm>
          <a:prstGeom prst="roundRect">
            <a:avLst>
              <a:gd name="adj" fmla="val 4526"/>
            </a:avLst>
          </a:prstGeom>
          <a:blipFill dpi="0" rotWithShape="1">
            <a:blip r:embed="rId6">
              <a:alphaModFix amt="69000"/>
            </a:blip>
            <a:srcRect/>
            <a:tile tx="0" ty="0" sx="100000" sy="100000" flip="none" algn="tl"/>
          </a:blipFill>
          <a:ln w="12700">
            <a:noFill/>
            <a:prstDash val="solid"/>
          </a:ln>
          <a:effectLst>
            <a:outerShdw blurRad="50800" dist="38100" dir="18900000" algn="bl" rotWithShape="0">
              <a:prstClr val="black">
                <a:alpha val="40000"/>
              </a:prstClr>
            </a:outerShdw>
          </a:effectLst>
        </p:spPr>
        <p:txBody>
          <a:bodyPr/>
          <a:lstStyle/>
          <a:p>
            <a:r>
              <a:rPr lang="it-IT" altLang="zh-CN" sz="1900" b="1"/>
              <a:t>Sensitive </a:t>
            </a:r>
            <a:r>
              <a:rPr lang="it-IT" altLang="zh-CN" sz="1900" b="1" err="1"/>
              <a:t>attributes</a:t>
            </a:r>
            <a:r>
              <a:rPr lang="it-IT" altLang="zh-CN" sz="1900" b="1"/>
              <a:t> </a:t>
            </a:r>
            <a:r>
              <a:rPr lang="it-IT" altLang="zh-CN" sz="1900" b="1" err="1"/>
              <a:t>identified</a:t>
            </a:r>
            <a:endParaRPr lang="zh-CN" altLang="en-US" sz="1900" b="1"/>
          </a:p>
        </p:txBody>
      </p:sp>
      <p:sp>
        <p:nvSpPr>
          <p:cNvPr id="13" name="Shape 19">
            <a:extLst>
              <a:ext uri="{FF2B5EF4-FFF2-40B4-BE49-F238E27FC236}">
                <a16:creationId xmlns:a16="http://schemas.microsoft.com/office/drawing/2014/main" id="{7DB2D69D-4307-E76D-2C31-9871D09E52E4}"/>
              </a:ext>
            </a:extLst>
          </p:cNvPr>
          <p:cNvSpPr/>
          <p:nvPr/>
        </p:nvSpPr>
        <p:spPr>
          <a:xfrm>
            <a:off x="4379842" y="3527598"/>
            <a:ext cx="2418523" cy="1828800"/>
          </a:xfrm>
          <a:prstGeom prst="roundRect">
            <a:avLst>
              <a:gd name="adj" fmla="val 4000"/>
            </a:avLst>
          </a:prstGeom>
          <a:solidFill>
            <a:schemeClr val="tx2">
              <a:lumMod val="10000"/>
              <a:lumOff val="90000"/>
            </a:schemeClr>
          </a:solidFill>
          <a:ln w="12700">
            <a:noFill/>
            <a:prstDash val="solid"/>
          </a:ln>
          <a:effectLst>
            <a:outerShdw blurRad="50800" dist="38100" dir="18900000" algn="bl" rotWithShape="0">
              <a:prstClr val="black">
                <a:alpha val="40000"/>
              </a:prstClr>
            </a:outerShdw>
          </a:effectLst>
        </p:spPr>
        <p:txBody>
          <a:bodyPr/>
          <a:lstStyle/>
          <a:p>
            <a:pPr algn="ctr"/>
            <a:r>
              <a:rPr lang="it-IT" altLang="zh-CN" sz="1600" b="1"/>
              <a:t>Quasi-</a:t>
            </a:r>
            <a:r>
              <a:rPr lang="it-IT" altLang="zh-CN" sz="1600" b="1" err="1"/>
              <a:t>identifires</a:t>
            </a:r>
            <a:r>
              <a:rPr lang="it-IT" altLang="zh-CN" sz="1600" b="1"/>
              <a:t> </a:t>
            </a:r>
          </a:p>
        </p:txBody>
      </p:sp>
      <p:sp>
        <p:nvSpPr>
          <p:cNvPr id="14" name="Shape 19">
            <a:extLst>
              <a:ext uri="{FF2B5EF4-FFF2-40B4-BE49-F238E27FC236}">
                <a16:creationId xmlns:a16="http://schemas.microsoft.com/office/drawing/2014/main" id="{37442F0F-7875-C244-9496-B4C233529F9C}"/>
              </a:ext>
            </a:extLst>
          </p:cNvPr>
          <p:cNvSpPr/>
          <p:nvPr/>
        </p:nvSpPr>
        <p:spPr>
          <a:xfrm>
            <a:off x="332604" y="3527598"/>
            <a:ext cx="3769823" cy="1828800"/>
          </a:xfrm>
          <a:prstGeom prst="roundRect">
            <a:avLst>
              <a:gd name="adj" fmla="val 4000"/>
            </a:avLst>
          </a:prstGeom>
          <a:solidFill>
            <a:schemeClr val="tx2">
              <a:lumMod val="10000"/>
              <a:lumOff val="90000"/>
            </a:schemeClr>
          </a:solidFill>
          <a:ln w="12700">
            <a:noFill/>
            <a:prstDash val="solid"/>
          </a:ln>
          <a:effectLst>
            <a:outerShdw blurRad="50800" dist="38100" dir="18900000" algn="bl" rotWithShape="0">
              <a:prstClr val="black">
                <a:alpha val="40000"/>
              </a:prstClr>
            </a:outerShdw>
          </a:effectLst>
        </p:spPr>
        <p:txBody>
          <a:bodyPr/>
          <a:lstStyle/>
          <a:p>
            <a:pPr algn="ctr"/>
            <a:r>
              <a:rPr lang="en-IT" sz="1600" b="1"/>
              <a:t>Direct identifiers (high privacy risk)</a:t>
            </a:r>
          </a:p>
          <a:p>
            <a:pPr algn="ctr"/>
            <a:endParaRPr lang="en-IT" sz="1600"/>
          </a:p>
        </p:txBody>
      </p:sp>
      <p:sp>
        <p:nvSpPr>
          <p:cNvPr id="16" name="Shape 19">
            <a:extLst>
              <a:ext uri="{FF2B5EF4-FFF2-40B4-BE49-F238E27FC236}">
                <a16:creationId xmlns:a16="http://schemas.microsoft.com/office/drawing/2014/main" id="{DC60E0DD-C659-D5AB-0250-FA86C656A342}"/>
              </a:ext>
            </a:extLst>
          </p:cNvPr>
          <p:cNvSpPr/>
          <p:nvPr/>
        </p:nvSpPr>
        <p:spPr>
          <a:xfrm>
            <a:off x="7212494" y="3527598"/>
            <a:ext cx="4028662" cy="1720264"/>
          </a:xfrm>
          <a:prstGeom prst="roundRect">
            <a:avLst>
              <a:gd name="adj" fmla="val 6933"/>
            </a:avLst>
          </a:prstGeom>
          <a:solidFill>
            <a:schemeClr val="tx2">
              <a:lumMod val="10000"/>
              <a:lumOff val="90000"/>
            </a:schemeClr>
          </a:solidFill>
          <a:ln w="12700">
            <a:noFill/>
            <a:prstDash val="solid"/>
          </a:ln>
          <a:effectLst>
            <a:outerShdw blurRad="50800" dist="38100" dir="18900000" algn="bl" rotWithShape="0">
              <a:prstClr val="black">
                <a:alpha val="40000"/>
              </a:prstClr>
            </a:outerShdw>
          </a:effectLst>
        </p:spPr>
        <p:txBody>
          <a:bodyPr/>
          <a:lstStyle/>
          <a:p>
            <a:pPr algn="ctr"/>
            <a:r>
              <a:rPr lang="it-IT" altLang="zh-CN" sz="1600" b="1" err="1"/>
              <a:t>Additional</a:t>
            </a:r>
            <a:r>
              <a:rPr lang="it-IT" altLang="zh-CN" sz="1600" b="1"/>
              <a:t> risk </a:t>
            </a:r>
            <a:r>
              <a:rPr lang="it-IT" altLang="zh-CN" sz="1600" b="1" err="1"/>
              <a:t>factors</a:t>
            </a:r>
            <a:endParaRPr lang="it-IT" altLang="zh-CN" sz="1600" b="1"/>
          </a:p>
        </p:txBody>
      </p:sp>
      <p:sp>
        <p:nvSpPr>
          <p:cNvPr id="3" name="可选流程 2">
            <a:extLst>
              <a:ext uri="{FF2B5EF4-FFF2-40B4-BE49-F238E27FC236}">
                <a16:creationId xmlns:a16="http://schemas.microsoft.com/office/drawing/2014/main" id="{12D38E67-5DF4-1767-C9E9-B7F29DAA119C}"/>
              </a:ext>
            </a:extLst>
          </p:cNvPr>
          <p:cNvSpPr/>
          <p:nvPr/>
        </p:nvSpPr>
        <p:spPr>
          <a:xfrm>
            <a:off x="408913" y="4019931"/>
            <a:ext cx="1654681" cy="367799"/>
          </a:xfrm>
          <a:prstGeom prst="flowChartAlternateProcess">
            <a:avLst/>
          </a:prstGeom>
          <a:blipFill dpi="0" rotWithShape="1">
            <a:blip r:embed="rId7">
              <a:alphaModFix amt="18000"/>
            </a:blip>
            <a:srcRect/>
            <a:tile tx="0" ty="0" sx="100000" sy="10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T" altLang="zh-CN" sz="1800">
                <a:solidFill>
                  <a:schemeClr val="tx2">
                    <a:lumMod val="90000"/>
                    <a:lumOff val="10000"/>
                  </a:schemeClr>
                </a:solidFill>
              </a:rPr>
              <a:t>Full name</a:t>
            </a:r>
          </a:p>
        </p:txBody>
      </p:sp>
      <p:sp>
        <p:nvSpPr>
          <p:cNvPr id="4" name="可选流程 3">
            <a:extLst>
              <a:ext uri="{FF2B5EF4-FFF2-40B4-BE49-F238E27FC236}">
                <a16:creationId xmlns:a16="http://schemas.microsoft.com/office/drawing/2014/main" id="{48A77175-01F7-342D-C203-868067A9FBD8}"/>
              </a:ext>
            </a:extLst>
          </p:cNvPr>
          <p:cNvSpPr/>
          <p:nvPr/>
        </p:nvSpPr>
        <p:spPr>
          <a:xfrm>
            <a:off x="408914" y="4677163"/>
            <a:ext cx="1654680" cy="367799"/>
          </a:xfrm>
          <a:prstGeom prst="flowChartAlternateProcess">
            <a:avLst/>
          </a:prstGeom>
          <a:blipFill dpi="0" rotWithShape="1">
            <a:blip r:embed="rId7">
              <a:alphaModFix amt="18000"/>
            </a:blip>
            <a:srcRect/>
            <a:tile tx="0" ty="0" sx="100000" sy="10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T" altLang="zh-CN" sz="1800">
                <a:solidFill>
                  <a:schemeClr val="tx2">
                    <a:lumMod val="90000"/>
                    <a:lumOff val="10000"/>
                  </a:schemeClr>
                </a:solidFill>
              </a:rPr>
              <a:t>Email address</a:t>
            </a:r>
          </a:p>
        </p:txBody>
      </p:sp>
      <p:sp>
        <p:nvSpPr>
          <p:cNvPr id="7" name="可选流程 6">
            <a:extLst>
              <a:ext uri="{FF2B5EF4-FFF2-40B4-BE49-F238E27FC236}">
                <a16:creationId xmlns:a16="http://schemas.microsoft.com/office/drawing/2014/main" id="{49B2B415-6529-D0C4-68D0-82488706CDA3}"/>
              </a:ext>
            </a:extLst>
          </p:cNvPr>
          <p:cNvSpPr/>
          <p:nvPr/>
        </p:nvSpPr>
        <p:spPr>
          <a:xfrm>
            <a:off x="2430213" y="4674734"/>
            <a:ext cx="1611349" cy="367799"/>
          </a:xfrm>
          <a:prstGeom prst="flowChartAlternateProcess">
            <a:avLst/>
          </a:prstGeom>
          <a:blipFill dpi="0" rotWithShape="1">
            <a:blip r:embed="rId7">
              <a:alphaModFix amt="18000"/>
            </a:blip>
            <a:srcRect/>
            <a:tile tx="0" ty="0" sx="100000" sy="10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T" altLang="zh-CN" sz="1800">
                <a:solidFill>
                  <a:schemeClr val="tx2">
                    <a:lumMod val="90000"/>
                    <a:lumOff val="10000"/>
                  </a:schemeClr>
                </a:solidFill>
              </a:rPr>
              <a:t>SSN</a:t>
            </a:r>
          </a:p>
        </p:txBody>
      </p:sp>
      <p:sp>
        <p:nvSpPr>
          <p:cNvPr id="10" name="可选流程 9">
            <a:extLst>
              <a:ext uri="{FF2B5EF4-FFF2-40B4-BE49-F238E27FC236}">
                <a16:creationId xmlns:a16="http://schemas.microsoft.com/office/drawing/2014/main" id="{C840E0BE-7345-7116-786B-9A336094E567}"/>
              </a:ext>
            </a:extLst>
          </p:cNvPr>
          <p:cNvSpPr/>
          <p:nvPr/>
        </p:nvSpPr>
        <p:spPr>
          <a:xfrm>
            <a:off x="2413425" y="4031650"/>
            <a:ext cx="1597760" cy="367799"/>
          </a:xfrm>
          <a:prstGeom prst="flowChartAlternateProcess">
            <a:avLst/>
          </a:prstGeom>
          <a:blipFill dpi="0" rotWithShape="1">
            <a:blip r:embed="rId7">
              <a:alphaModFix amt="18000"/>
            </a:blip>
            <a:srcRect/>
            <a:tile tx="0" ty="0" sx="100000" sy="10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T" altLang="zh-CN" sz="1800">
                <a:solidFill>
                  <a:schemeClr val="tx2">
                    <a:lumMod val="90000"/>
                    <a:lumOff val="10000"/>
                  </a:schemeClr>
                </a:solidFill>
              </a:rPr>
              <a:t>IP address</a:t>
            </a:r>
          </a:p>
        </p:txBody>
      </p:sp>
      <p:sp>
        <p:nvSpPr>
          <p:cNvPr id="12" name="可选流程 11">
            <a:extLst>
              <a:ext uri="{FF2B5EF4-FFF2-40B4-BE49-F238E27FC236}">
                <a16:creationId xmlns:a16="http://schemas.microsoft.com/office/drawing/2014/main" id="{96E41935-1EA7-390E-065C-3ADAD5A4A2F3}"/>
              </a:ext>
            </a:extLst>
          </p:cNvPr>
          <p:cNvSpPr/>
          <p:nvPr/>
        </p:nvSpPr>
        <p:spPr>
          <a:xfrm>
            <a:off x="4769347" y="4027656"/>
            <a:ext cx="1751375" cy="360074"/>
          </a:xfrm>
          <a:prstGeom prst="flowChartAlternateProcess">
            <a:avLst/>
          </a:prstGeom>
          <a:blipFill dpi="0" rotWithShape="1">
            <a:blip r:embed="rId7">
              <a:alphaModFix amt="18000"/>
            </a:blip>
            <a:srcRect/>
            <a:tile tx="0" ty="0" sx="100000" sy="10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ltLang="zh-CN" sz="1800">
                <a:solidFill>
                  <a:schemeClr val="tx2">
                    <a:lumMod val="90000"/>
                    <a:lumOff val="10000"/>
                  </a:schemeClr>
                </a:solidFill>
              </a:rPr>
              <a:t>Date of </a:t>
            </a:r>
            <a:r>
              <a:rPr lang="it-IT" altLang="zh-CN" sz="1800" err="1">
                <a:solidFill>
                  <a:schemeClr val="tx2">
                    <a:lumMod val="90000"/>
                    <a:lumOff val="10000"/>
                  </a:schemeClr>
                </a:solidFill>
              </a:rPr>
              <a:t>birth</a:t>
            </a:r>
            <a:endParaRPr lang="it-IT" altLang="zh-CN" sz="1800">
              <a:solidFill>
                <a:schemeClr val="tx2">
                  <a:lumMod val="90000"/>
                  <a:lumOff val="10000"/>
                </a:schemeClr>
              </a:solidFill>
            </a:endParaRPr>
          </a:p>
        </p:txBody>
      </p:sp>
      <p:sp>
        <p:nvSpPr>
          <p:cNvPr id="17" name="可选流程 16">
            <a:extLst>
              <a:ext uri="{FF2B5EF4-FFF2-40B4-BE49-F238E27FC236}">
                <a16:creationId xmlns:a16="http://schemas.microsoft.com/office/drawing/2014/main" id="{B48A122F-1B13-5F84-50BF-5FDAD2EC82C7}"/>
              </a:ext>
            </a:extLst>
          </p:cNvPr>
          <p:cNvSpPr/>
          <p:nvPr/>
        </p:nvSpPr>
        <p:spPr>
          <a:xfrm>
            <a:off x="4769346" y="4603515"/>
            <a:ext cx="1751375" cy="360074"/>
          </a:xfrm>
          <a:prstGeom prst="flowChartAlternateProcess">
            <a:avLst/>
          </a:prstGeom>
          <a:blipFill dpi="0" rotWithShape="1">
            <a:blip r:embed="rId7">
              <a:alphaModFix amt="18000"/>
            </a:blip>
            <a:srcRect/>
            <a:tile tx="0" ty="0" sx="100000" sy="10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ltLang="zh-CN" sz="1800">
                <a:solidFill>
                  <a:schemeClr val="tx2">
                    <a:lumMod val="90000"/>
                    <a:lumOff val="10000"/>
                  </a:schemeClr>
                </a:solidFill>
              </a:rPr>
              <a:t>ZIP code</a:t>
            </a:r>
            <a:endParaRPr lang="zh-CN" altLang="en-US" sz="1800">
              <a:solidFill>
                <a:schemeClr val="tx2">
                  <a:lumMod val="90000"/>
                  <a:lumOff val="10000"/>
                </a:schemeClr>
              </a:solidFill>
            </a:endParaRPr>
          </a:p>
        </p:txBody>
      </p:sp>
      <p:sp>
        <p:nvSpPr>
          <p:cNvPr id="18" name="可选流程 17">
            <a:extLst>
              <a:ext uri="{FF2B5EF4-FFF2-40B4-BE49-F238E27FC236}">
                <a16:creationId xmlns:a16="http://schemas.microsoft.com/office/drawing/2014/main" id="{DF5C6B11-10EB-372F-B4DE-8E3FF23ADF01}"/>
              </a:ext>
            </a:extLst>
          </p:cNvPr>
          <p:cNvSpPr/>
          <p:nvPr/>
        </p:nvSpPr>
        <p:spPr>
          <a:xfrm>
            <a:off x="7610103" y="4003989"/>
            <a:ext cx="3371982" cy="284273"/>
          </a:xfrm>
          <a:prstGeom prst="flowChartAlternateProcess">
            <a:avLst/>
          </a:prstGeom>
          <a:blipFill dpi="0" rotWithShape="1">
            <a:blip r:embed="rId7">
              <a:alphaModFix amt="18000"/>
            </a:blip>
            <a:srcRect/>
            <a:tile tx="0" ty="0" sx="100000" sy="10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ltLang="zh-CN" sz="1600" err="1">
                <a:solidFill>
                  <a:schemeClr val="tx2">
                    <a:lumMod val="90000"/>
                    <a:lumOff val="10000"/>
                  </a:schemeClr>
                </a:solidFill>
              </a:rPr>
              <a:t>Protected</a:t>
            </a:r>
            <a:r>
              <a:rPr lang="it-IT" altLang="zh-CN" sz="1600">
                <a:solidFill>
                  <a:schemeClr val="tx2">
                    <a:lumMod val="90000"/>
                    <a:lumOff val="10000"/>
                  </a:schemeClr>
                </a:solidFill>
              </a:rPr>
              <a:t> </a:t>
            </a:r>
            <a:r>
              <a:rPr lang="it-IT" altLang="zh-CN" sz="1600" err="1">
                <a:solidFill>
                  <a:schemeClr val="tx2">
                    <a:lumMod val="90000"/>
                    <a:lumOff val="10000"/>
                  </a:schemeClr>
                </a:solidFill>
              </a:rPr>
              <a:t>attribute</a:t>
            </a:r>
            <a:r>
              <a:rPr lang="it-IT" altLang="zh-CN" sz="1600">
                <a:solidFill>
                  <a:schemeClr val="tx2">
                    <a:lumMod val="90000"/>
                    <a:lumOff val="10000"/>
                  </a:schemeClr>
                </a:solidFill>
              </a:rPr>
              <a:t> </a:t>
            </a:r>
            <a:r>
              <a:rPr lang="it-IT" altLang="zh-CN" sz="1600" err="1">
                <a:solidFill>
                  <a:schemeClr val="tx2">
                    <a:lumMod val="90000"/>
                    <a:lumOff val="10000"/>
                  </a:schemeClr>
                </a:solidFill>
              </a:rPr>
              <a:t>present</a:t>
            </a:r>
            <a:r>
              <a:rPr lang="it-IT" altLang="zh-CN" sz="1600">
                <a:solidFill>
                  <a:schemeClr val="tx2">
                    <a:lumMod val="90000"/>
                    <a:lumOff val="10000"/>
                  </a:schemeClr>
                </a:solidFill>
              </a:rPr>
              <a:t> (gender) </a:t>
            </a:r>
          </a:p>
        </p:txBody>
      </p:sp>
      <p:sp>
        <p:nvSpPr>
          <p:cNvPr id="20" name="可选流程 19">
            <a:extLst>
              <a:ext uri="{FF2B5EF4-FFF2-40B4-BE49-F238E27FC236}">
                <a16:creationId xmlns:a16="http://schemas.microsoft.com/office/drawing/2014/main" id="{34E52092-2109-DC2A-1DD8-CAD677EFEBED}"/>
              </a:ext>
            </a:extLst>
          </p:cNvPr>
          <p:cNvSpPr/>
          <p:nvPr/>
        </p:nvSpPr>
        <p:spPr>
          <a:xfrm>
            <a:off x="7649609" y="4438933"/>
            <a:ext cx="3306137" cy="284273"/>
          </a:xfrm>
          <a:prstGeom prst="flowChartAlternateProcess">
            <a:avLst/>
          </a:prstGeom>
          <a:blipFill dpi="0" rotWithShape="1">
            <a:blip r:embed="rId7">
              <a:alphaModFix amt="18000"/>
            </a:blip>
            <a:srcRect/>
            <a:tile tx="0" ty="0" sx="100000" sy="10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ltLang="zh-CN" sz="1600">
                <a:solidFill>
                  <a:schemeClr val="tx2">
                    <a:lumMod val="90000"/>
                    <a:lumOff val="10000"/>
                  </a:schemeClr>
                </a:solidFill>
              </a:rPr>
              <a:t>High </a:t>
            </a:r>
            <a:r>
              <a:rPr lang="it-IT" altLang="zh-CN" sz="1600" err="1">
                <a:solidFill>
                  <a:schemeClr val="tx2">
                    <a:lumMod val="90000"/>
                    <a:lumOff val="10000"/>
                  </a:schemeClr>
                </a:solidFill>
              </a:rPr>
              <a:t>presence</a:t>
            </a:r>
            <a:r>
              <a:rPr lang="it-IT" altLang="zh-CN" sz="1600">
                <a:solidFill>
                  <a:schemeClr val="tx2">
                    <a:lumMod val="90000"/>
                    <a:lumOff val="10000"/>
                  </a:schemeClr>
                </a:solidFill>
              </a:rPr>
              <a:t> of PII </a:t>
            </a:r>
            <a:r>
              <a:rPr lang="it-IT" altLang="zh-CN" sz="1600" err="1">
                <a:solidFill>
                  <a:schemeClr val="tx2">
                    <a:lumMod val="90000"/>
                    <a:lumOff val="10000"/>
                  </a:schemeClr>
                </a:solidFill>
              </a:rPr>
              <a:t>across</a:t>
            </a:r>
            <a:r>
              <a:rPr lang="it-IT" altLang="zh-CN" sz="1600">
                <a:solidFill>
                  <a:schemeClr val="tx2">
                    <a:lumMod val="90000"/>
                    <a:lumOff val="10000"/>
                  </a:schemeClr>
                </a:solidFill>
              </a:rPr>
              <a:t> </a:t>
            </a:r>
            <a:r>
              <a:rPr lang="it-IT" altLang="zh-CN" sz="1600" err="1">
                <a:solidFill>
                  <a:schemeClr val="tx2">
                    <a:lumMod val="90000"/>
                    <a:lumOff val="10000"/>
                  </a:schemeClr>
                </a:solidFill>
              </a:rPr>
              <a:t>records</a:t>
            </a:r>
            <a:endParaRPr lang="it-IT" altLang="zh-CN" sz="1600">
              <a:solidFill>
                <a:schemeClr val="tx2">
                  <a:lumMod val="90000"/>
                  <a:lumOff val="10000"/>
                </a:schemeClr>
              </a:solidFill>
            </a:endParaRPr>
          </a:p>
        </p:txBody>
      </p:sp>
      <p:sp>
        <p:nvSpPr>
          <p:cNvPr id="21" name="可选流程 20">
            <a:extLst>
              <a:ext uri="{FF2B5EF4-FFF2-40B4-BE49-F238E27FC236}">
                <a16:creationId xmlns:a16="http://schemas.microsoft.com/office/drawing/2014/main" id="{6C8422F7-D883-2767-70D4-3869680D27FA}"/>
              </a:ext>
            </a:extLst>
          </p:cNvPr>
          <p:cNvSpPr/>
          <p:nvPr/>
        </p:nvSpPr>
        <p:spPr>
          <a:xfrm>
            <a:off x="7637259" y="4858633"/>
            <a:ext cx="3306137" cy="284273"/>
          </a:xfrm>
          <a:prstGeom prst="flowChartAlternateProcess">
            <a:avLst/>
          </a:prstGeom>
          <a:blipFill dpi="0" rotWithShape="1">
            <a:blip r:embed="rId7">
              <a:alphaModFix amt="18000"/>
            </a:blip>
            <a:srcRect/>
            <a:tile tx="0" ty="0" sx="100000" sy="10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altLang="zh-CN" sz="1600" dirty="0" err="1">
                <a:solidFill>
                  <a:schemeClr val="tx2">
                    <a:lumMod val="90000"/>
                    <a:lumOff val="10000"/>
                  </a:schemeClr>
                </a:solidFill>
              </a:rPr>
              <a:t>Raw</a:t>
            </a:r>
            <a:r>
              <a:rPr lang="it-IT" altLang="zh-CN" sz="1600" dirty="0">
                <a:solidFill>
                  <a:schemeClr val="tx2">
                    <a:lumMod val="90000"/>
                    <a:lumOff val="10000"/>
                  </a:schemeClr>
                </a:solidFill>
              </a:rPr>
              <a:t> data </a:t>
            </a:r>
            <a:r>
              <a:rPr lang="it-IT" altLang="zh-CN" sz="1600" dirty="0" err="1">
                <a:solidFill>
                  <a:schemeClr val="tx2">
                    <a:lumMod val="90000"/>
                    <a:lumOff val="10000"/>
                  </a:schemeClr>
                </a:solidFill>
              </a:rPr>
              <a:t>not</a:t>
            </a:r>
            <a:r>
              <a:rPr lang="it-IT" altLang="zh-CN" sz="1600" dirty="0">
                <a:solidFill>
                  <a:schemeClr val="tx2">
                    <a:lumMod val="90000"/>
                    <a:lumOff val="10000"/>
                  </a:schemeClr>
                </a:solidFill>
              </a:rPr>
              <a:t> </a:t>
            </a:r>
            <a:r>
              <a:rPr lang="it-IT" altLang="zh-CN" sz="1600" dirty="0" err="1">
                <a:solidFill>
                  <a:schemeClr val="tx2">
                    <a:lumMod val="90000"/>
                    <a:lumOff val="10000"/>
                  </a:schemeClr>
                </a:solidFill>
              </a:rPr>
              <a:t>suitable</a:t>
            </a:r>
            <a:r>
              <a:rPr lang="it-IT" altLang="zh-CN" sz="1600" dirty="0">
                <a:solidFill>
                  <a:schemeClr val="tx2">
                    <a:lumMod val="90000"/>
                    <a:lumOff val="10000"/>
                  </a:schemeClr>
                </a:solidFill>
              </a:rPr>
              <a:t> for </a:t>
            </a:r>
            <a:r>
              <a:rPr lang="it-IT" altLang="zh-CN" sz="1600" dirty="0" err="1">
                <a:solidFill>
                  <a:schemeClr val="tx2">
                    <a:lumMod val="90000"/>
                    <a:lumOff val="10000"/>
                  </a:schemeClr>
                </a:solidFill>
              </a:rPr>
              <a:t>direct</a:t>
            </a:r>
            <a:r>
              <a:rPr lang="it-IT" altLang="zh-CN" sz="1600" dirty="0">
                <a:solidFill>
                  <a:schemeClr val="tx2">
                    <a:lumMod val="90000"/>
                    <a:lumOff val="10000"/>
                  </a:schemeClr>
                </a:solidFill>
              </a:rPr>
              <a:t> ML</a:t>
            </a:r>
          </a:p>
        </p:txBody>
      </p:sp>
    </p:spTree>
    <p:extLst>
      <p:ext uri="{BB962C8B-B14F-4D97-AF65-F5344CB8AC3E}">
        <p14:creationId xmlns:p14="http://schemas.microsoft.com/office/powerpoint/2010/main" val="1374892498"/>
      </p:ext>
    </p:extLst>
  </p:cSld>
  <p:clrMapOvr>
    <a:masterClrMapping/>
  </p:clrMapOvr>
  <p:transition spd="med" advTm="57231"/>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7274E-658D-9E5A-645C-A3FB33C7EB70}"/>
            </a:ext>
          </a:extLst>
        </p:cNvPr>
        <p:cNvGrpSpPr/>
        <p:nvPr/>
      </p:nvGrpSpPr>
      <p:grpSpPr>
        <a:xfrm>
          <a:off x="0" y="0"/>
          <a:ext cx="0" cy="0"/>
          <a:chOff x="0" y="0"/>
          <a:chExt cx="0" cy="0"/>
        </a:xfrm>
      </p:grpSpPr>
      <p:graphicFrame>
        <p:nvGraphicFramePr>
          <p:cNvPr id="15" name="think-cell data - do not delete" hidden="1">
            <a:extLst>
              <a:ext uri="{FF2B5EF4-FFF2-40B4-BE49-F238E27FC236}">
                <a16:creationId xmlns:a16="http://schemas.microsoft.com/office/drawing/2014/main" id="{3AF6BE76-4FB1-9BC5-762C-EC52CD2D0881}"/>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Folie" r:id="rId4" imgW="7772400" imgH="10058400" progId="TCLayout.ActiveDocument.1">
                  <p:embed/>
                </p:oleObj>
              </mc:Choice>
              <mc:Fallback>
                <p:oleObj name="think-cell Folie" r:id="rId4" imgW="7772400" imgH="10058400" progId="TCLayout.ActiveDocument.1">
                  <p:embed/>
                  <p:pic>
                    <p:nvPicPr>
                      <p:cNvPr id="15" name="think-cell data - do not delete" hidden="1">
                        <a:extLst>
                          <a:ext uri="{FF2B5EF4-FFF2-40B4-BE49-F238E27FC236}">
                            <a16:creationId xmlns:a16="http://schemas.microsoft.com/office/drawing/2014/main" id="{3AF6BE76-4FB1-9BC5-762C-EC52CD2D08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Foliennummernplatzhalter 4">
            <a:extLst>
              <a:ext uri="{FF2B5EF4-FFF2-40B4-BE49-F238E27FC236}">
                <a16:creationId xmlns:a16="http://schemas.microsoft.com/office/drawing/2014/main" id="{B5CBA093-93DE-5B3F-9721-9D4D3DF154D0}"/>
              </a:ext>
            </a:extLst>
          </p:cNvPr>
          <p:cNvSpPr>
            <a:spLocks noGrp="1"/>
          </p:cNvSpPr>
          <p:nvPr>
            <p:ph type="sldNum" sz="quarter" idx="21"/>
          </p:nvPr>
        </p:nvSpPr>
        <p:spPr/>
        <p:txBody>
          <a:bodyPr/>
          <a:lstStyle/>
          <a:p>
            <a:fld id="{96D0270E-ECD2-CA4B-BE22-56AEC998461C}" type="slidenum">
              <a:rPr lang="de-DE" smtClean="0"/>
              <a:t>11</a:t>
            </a:fld>
            <a:endParaRPr lang="de-DE"/>
          </a:p>
        </p:txBody>
      </p:sp>
      <p:sp>
        <p:nvSpPr>
          <p:cNvPr id="9" name="Textplatzhalter 2">
            <a:extLst>
              <a:ext uri="{FF2B5EF4-FFF2-40B4-BE49-F238E27FC236}">
                <a16:creationId xmlns:a16="http://schemas.microsoft.com/office/drawing/2014/main" id="{9D037232-4F4F-AD28-9359-55304E672EE4}"/>
              </a:ext>
            </a:extLst>
          </p:cNvPr>
          <p:cNvSpPr txBox="1">
            <a:spLocks/>
          </p:cNvSpPr>
          <p:nvPr/>
        </p:nvSpPr>
        <p:spPr>
          <a:xfrm>
            <a:off x="332604" y="829450"/>
            <a:ext cx="11016146" cy="540306"/>
          </a:xfrm>
          <a:prstGeom prst="rect">
            <a:avLst/>
          </a:prstGeom>
        </p:spPr>
        <p:txBody>
          <a:bodyPr vert="horz" lIns="0" tIns="45720" rIns="91440" bIns="45720" rtlCol="0" anchor="t">
            <a:noAutofit/>
          </a:bodyPr>
          <a:lstStyle>
            <a:lvl1pPr marL="0" marR="0" indent="0" algn="l" defTabSz="412750" rtl="0" eaLnBrk="1" fontAlgn="auto" latinLnBrk="0" hangingPunct="0">
              <a:lnSpc>
                <a:spcPct val="80000"/>
              </a:lnSpc>
              <a:spcBef>
                <a:spcPts val="0"/>
              </a:spcBef>
              <a:spcAft>
                <a:spcPts val="0"/>
              </a:spcAft>
              <a:buClrTx/>
              <a:buSzTx/>
              <a:buFontTx/>
              <a:buNone/>
              <a:tabLst/>
              <a:defRPr kumimoji="0" lang="en-US" sz="4550" b="0" i="0" u="none" strike="noStrike" kern="1200" cap="none" spc="0" normalizeH="0" baseline="0" dirty="0" smtClean="0">
                <a:ln>
                  <a:noFill/>
                </a:ln>
                <a:solidFill>
                  <a:srgbClr val="000000"/>
                </a:solidFill>
                <a:effectLst/>
                <a:uFillTx/>
                <a:latin typeface="Playfair Display"/>
                <a:ea typeface="Playfair Display"/>
                <a:cs typeface="Playfair Display"/>
                <a:sym typeface="Helvetica Neue"/>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800" b="1">
                <a:solidFill>
                  <a:schemeClr val="tx2">
                    <a:lumMod val="90000"/>
                    <a:lumOff val="10000"/>
                  </a:schemeClr>
                </a:solidFill>
              </a:rPr>
              <a:t>Governance</a:t>
            </a:r>
            <a:r>
              <a:rPr lang="en-AU" sz="2800"/>
              <a:t> </a:t>
            </a:r>
            <a:r>
              <a:rPr lang="en-US" sz="2800" b="1" err="1">
                <a:solidFill>
                  <a:schemeClr val="tx2">
                    <a:lumMod val="90000"/>
                    <a:lumOff val="10000"/>
                  </a:schemeClr>
                </a:solidFill>
              </a:rPr>
              <a:t>Reccomendations</a:t>
            </a:r>
            <a:endParaRPr lang="en-US" sz="2800" b="1">
              <a:solidFill>
                <a:schemeClr val="tx2">
                  <a:lumMod val="90000"/>
                  <a:lumOff val="10000"/>
                </a:schemeClr>
              </a:solidFill>
            </a:endParaRPr>
          </a:p>
        </p:txBody>
      </p:sp>
      <p:sp>
        <p:nvSpPr>
          <p:cNvPr id="6" name="Textplatzhalter 1">
            <a:extLst>
              <a:ext uri="{FF2B5EF4-FFF2-40B4-BE49-F238E27FC236}">
                <a16:creationId xmlns:a16="http://schemas.microsoft.com/office/drawing/2014/main" id="{D6E0738D-B754-A26F-DF0F-B8DCF088BE14}"/>
              </a:ext>
            </a:extLst>
          </p:cNvPr>
          <p:cNvSpPr>
            <a:spLocks noGrp="1"/>
          </p:cNvSpPr>
          <p:nvPr>
            <p:ph type="body" sz="quarter" idx="13"/>
          </p:nvPr>
        </p:nvSpPr>
        <p:spPr>
          <a:xfrm>
            <a:off x="339691" y="364775"/>
            <a:ext cx="6872065" cy="278339"/>
          </a:xfrm>
        </p:spPr>
        <p:txBody>
          <a:bodyPr vert="horz" lIns="0" tIns="45720" rIns="91440" bIns="45720" rtlCol="0" anchor="t">
            <a:normAutofit/>
          </a:bodyPr>
          <a:lstStyle/>
          <a:p>
            <a:r>
              <a:rPr lang="en-GB">
                <a:latin typeface="Open Sans"/>
                <a:ea typeface="Open Sans"/>
                <a:cs typeface="Open Sans"/>
              </a:rPr>
              <a:t>Group TXB_6 | DATA ECOSYSTEMS &amp; GOVERNANCE IN ORGANIZATIONS</a:t>
            </a:r>
          </a:p>
          <a:p>
            <a:endParaRPr lang="de-DE"/>
          </a:p>
        </p:txBody>
      </p:sp>
      <p:sp>
        <p:nvSpPr>
          <p:cNvPr id="2" name="Shape 19">
            <a:extLst>
              <a:ext uri="{FF2B5EF4-FFF2-40B4-BE49-F238E27FC236}">
                <a16:creationId xmlns:a16="http://schemas.microsoft.com/office/drawing/2014/main" id="{EC935DE6-DEEA-5AFF-83E5-3B1B612EE9C6}"/>
              </a:ext>
            </a:extLst>
          </p:cNvPr>
          <p:cNvSpPr/>
          <p:nvPr/>
        </p:nvSpPr>
        <p:spPr>
          <a:xfrm>
            <a:off x="145774" y="1369756"/>
            <a:ext cx="11502885" cy="4381687"/>
          </a:xfrm>
          <a:prstGeom prst="roundRect">
            <a:avLst>
              <a:gd name="adj" fmla="val 4526"/>
            </a:avLst>
          </a:prstGeom>
          <a:solidFill>
            <a:schemeClr val="tx2">
              <a:lumMod val="10000"/>
              <a:lumOff val="90000"/>
            </a:schemeClr>
          </a:solidFill>
          <a:ln w="12700">
            <a:noFill/>
            <a:prstDash val="solid"/>
          </a:ln>
          <a:effectLst>
            <a:outerShdw blurRad="50800" dist="38100" dir="18900000" algn="bl" rotWithShape="0">
              <a:prstClr val="black">
                <a:alpha val="40000"/>
              </a:prstClr>
            </a:outerShdw>
          </a:effectLst>
        </p:spPr>
        <p:txBody>
          <a:bodyPr/>
          <a:lstStyle/>
          <a:p>
            <a:r>
              <a:rPr lang="it-IT" altLang="zh-CN" sz="1900" b="1"/>
              <a:t>Technical controls </a:t>
            </a:r>
            <a:r>
              <a:rPr lang="it-IT" altLang="zh-CN" sz="1900" b="1" err="1"/>
              <a:t>implemented</a:t>
            </a:r>
            <a:r>
              <a:rPr lang="it-IT" altLang="zh-CN" sz="1900" b="1"/>
              <a:t> </a:t>
            </a:r>
          </a:p>
          <a:p>
            <a:endParaRPr lang="zh-CN" altLang="en-US" sz="1900" b="1"/>
          </a:p>
        </p:txBody>
      </p:sp>
      <p:sp>
        <p:nvSpPr>
          <p:cNvPr id="4" name="Shape 19">
            <a:extLst>
              <a:ext uri="{FF2B5EF4-FFF2-40B4-BE49-F238E27FC236}">
                <a16:creationId xmlns:a16="http://schemas.microsoft.com/office/drawing/2014/main" id="{5650DC44-05A1-FA8B-6B98-4CB60B7FACC8}"/>
              </a:ext>
            </a:extLst>
          </p:cNvPr>
          <p:cNvSpPr/>
          <p:nvPr/>
        </p:nvSpPr>
        <p:spPr>
          <a:xfrm>
            <a:off x="332604" y="1910062"/>
            <a:ext cx="8319051" cy="856774"/>
          </a:xfrm>
          <a:prstGeom prst="roundRect">
            <a:avLst>
              <a:gd name="adj" fmla="val 4526"/>
            </a:avLst>
          </a:prstGeom>
          <a:solidFill>
            <a:schemeClr val="tx2">
              <a:lumMod val="10000"/>
              <a:lumOff val="90000"/>
            </a:schemeClr>
          </a:solidFill>
          <a:ln w="12700">
            <a:noFill/>
            <a:prstDash val="solid"/>
          </a:ln>
          <a:effectLst>
            <a:outerShdw blurRad="50800" dist="38100" dir="18900000" algn="bl" rotWithShape="0">
              <a:prstClr val="black">
                <a:alpha val="40000"/>
              </a:prstClr>
            </a:outerShdw>
          </a:effectLst>
        </p:spPr>
        <p:txBody>
          <a:bodyPr/>
          <a:lstStyle/>
          <a:p>
            <a:r>
              <a:rPr lang="en-GB" sz="1900" b="1"/>
              <a:t>1) Pseudonymization</a:t>
            </a:r>
          </a:p>
          <a:p>
            <a:r>
              <a:rPr lang="en-GB" sz="1600"/>
              <a:t>         SHA-256 hashing applied to email identifiers</a:t>
            </a:r>
          </a:p>
          <a:p>
            <a:r>
              <a:rPr lang="en-GB" sz="1600"/>
              <a:t>         Preserves record uniqueness while hiding identity</a:t>
            </a:r>
            <a:endParaRPr lang="zh-CN" altLang="en-US" sz="1600" b="1"/>
          </a:p>
        </p:txBody>
      </p:sp>
      <p:sp>
        <p:nvSpPr>
          <p:cNvPr id="7" name="Shape 19">
            <a:extLst>
              <a:ext uri="{FF2B5EF4-FFF2-40B4-BE49-F238E27FC236}">
                <a16:creationId xmlns:a16="http://schemas.microsoft.com/office/drawing/2014/main" id="{2DD063F5-1011-D195-4025-43DB13B67572}"/>
              </a:ext>
            </a:extLst>
          </p:cNvPr>
          <p:cNvSpPr/>
          <p:nvPr/>
        </p:nvSpPr>
        <p:spPr>
          <a:xfrm>
            <a:off x="857083" y="2857715"/>
            <a:ext cx="8270909" cy="1171448"/>
          </a:xfrm>
          <a:prstGeom prst="roundRect">
            <a:avLst>
              <a:gd name="adj" fmla="val 4526"/>
            </a:avLst>
          </a:prstGeom>
          <a:blipFill dpi="0" rotWithShape="1">
            <a:blip r:embed="rId6">
              <a:alphaModFix amt="81000"/>
            </a:blip>
            <a:srcRect/>
            <a:tile tx="0" ty="0" sx="100000" sy="100000" flip="none" algn="tl"/>
          </a:blipFill>
          <a:ln w="12700">
            <a:noFill/>
            <a:prstDash val="solid"/>
          </a:ln>
          <a:effectLst>
            <a:outerShdw blurRad="50800" dist="38100" dir="18900000" algn="bl" rotWithShape="0">
              <a:prstClr val="black">
                <a:alpha val="40000"/>
              </a:prstClr>
            </a:outerShdw>
          </a:effectLst>
        </p:spPr>
        <p:txBody>
          <a:bodyPr/>
          <a:lstStyle/>
          <a:p>
            <a:r>
              <a:rPr lang="en-GB" sz="1900" b="1"/>
              <a:t>2) Anonymization</a:t>
            </a:r>
          </a:p>
          <a:p>
            <a:r>
              <a:rPr lang="en-GB" sz="1600"/>
              <a:t>         IP address masking (remove last octet)</a:t>
            </a:r>
          </a:p>
          <a:p>
            <a:r>
              <a:rPr lang="en-GB" sz="1600"/>
              <a:t>         Date of birth generalized into age bands</a:t>
            </a:r>
          </a:p>
          <a:p>
            <a:r>
              <a:rPr lang="en-GB" sz="1600"/>
              <a:t>         Exact identifiers removed from analytics dataset</a:t>
            </a:r>
            <a:endParaRPr lang="it-IT" sz="1600"/>
          </a:p>
          <a:p>
            <a:pPr marL="342900" indent="-342900">
              <a:buFontTx/>
              <a:buChar char="-"/>
            </a:pPr>
            <a:endParaRPr lang="en-GB"/>
          </a:p>
        </p:txBody>
      </p:sp>
      <p:sp>
        <p:nvSpPr>
          <p:cNvPr id="8" name="Shape 19">
            <a:extLst>
              <a:ext uri="{FF2B5EF4-FFF2-40B4-BE49-F238E27FC236}">
                <a16:creationId xmlns:a16="http://schemas.microsoft.com/office/drawing/2014/main" id="{739B37AE-E868-D7DC-F66F-C079E33C1148}"/>
              </a:ext>
            </a:extLst>
          </p:cNvPr>
          <p:cNvSpPr/>
          <p:nvPr/>
        </p:nvSpPr>
        <p:spPr>
          <a:xfrm>
            <a:off x="1493187" y="4120042"/>
            <a:ext cx="8270908" cy="1368202"/>
          </a:xfrm>
          <a:prstGeom prst="roundRect">
            <a:avLst>
              <a:gd name="adj" fmla="val 4526"/>
            </a:avLst>
          </a:prstGeom>
          <a:solidFill>
            <a:schemeClr val="tx2">
              <a:lumMod val="10000"/>
              <a:lumOff val="90000"/>
            </a:schemeClr>
          </a:solidFill>
          <a:ln w="12700">
            <a:noFill/>
            <a:prstDash val="solid"/>
          </a:ln>
          <a:effectLst>
            <a:outerShdw blurRad="50800" dist="38100" dir="18900000" algn="bl" rotWithShape="0">
              <a:prstClr val="black">
                <a:alpha val="40000"/>
              </a:prstClr>
            </a:outerShdw>
          </a:effectLst>
        </p:spPr>
        <p:txBody>
          <a:bodyPr/>
          <a:lstStyle/>
          <a:p>
            <a:r>
              <a:rPr lang="en-GB" sz="1900" b="1"/>
              <a:t>3) Governance &amp; regulatory measures</a:t>
            </a:r>
          </a:p>
          <a:p>
            <a:r>
              <a:rPr lang="en-GB" altLang="zh-CN" sz="1900" b="1"/>
              <a:t>      </a:t>
            </a:r>
            <a:r>
              <a:rPr lang="en-GB" altLang="zh-CN" sz="1600"/>
              <a:t>Data minimization before ML training</a:t>
            </a:r>
          </a:p>
          <a:p>
            <a:r>
              <a:rPr lang="en-GB" altLang="zh-CN" sz="1600"/>
              <a:t>       Access control for sensitive attributes</a:t>
            </a:r>
          </a:p>
          <a:p>
            <a:r>
              <a:rPr lang="en-GB" altLang="zh-CN" sz="1600"/>
              <a:t>       Data retention and consent tracking policies</a:t>
            </a:r>
          </a:p>
          <a:p>
            <a:r>
              <a:rPr lang="en-GB" altLang="zh-CN" sz="1600"/>
              <a:t>       Human oversight for automated credit decisions </a:t>
            </a:r>
          </a:p>
          <a:p>
            <a:endParaRPr lang="zh-CN" altLang="en-US" sz="1900"/>
          </a:p>
        </p:txBody>
      </p:sp>
      <p:sp>
        <p:nvSpPr>
          <p:cNvPr id="3" name="Shape 3">
            <a:extLst>
              <a:ext uri="{FF2B5EF4-FFF2-40B4-BE49-F238E27FC236}">
                <a16:creationId xmlns:a16="http://schemas.microsoft.com/office/drawing/2014/main" id="{3ACEE33F-116E-DE96-34BF-C8591E354716}"/>
              </a:ext>
            </a:extLst>
          </p:cNvPr>
          <p:cNvSpPr/>
          <p:nvPr/>
        </p:nvSpPr>
        <p:spPr>
          <a:xfrm>
            <a:off x="339691" y="1910062"/>
            <a:ext cx="73152" cy="1143000"/>
          </a:xfrm>
          <a:prstGeom prst="rect">
            <a:avLst/>
          </a:prstGeom>
          <a:solidFill>
            <a:srgbClr val="12B5CB"/>
          </a:solidFill>
          <a:ln w="12700">
            <a:solidFill>
              <a:srgbClr val="12B5CB"/>
            </a:solidFill>
            <a:prstDash val="solid"/>
          </a:ln>
        </p:spPr>
        <p:txBody>
          <a:bodyPr/>
          <a:lstStyle/>
          <a:p>
            <a:endParaRPr lang="zh-CN" altLang="en-US"/>
          </a:p>
        </p:txBody>
      </p:sp>
      <p:sp>
        <p:nvSpPr>
          <p:cNvPr id="10" name="Shape 3">
            <a:extLst>
              <a:ext uri="{FF2B5EF4-FFF2-40B4-BE49-F238E27FC236}">
                <a16:creationId xmlns:a16="http://schemas.microsoft.com/office/drawing/2014/main" id="{4CE85492-24A9-C2E5-2E06-DD9BAD170384}"/>
              </a:ext>
            </a:extLst>
          </p:cNvPr>
          <p:cNvSpPr/>
          <p:nvPr/>
        </p:nvSpPr>
        <p:spPr>
          <a:xfrm>
            <a:off x="820507" y="2857500"/>
            <a:ext cx="73152" cy="1143000"/>
          </a:xfrm>
          <a:prstGeom prst="rect">
            <a:avLst/>
          </a:prstGeom>
          <a:solidFill>
            <a:schemeClr val="accent5">
              <a:lumMod val="40000"/>
              <a:lumOff val="60000"/>
            </a:schemeClr>
          </a:solidFill>
          <a:ln w="12700">
            <a:solidFill>
              <a:srgbClr val="12B5CB"/>
            </a:solidFill>
            <a:prstDash val="solid"/>
          </a:ln>
        </p:spPr>
        <p:txBody>
          <a:bodyPr/>
          <a:lstStyle/>
          <a:p>
            <a:endParaRPr lang="zh-CN" altLang="en-US"/>
          </a:p>
        </p:txBody>
      </p:sp>
      <p:sp>
        <p:nvSpPr>
          <p:cNvPr id="11" name="Shape 3">
            <a:extLst>
              <a:ext uri="{FF2B5EF4-FFF2-40B4-BE49-F238E27FC236}">
                <a16:creationId xmlns:a16="http://schemas.microsoft.com/office/drawing/2014/main" id="{8B24A1F8-1FE9-98CC-37E2-21784D816918}"/>
              </a:ext>
            </a:extLst>
          </p:cNvPr>
          <p:cNvSpPr/>
          <p:nvPr/>
        </p:nvSpPr>
        <p:spPr>
          <a:xfrm>
            <a:off x="1456611" y="4120042"/>
            <a:ext cx="73152" cy="1143000"/>
          </a:xfrm>
          <a:prstGeom prst="rect">
            <a:avLst/>
          </a:prstGeom>
          <a:solidFill>
            <a:srgbClr val="FFFF00"/>
          </a:solidFill>
          <a:ln w="12700">
            <a:solidFill>
              <a:srgbClr val="12B5CB"/>
            </a:solidFill>
            <a:prstDash val="solid"/>
          </a:ln>
        </p:spPr>
        <p:txBody>
          <a:bodyPr/>
          <a:lstStyle/>
          <a:p>
            <a:endParaRPr lang="zh-CN" altLang="en-US"/>
          </a:p>
        </p:txBody>
      </p:sp>
    </p:spTree>
    <p:extLst>
      <p:ext uri="{BB962C8B-B14F-4D97-AF65-F5344CB8AC3E}">
        <p14:creationId xmlns:p14="http://schemas.microsoft.com/office/powerpoint/2010/main" val="2369301981"/>
      </p:ext>
    </p:extLst>
  </p:cSld>
  <p:clrMapOvr>
    <a:masterClrMapping/>
  </p:clrMapOvr>
  <p:transition spd="med" advTm="47120"/>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7CB12-766A-E15C-4918-4DBC0554C83B}"/>
            </a:ext>
          </a:extLst>
        </p:cNvPr>
        <p:cNvGrpSpPr/>
        <p:nvPr/>
      </p:nvGrpSpPr>
      <p:grpSpPr>
        <a:xfrm>
          <a:off x="0" y="0"/>
          <a:ext cx="0" cy="0"/>
          <a:chOff x="0" y="0"/>
          <a:chExt cx="0" cy="0"/>
        </a:xfrm>
      </p:grpSpPr>
      <p:graphicFrame>
        <p:nvGraphicFramePr>
          <p:cNvPr id="15" name="think-cell data - do not delete" hidden="1">
            <a:extLst>
              <a:ext uri="{FF2B5EF4-FFF2-40B4-BE49-F238E27FC236}">
                <a16:creationId xmlns:a16="http://schemas.microsoft.com/office/drawing/2014/main" id="{0CAD024C-0FCC-D133-3094-55F2D8F2C448}"/>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Folie" r:id="rId4" imgW="7772400" imgH="10058400" progId="TCLayout.ActiveDocument.1">
                  <p:embed/>
                </p:oleObj>
              </mc:Choice>
              <mc:Fallback>
                <p:oleObj name="think-cell Folie" r:id="rId4" imgW="7772400" imgH="10058400" progId="TCLayout.ActiveDocument.1">
                  <p:embed/>
                  <p:pic>
                    <p:nvPicPr>
                      <p:cNvPr id="15" name="think-cell data - do not delete" hidden="1">
                        <a:extLst>
                          <a:ext uri="{FF2B5EF4-FFF2-40B4-BE49-F238E27FC236}">
                            <a16:creationId xmlns:a16="http://schemas.microsoft.com/office/drawing/2014/main" id="{0CAD024C-0FCC-D133-3094-55F2D8F2C44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Foliennummernplatzhalter 4">
            <a:extLst>
              <a:ext uri="{FF2B5EF4-FFF2-40B4-BE49-F238E27FC236}">
                <a16:creationId xmlns:a16="http://schemas.microsoft.com/office/drawing/2014/main" id="{17D2C9F4-7F50-F904-0808-E4F733A7B7FB}"/>
              </a:ext>
            </a:extLst>
          </p:cNvPr>
          <p:cNvSpPr>
            <a:spLocks noGrp="1"/>
          </p:cNvSpPr>
          <p:nvPr>
            <p:ph type="sldNum" sz="quarter" idx="21"/>
          </p:nvPr>
        </p:nvSpPr>
        <p:spPr/>
        <p:txBody>
          <a:bodyPr/>
          <a:lstStyle/>
          <a:p>
            <a:fld id="{96D0270E-ECD2-CA4B-BE22-56AEC998461C}" type="slidenum">
              <a:rPr lang="de-DE" smtClean="0"/>
              <a:t>12</a:t>
            </a:fld>
            <a:endParaRPr lang="de-DE"/>
          </a:p>
        </p:txBody>
      </p:sp>
      <p:sp>
        <p:nvSpPr>
          <p:cNvPr id="3" name="CaixaDeTexto 2">
            <a:extLst>
              <a:ext uri="{FF2B5EF4-FFF2-40B4-BE49-F238E27FC236}">
                <a16:creationId xmlns:a16="http://schemas.microsoft.com/office/drawing/2014/main" id="{81C90B6D-3977-A887-0A31-C840B9DC7886}"/>
              </a:ext>
            </a:extLst>
          </p:cNvPr>
          <p:cNvSpPr txBox="1"/>
          <p:nvPr/>
        </p:nvSpPr>
        <p:spPr>
          <a:xfrm>
            <a:off x="454659" y="1508760"/>
            <a:ext cx="11210119"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pt-PT"/>
          </a:p>
          <a:p>
            <a:endParaRPr lang="en-US"/>
          </a:p>
          <a:p>
            <a:pPr algn="l"/>
            <a:endParaRPr lang="en-US"/>
          </a:p>
          <a:p>
            <a:endParaRPr lang="en-US"/>
          </a:p>
          <a:p>
            <a:endParaRPr lang="pt-PT"/>
          </a:p>
        </p:txBody>
      </p:sp>
      <p:sp>
        <p:nvSpPr>
          <p:cNvPr id="9" name="Textplatzhalter 2">
            <a:extLst>
              <a:ext uri="{FF2B5EF4-FFF2-40B4-BE49-F238E27FC236}">
                <a16:creationId xmlns:a16="http://schemas.microsoft.com/office/drawing/2014/main" id="{46358B15-2553-3FFD-82C3-A3369999B68B}"/>
              </a:ext>
            </a:extLst>
          </p:cNvPr>
          <p:cNvSpPr txBox="1">
            <a:spLocks/>
          </p:cNvSpPr>
          <p:nvPr/>
        </p:nvSpPr>
        <p:spPr>
          <a:xfrm>
            <a:off x="332604" y="829450"/>
            <a:ext cx="11016146" cy="540306"/>
          </a:xfrm>
          <a:prstGeom prst="rect">
            <a:avLst/>
          </a:prstGeom>
        </p:spPr>
        <p:txBody>
          <a:bodyPr vert="horz" lIns="0" tIns="45720" rIns="91440" bIns="45720" rtlCol="0" anchor="t">
            <a:noAutofit/>
          </a:bodyPr>
          <a:lstStyle>
            <a:lvl1pPr marL="0" marR="0" indent="0" algn="l" defTabSz="412750" rtl="0" eaLnBrk="1" fontAlgn="auto" latinLnBrk="0" hangingPunct="0">
              <a:lnSpc>
                <a:spcPct val="80000"/>
              </a:lnSpc>
              <a:spcBef>
                <a:spcPts val="0"/>
              </a:spcBef>
              <a:spcAft>
                <a:spcPts val="0"/>
              </a:spcAft>
              <a:buClrTx/>
              <a:buSzTx/>
              <a:buFontTx/>
              <a:buNone/>
              <a:tabLst/>
              <a:defRPr kumimoji="0" lang="en-US" sz="4550" b="0" i="0" u="none" strike="noStrike" kern="1200" cap="none" spc="0" normalizeH="0" baseline="0" dirty="0" smtClean="0">
                <a:ln>
                  <a:noFill/>
                </a:ln>
                <a:solidFill>
                  <a:srgbClr val="000000"/>
                </a:solidFill>
                <a:effectLst/>
                <a:uFillTx/>
                <a:latin typeface="Playfair Display"/>
                <a:ea typeface="Playfair Display"/>
                <a:cs typeface="Playfair Display"/>
                <a:sym typeface="Helvetica Neue"/>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800" b="1">
                <a:solidFill>
                  <a:schemeClr val="tx2">
                    <a:lumMod val="90000"/>
                    <a:lumOff val="10000"/>
                  </a:schemeClr>
                </a:solidFill>
              </a:rPr>
              <a:t>Conclusion</a:t>
            </a:r>
          </a:p>
        </p:txBody>
      </p:sp>
      <p:sp>
        <p:nvSpPr>
          <p:cNvPr id="6" name="Textplatzhalter 1">
            <a:extLst>
              <a:ext uri="{FF2B5EF4-FFF2-40B4-BE49-F238E27FC236}">
                <a16:creationId xmlns:a16="http://schemas.microsoft.com/office/drawing/2014/main" id="{016E241E-E403-9FE1-46F1-455DD5717613}"/>
              </a:ext>
            </a:extLst>
          </p:cNvPr>
          <p:cNvSpPr>
            <a:spLocks noGrp="1"/>
          </p:cNvSpPr>
          <p:nvPr>
            <p:ph type="body" sz="quarter" idx="13"/>
          </p:nvPr>
        </p:nvSpPr>
        <p:spPr>
          <a:xfrm>
            <a:off x="339691" y="364775"/>
            <a:ext cx="6872065" cy="278339"/>
          </a:xfrm>
        </p:spPr>
        <p:txBody>
          <a:bodyPr vert="horz" lIns="0" tIns="45720" rIns="91440" bIns="45720" rtlCol="0" anchor="t">
            <a:normAutofit/>
          </a:bodyPr>
          <a:lstStyle/>
          <a:p>
            <a:r>
              <a:rPr lang="en-GB" dirty="0">
                <a:latin typeface="Open Sans"/>
                <a:ea typeface="Open Sans"/>
                <a:cs typeface="Open Sans"/>
              </a:rPr>
              <a:t>Group TXB_6 | DATA ECOSYSTEMS &amp; GOVERNANCE IN ORGANIZATIONS</a:t>
            </a:r>
          </a:p>
          <a:p>
            <a:endParaRPr lang="de-DE" dirty="0"/>
          </a:p>
        </p:txBody>
      </p:sp>
      <p:sp>
        <p:nvSpPr>
          <p:cNvPr id="2" name="Rounded Rectangle 1">
            <a:extLst>
              <a:ext uri="{FF2B5EF4-FFF2-40B4-BE49-F238E27FC236}">
                <a16:creationId xmlns:a16="http://schemas.microsoft.com/office/drawing/2014/main" id="{C8A9983E-10B1-AB0B-B7AE-28300D70F9F2}"/>
              </a:ext>
            </a:extLst>
          </p:cNvPr>
          <p:cNvSpPr/>
          <p:nvPr/>
        </p:nvSpPr>
        <p:spPr>
          <a:xfrm>
            <a:off x="187477" y="1369756"/>
            <a:ext cx="3845268" cy="3268505"/>
          </a:xfrm>
          <a:prstGeom prst="roundRect">
            <a:avLst/>
          </a:prstGeom>
          <a:solidFill>
            <a:schemeClr val="tx2">
              <a:lumMod val="10000"/>
              <a:lumOff val="90000"/>
            </a:schemeClr>
          </a:solidFill>
          <a:ln w="12700">
            <a:noFill/>
            <a:prstDash val="solid"/>
          </a:ln>
          <a:effectLst>
            <a:innerShdw blurRad="63500" dist="50800" dir="8100000">
              <a:prstClr val="black">
                <a:alpha val="50000"/>
              </a:prstClr>
            </a:innerShdw>
          </a:effectLst>
        </p:spPr>
        <p:txBody>
          <a:bodyPr/>
          <a:lstStyle/>
          <a:p>
            <a:pPr algn="ctr"/>
            <a:r>
              <a:rPr lang="en-PT" sz="2400" b="1" dirty="0">
                <a:solidFill>
                  <a:schemeClr val="tx1"/>
                </a:solidFill>
              </a:rPr>
              <a:t>Data Quality</a:t>
            </a:r>
          </a:p>
          <a:p>
            <a:pPr algn="ctr"/>
            <a:endParaRPr lang="en-PT" sz="1900" b="1" dirty="0">
              <a:solidFill>
                <a:schemeClr val="tx1"/>
              </a:solidFill>
            </a:endParaRPr>
          </a:p>
          <a:p>
            <a:pPr algn="ctr"/>
            <a:r>
              <a:rPr lang="en-PT" sz="1900" dirty="0">
                <a:solidFill>
                  <a:schemeClr val="tx1"/>
                </a:solidFill>
              </a:rPr>
              <a:t>Several key variables contained extremely high missing rates</a:t>
            </a:r>
          </a:p>
          <a:p>
            <a:pPr algn="ctr"/>
            <a:endParaRPr lang="en-PT" sz="1900" dirty="0">
              <a:solidFill>
                <a:schemeClr val="tx1"/>
              </a:solidFill>
            </a:endParaRPr>
          </a:p>
          <a:p>
            <a:pPr algn="ctr"/>
            <a:endParaRPr lang="en-PT" sz="1900" dirty="0">
              <a:solidFill>
                <a:schemeClr val="tx1"/>
              </a:solidFill>
            </a:endParaRPr>
          </a:p>
          <a:p>
            <a:pPr algn="ctr"/>
            <a:endParaRPr lang="en-PT" sz="1900" dirty="0">
              <a:solidFill>
                <a:schemeClr val="tx1"/>
              </a:solidFill>
            </a:endParaRPr>
          </a:p>
          <a:p>
            <a:pPr algn="ctr"/>
            <a:r>
              <a:rPr lang="en-PT" sz="1900" dirty="0">
                <a:solidFill>
                  <a:schemeClr val="tx1"/>
                </a:solidFill>
              </a:rPr>
              <a:t>This indicates weakness in NovaCred’s data collection and validation processes</a:t>
            </a:r>
          </a:p>
        </p:txBody>
      </p:sp>
      <p:sp>
        <p:nvSpPr>
          <p:cNvPr id="4" name="Rounded Rectangle 3">
            <a:extLst>
              <a:ext uri="{FF2B5EF4-FFF2-40B4-BE49-F238E27FC236}">
                <a16:creationId xmlns:a16="http://schemas.microsoft.com/office/drawing/2014/main" id="{50C55652-225D-F87B-1F14-DEB0A39687D0}"/>
              </a:ext>
            </a:extLst>
          </p:cNvPr>
          <p:cNvSpPr/>
          <p:nvPr/>
        </p:nvSpPr>
        <p:spPr>
          <a:xfrm>
            <a:off x="4173365" y="1369756"/>
            <a:ext cx="3845268" cy="3268505"/>
          </a:xfrm>
          <a:prstGeom prst="roundRect">
            <a:avLst/>
          </a:prstGeom>
          <a:blipFill dpi="0" rotWithShape="1">
            <a:blip r:embed="rId6">
              <a:alphaModFix amt="4229"/>
            </a:blip>
            <a:srcRect/>
            <a:tile tx="0" ty="0" sx="100000" sy="100000" flip="none" algn="tl"/>
          </a:blipFill>
          <a:ln w="12700">
            <a:noFill/>
            <a:prstDash val="solid"/>
          </a:ln>
          <a:effectLst>
            <a:innerShdw blurRad="63500" dist="50800" dir="8100000">
              <a:prstClr val="black">
                <a:alpha val="50000"/>
              </a:prstClr>
            </a:innerShdw>
          </a:effectLst>
        </p:spPr>
        <p:txBody>
          <a:bodyPr/>
          <a:lstStyle/>
          <a:p>
            <a:pPr algn="ctr"/>
            <a:r>
              <a:rPr lang="en-PT" sz="2400" b="1" dirty="0">
                <a:solidFill>
                  <a:schemeClr val="tx1"/>
                </a:solidFill>
              </a:rPr>
              <a:t>Bias Analysis</a:t>
            </a:r>
          </a:p>
          <a:p>
            <a:pPr algn="ctr"/>
            <a:endParaRPr lang="en-PT" b="1" dirty="0">
              <a:solidFill>
                <a:schemeClr val="tx1"/>
              </a:solidFill>
            </a:endParaRPr>
          </a:p>
          <a:p>
            <a:pPr algn="ctr"/>
            <a:r>
              <a:rPr lang="en-PT" dirty="0">
                <a:solidFill>
                  <a:schemeClr val="tx1"/>
                </a:solidFill>
              </a:rPr>
              <a:t>Loan approval outcomes show a statistically significant association with gender</a:t>
            </a:r>
          </a:p>
          <a:p>
            <a:pPr algn="ctr"/>
            <a:endParaRPr lang="en-PT" dirty="0">
              <a:solidFill>
                <a:schemeClr val="tx1"/>
              </a:solidFill>
            </a:endParaRPr>
          </a:p>
          <a:p>
            <a:pPr algn="ctr"/>
            <a:endParaRPr lang="en-PT" dirty="0">
              <a:solidFill>
                <a:schemeClr val="tx1"/>
              </a:solidFill>
            </a:endParaRPr>
          </a:p>
          <a:p>
            <a:pPr algn="ctr"/>
            <a:r>
              <a:rPr lang="en-GB" dirty="0">
                <a:solidFill>
                  <a:schemeClr val="tx1"/>
                </a:solidFill>
              </a:rPr>
              <a:t>C</a:t>
            </a:r>
            <a:r>
              <a:rPr lang="en-PT" dirty="0">
                <a:solidFill>
                  <a:schemeClr val="tx1"/>
                </a:solidFill>
              </a:rPr>
              <a:t>ontinuous monitoring of fairness metrics is needed to ensure equitable lending decisions</a:t>
            </a:r>
          </a:p>
        </p:txBody>
      </p:sp>
      <p:sp>
        <p:nvSpPr>
          <p:cNvPr id="7" name="Rounded Rectangle 6">
            <a:extLst>
              <a:ext uri="{FF2B5EF4-FFF2-40B4-BE49-F238E27FC236}">
                <a16:creationId xmlns:a16="http://schemas.microsoft.com/office/drawing/2014/main" id="{88ABA9A2-908B-B628-10FB-107B7A861532}"/>
              </a:ext>
            </a:extLst>
          </p:cNvPr>
          <p:cNvSpPr/>
          <p:nvPr/>
        </p:nvSpPr>
        <p:spPr>
          <a:xfrm>
            <a:off x="8159254" y="1369756"/>
            <a:ext cx="3845268" cy="3230303"/>
          </a:xfrm>
          <a:prstGeom prst="roundRect">
            <a:avLst/>
          </a:prstGeom>
          <a:solidFill>
            <a:schemeClr val="tx2">
              <a:lumMod val="10000"/>
              <a:lumOff val="90000"/>
            </a:schemeClr>
          </a:solidFill>
          <a:ln w="12700">
            <a:noFill/>
            <a:prstDash val="solid"/>
          </a:ln>
          <a:effectLst>
            <a:innerShdw blurRad="63500" dist="50800" dir="8100000">
              <a:prstClr val="black">
                <a:alpha val="50000"/>
              </a:prstClr>
            </a:innerShdw>
          </a:effectLst>
        </p:spPr>
        <p:txBody>
          <a:bodyPr/>
          <a:lstStyle/>
          <a:p>
            <a:pPr algn="ctr"/>
            <a:r>
              <a:rPr lang="en-PT" sz="2400" b="1" dirty="0">
                <a:solidFill>
                  <a:schemeClr val="tx1"/>
                </a:solidFill>
              </a:rPr>
              <a:t>Privacy &amp; Governance</a:t>
            </a:r>
          </a:p>
          <a:p>
            <a:pPr algn="ctr"/>
            <a:endParaRPr lang="en-PT" b="1" dirty="0">
              <a:solidFill>
                <a:schemeClr val="tx1"/>
              </a:solidFill>
            </a:endParaRPr>
          </a:p>
          <a:p>
            <a:pPr algn="ctr"/>
            <a:r>
              <a:rPr lang="en-PT" dirty="0">
                <a:solidFill>
                  <a:schemeClr val="tx1"/>
                </a:solidFill>
              </a:rPr>
              <a:t>The dataset contains multiple personally identifiable identifiers</a:t>
            </a:r>
          </a:p>
          <a:p>
            <a:pPr algn="ctr"/>
            <a:endParaRPr lang="en-PT" dirty="0">
              <a:solidFill>
                <a:schemeClr val="tx1"/>
              </a:solidFill>
            </a:endParaRPr>
          </a:p>
          <a:p>
            <a:pPr algn="ctr"/>
            <a:endParaRPr lang="en-PT" dirty="0">
              <a:solidFill>
                <a:schemeClr val="tx1"/>
              </a:solidFill>
            </a:endParaRPr>
          </a:p>
          <a:p>
            <a:pPr algn="ctr"/>
            <a:endParaRPr lang="en-PT" dirty="0">
              <a:solidFill>
                <a:schemeClr val="tx1"/>
              </a:solidFill>
            </a:endParaRPr>
          </a:p>
          <a:p>
            <a:pPr algn="ctr"/>
            <a:r>
              <a:rPr lang="en-PT" dirty="0">
                <a:solidFill>
                  <a:schemeClr val="tx1"/>
                </a:solidFill>
              </a:rPr>
              <a:t>Stronger privacy protections such as pseudonymization and data governance controls are needed</a:t>
            </a:r>
          </a:p>
        </p:txBody>
      </p:sp>
      <p:sp>
        <p:nvSpPr>
          <p:cNvPr id="8" name="Down Arrow 7">
            <a:extLst>
              <a:ext uri="{FF2B5EF4-FFF2-40B4-BE49-F238E27FC236}">
                <a16:creationId xmlns:a16="http://schemas.microsoft.com/office/drawing/2014/main" id="{59A8C2C5-4B2B-6462-FDB3-A8EA16DB566E}"/>
              </a:ext>
            </a:extLst>
          </p:cNvPr>
          <p:cNvSpPr/>
          <p:nvPr/>
        </p:nvSpPr>
        <p:spPr>
          <a:xfrm>
            <a:off x="1884824" y="3125092"/>
            <a:ext cx="450574" cy="401302"/>
          </a:xfrm>
          <a:prstGeom prst="downArrow">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11" name="Down Arrow 10">
            <a:extLst>
              <a:ext uri="{FF2B5EF4-FFF2-40B4-BE49-F238E27FC236}">
                <a16:creationId xmlns:a16="http://schemas.microsoft.com/office/drawing/2014/main" id="{153EC92B-5A90-D8EA-A39E-7BE736A0A825}"/>
              </a:ext>
            </a:extLst>
          </p:cNvPr>
          <p:cNvSpPr/>
          <p:nvPr/>
        </p:nvSpPr>
        <p:spPr>
          <a:xfrm>
            <a:off x="5870712" y="3125092"/>
            <a:ext cx="450574" cy="401302"/>
          </a:xfrm>
          <a:prstGeom prst="downArrow">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12" name="Down Arrow 11">
            <a:extLst>
              <a:ext uri="{FF2B5EF4-FFF2-40B4-BE49-F238E27FC236}">
                <a16:creationId xmlns:a16="http://schemas.microsoft.com/office/drawing/2014/main" id="{4B3D45F4-42D8-4851-7140-0C38E071B214}"/>
              </a:ext>
            </a:extLst>
          </p:cNvPr>
          <p:cNvSpPr/>
          <p:nvPr/>
        </p:nvSpPr>
        <p:spPr>
          <a:xfrm>
            <a:off x="9856601" y="3121779"/>
            <a:ext cx="450574" cy="401302"/>
          </a:xfrm>
          <a:prstGeom prst="downArrow">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13" name="Rounded Rectangle 12">
            <a:extLst>
              <a:ext uri="{FF2B5EF4-FFF2-40B4-BE49-F238E27FC236}">
                <a16:creationId xmlns:a16="http://schemas.microsoft.com/office/drawing/2014/main" id="{3A227384-0133-3431-68E7-56C65152B366}"/>
              </a:ext>
            </a:extLst>
          </p:cNvPr>
          <p:cNvSpPr/>
          <p:nvPr/>
        </p:nvSpPr>
        <p:spPr>
          <a:xfrm>
            <a:off x="187476" y="4921563"/>
            <a:ext cx="11817045" cy="715617"/>
          </a:xfrm>
          <a:prstGeom prst="roundRect">
            <a:avLst/>
          </a:prstGeom>
          <a:blipFill>
            <a:blip r:embed="rId6">
              <a:alphaModFix amt="30213"/>
            </a:blip>
            <a:tile tx="0" ty="0" sx="100000" sy="100000" flip="none" algn="tl"/>
          </a:blipFill>
          <a:ln w="12700">
            <a:solidFill>
              <a:srgbClr val="1E293B"/>
            </a:solidFill>
            <a:prstDash val="solid"/>
          </a:ln>
          <a:effectLst>
            <a:innerShdw blurRad="63500" dist="50800" dir="8100000">
              <a:prstClr val="black">
                <a:alpha val="50000"/>
              </a:prstClr>
            </a:innerShdw>
          </a:effectLst>
        </p:spPr>
        <p:txBody>
          <a:bodyPr/>
          <a:lstStyle/>
          <a:p>
            <a:r>
              <a:rPr lang="en-PT" sz="1900" b="1" dirty="0">
                <a:solidFill>
                  <a:schemeClr val="tx1"/>
                </a:solidFill>
              </a:rPr>
              <a:t>Final Takeaway: </a:t>
            </a:r>
            <a:r>
              <a:rPr lang="en-PT" sz="1900" dirty="0">
                <a:solidFill>
                  <a:schemeClr val="tx1"/>
                </a:solidFill>
              </a:rPr>
              <a:t>Improving data quality controls, fairness monitoring and privacy safeguards will help NovaCred build a more reliable and compliant credit decision system.</a:t>
            </a:r>
          </a:p>
        </p:txBody>
      </p:sp>
    </p:spTree>
    <p:extLst>
      <p:ext uri="{BB962C8B-B14F-4D97-AF65-F5344CB8AC3E}">
        <p14:creationId xmlns:p14="http://schemas.microsoft.com/office/powerpoint/2010/main" val="4210618919"/>
      </p:ext>
    </p:extLst>
  </p:cSld>
  <p:clrMapOvr>
    <a:masterClrMapping/>
  </p:clrMapOvr>
  <p:transition spd="med" advTm="27730"/>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1653</Words>
  <Application>Microsoft Macintosh PowerPoint</Application>
  <PresentationFormat>Widescreen</PresentationFormat>
  <Paragraphs>252</Paragraphs>
  <Slides>12</Slides>
  <Notes>12</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12</vt:i4>
      </vt:variant>
    </vt:vector>
  </HeadingPairs>
  <TitlesOfParts>
    <vt:vector size="24" baseType="lpstr">
      <vt:lpstr>Aptos</vt:lpstr>
      <vt:lpstr>Aptos Display</vt:lpstr>
      <vt:lpstr>Arial</vt:lpstr>
      <vt:lpstr>Consolas</vt:lpstr>
      <vt:lpstr>Courier New</vt:lpstr>
      <vt:lpstr>Helvetica</vt:lpstr>
      <vt:lpstr>HELVETICA LIGHT</vt:lpstr>
      <vt:lpstr>Open Sans</vt:lpstr>
      <vt:lpstr>Open Sans </vt:lpstr>
      <vt:lpstr>Playfair Display</vt:lpstr>
      <vt:lpstr>Office Theme</vt:lpstr>
      <vt:lpstr>think-cell Folie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António José Dias Ferreira Grincho</dc:creator>
  <cp:lastModifiedBy>António José Dias Ferreira Grincho</cp:lastModifiedBy>
  <cp:revision>2</cp:revision>
  <cp:lastPrinted>2026-03-09T19:25:07Z</cp:lastPrinted>
  <dcterms:created xsi:type="dcterms:W3CDTF">2026-03-05T18:17:49Z</dcterms:created>
  <dcterms:modified xsi:type="dcterms:W3CDTF">2026-03-09T19:54:48Z</dcterms:modified>
</cp:coreProperties>
</file>